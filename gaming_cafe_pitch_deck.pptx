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Monthly profit / loss (₹)</c:v>
                </c:pt>
              </c:strCache>
            </c:strRef>
          </c:tx>
          <c:spPr>
            <a:solidFill>
              <a:srgbClr val="00C2A8"/>
            </a:solidFill>
            <a:effectLst/>
          </c:spPr>
          <c:invertIfNegative val="0"/>
          <c:dLbls>
            <c:numFmt formatCode="#,##0;[Red]-#,##0" sourceLinked="0"/>
            <c:txPr>
              <a:bodyPr/>
              <a:lstStyle/>
              <a:p>
                <a:pPr>
                  <a:defRPr b="0" i="0" strike="noStrike" sz="1000" u="none">
                    <a:solidFill>
                      <a:srgbClr val="12141C"/>
                    </a:solidFill>
                    <a:latin typeface="Calibri"/>
                  </a:defRPr>
                </a:pPr>
              </a:p>
            </c:txPr>
            <c:showLegendKey val="0"/>
            <c:showVal val="1"/>
            <c:showCatName val="0"/>
            <c:showSerName val="0"/>
            <c:showPercent val="0"/>
            <c:showBubbleSize val="0"/>
            <c:showLeaderLines val="0"/>
          </c:dLbls>
          <c:cat>
            <c:multiLvlStrRef>
              <c:f>Sheet1!$A$2:$A$6</c:f>
              <c:multiLvlStrCache>
                <c:ptCount val="5"/>
                <c:lvl>
                  <c:pt idx="0">
                    <c:v>30%</c:v>
                  </c:pt>
                  <c:pt idx="1">
                    <c:v>37%</c:v>
                  </c:pt>
                  <c:pt idx="2">
                    <c:v>45%</c:v>
                  </c:pt>
                  <c:pt idx="3">
                    <c:v>55%</c:v>
                  </c:pt>
                  <c:pt idx="4">
                    <c:v>65%</c:v>
                  </c:pt>
                </c:lvl>
              </c:multiLvlStrCache>
            </c:multiLvlStrRef>
          </c:cat>
          <c:val>
            <c:numRef>
              <c:f>Sheet1!$B$2:$B$6</c:f>
              <c:numCache>
                <c:formatCode>General</c:formatCode>
                <c:ptCount val="5"/>
                <c:pt idx="0">
                  <c:v>-21750</c:v>
                </c:pt>
                <c:pt idx="1">
                  <c:v>0</c:v>
                </c:pt>
                <c:pt idx="2">
                  <c:v>22950</c:v>
                </c:pt>
                <c:pt idx="3">
                  <c:v>51950</c:v>
                </c:pt>
                <c:pt idx="4">
                  <c:v>82050</c:v>
                </c:pt>
              </c:numCache>
            </c:numRef>
          </c:val>
        </c:ser>
        <c:dLbls>
          <c:numFmt formatCode="#,##0;[Red]-#,##0" sourceLinked="0"/>
          <c:txPr>
            <a:bodyPr/>
            <a:lstStyle/>
            <a:p>
              <a:pPr>
                <a:defRPr b="0" i="0" strike="noStrike" sz="1000" u="none">
                  <a:solidFill>
                    <a:srgbClr val="12141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100000"/>
          <c:min val="-40000"/>
        </c:scaling>
        <c:delete val="0"/>
        <c:axPos val="l"/>
        <c:majorGridlines>
          <c:spPr>
            <a:ln w="12700" cap="flat">
              <a:solidFill>
                <a:srgbClr val="E9EB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Capital expenditure</c:v>
                </c:pt>
              </c:strCache>
            </c:strRef>
          </c:tx>
          <c:spPr>
            <a:solidFill>
              <a:schemeClr val="accent1"/>
            </a:solidFill>
            <a:ln w="9525" cap="flat">
              <a:solidFill>
                <a:srgbClr val="F9F9F9"/>
              </a:solidFill>
              <a:prstDash val="solid"/>
              <a:round/>
            </a:ln>
            <a:effectLst/>
          </c:spPr>
          <c:dPt>
            <c:idx val="0"/>
            <c:bubble3D val="0"/>
            <c:spPr>
              <a:solidFill>
                <a:srgbClr val="00C2A8"/>
              </a:solidFill>
              <a:effectLst/>
            </c:spPr>
          </c:dPt>
          <c:dPt>
            <c:idx val="1"/>
            <c:bubble3D val="0"/>
            <c:spPr>
              <a:solidFill>
                <a:srgbClr val="1E9E8C"/>
              </a:solidFill>
              <a:effectLst/>
            </c:spPr>
          </c:dPt>
          <c:dPt>
            <c:idx val="2"/>
            <c:bubble3D val="0"/>
            <c:spPr>
              <a:solidFill>
                <a:srgbClr val="FF8A3D"/>
              </a:solidFill>
              <a:effectLst/>
            </c:spPr>
          </c:dPt>
          <c:dPt>
            <c:idx val="3"/>
            <c:bubble3D val="0"/>
            <c:spPr>
              <a:solidFill>
                <a:srgbClr val="F2A365"/>
              </a:solidFill>
              <a:effectLst/>
            </c:spPr>
          </c:dPt>
          <c:dPt>
            <c:idx val="4"/>
            <c:bubble3D val="0"/>
            <c:spPr>
              <a:solidFill>
                <a:srgbClr val="4A5160"/>
              </a:solidFill>
              <a:effectLst/>
            </c:spPr>
          </c:dPt>
          <c:dPt>
            <c:idx val="5"/>
            <c:bubble3D val="0"/>
            <c:spPr>
              <a:solidFill>
                <a:srgbClr val="8D97A8"/>
              </a:solidFill>
              <a:effectLst/>
            </c:spPr>
          </c:dPt>
          <c:dPt>
            <c:idx val="6"/>
            <c:bubble3D val="0"/>
            <c:spPr>
              <a:solidFill>
                <a:srgbClr val="C2C8D2"/>
              </a:solidFill>
              <a:effectLst/>
            </c:spPr>
          </c:dPt>
          <c:dPt>
            <c:idx val="7"/>
            <c:bubble3D val="0"/>
            <c:spPr>
              <a:solidFill>
                <a:srgbClr val="008C79"/>
              </a:solidFill>
              <a:effectLst/>
            </c:spPr>
          </c:dPt>
          <c:dLbls>
            <c:dLbl>
              <c:idx val="0"/>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dLbl>
              <c:idx val="7"/>
              <c:numFmt formatCode="0%" sourceLinked="0"/>
              <c:spPr/>
              <c:txPr>
                <a:bodyPr/>
                <a:lstStyle/>
                <a:p>
                  <a:pPr>
                    <a:defRPr sz="9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Sheet1!$A$2:$A$9</c:f>
              <c:strCache>
                <c:ptCount val="8"/>
                <c:pt idx="0">
                  <c:v>Console, controllers &amp; games</c:v>
                </c:pt>
                <c:pt idx="1">
                  <c:v>Interiors, signage &amp; acoustics</c:v>
                </c:pt>
                <c:pt idx="2">
                  <c:v>Rental deposits</c:v>
                </c:pt>
                <c:pt idx="3">
                  <c:v>Licences &amp; registrations</c:v>
                </c:pt>
                <c:pt idx="4">
                  <c:v>Electrical &amp; network</c:v>
                </c:pt>
                <c:pt idx="5">
                  <c:v>Café equipment &amp; stock</c:v>
                </c:pt>
                <c:pt idx="6">
                  <c:v>CCTV, fire safety &amp; insurance</c:v>
                </c:pt>
                <c:pt idx="7">
                  <c:v>Marketing (pre-launch &amp; launch)</c:v>
                </c:pt>
              </c:strCache>
            </c:strRef>
          </c:cat>
          <c:val>
            <c:numRef>
              <c:f>Sheet1!$B$2:$B$9</c:f>
              <c:numCache>
                <c:ptCount val="8"/>
                <c:pt idx="0">
                  <c:v>98000</c:v>
                </c:pt>
                <c:pt idx="1">
                  <c:v>86000</c:v>
                </c:pt>
                <c:pt idx="2">
                  <c:v>50000</c:v>
                </c:pt>
                <c:pt idx="3">
                  <c:v>48000</c:v>
                </c:pt>
                <c:pt idx="4">
                  <c:v>56600</c:v>
                </c:pt>
                <c:pt idx="5">
                  <c:v>53000</c:v>
                </c:pt>
                <c:pt idx="6">
                  <c:v>47000</c:v>
                </c:pt>
                <c:pt idx="7">
                  <c:v>30000</c:v>
                </c:pt>
              </c:numCache>
            </c:numRef>
          </c:val>
        </c:ser>
        <c:firstSliceAng val="0"/>
        <c:holeSize val="52"/>
      </c:doughnutChart>
      <c:spPr>
        <a:noFill/>
        <a:ln>
          <a:noFill/>
        </a:ln>
        <a:effectLst/>
      </c:spPr>
    </c:plotArea>
    <c:legend>
      <c:legendPos val="r"/>
      <c:overlay val="0"/>
      <c:txPr>
        <a:bodyPr/>
        <a:lstStyle/>
        <a:p>
          <a:pPr>
            <a:defRPr sz="1000">
              <a:solidFill>
                <a:srgbClr val="12141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Monthly cost (₹)</c:v>
                </c:pt>
              </c:strCache>
            </c:strRef>
          </c:tx>
          <c:spPr>
            <a:solidFill>
              <a:srgbClr val="00C2A8"/>
            </a:solidFill>
            <a:effectLst/>
          </c:spPr>
          <c:invertIfNegative val="0"/>
          <c:dLbls>
            <c:numFmt formatCode="₹#,##0" sourceLinked="0"/>
            <c:txPr>
              <a:bodyPr/>
              <a:lstStyle/>
              <a:p>
                <a:pPr>
                  <a:defRPr b="0" i="0" strike="noStrike" sz="1000" u="none">
                    <a:solidFill>
                      <a:srgbClr val="12141C"/>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Asset rentals (consoles, TVs, AC, furniture)</c:v>
                  </c:pt>
                  <c:pt idx="1">
                    <c:v>Premises rent</c:v>
                  </c:pt>
                  <c:pt idx="2">
                    <c:v>Staff</c:v>
                  </c:pt>
                  <c:pt idx="3">
                    <c:v>Food &amp; beverage restocking</c:v>
                  </c:pt>
                  <c:pt idx="4">
                    <c:v>Electricity</c:v>
                  </c:pt>
                  <c:pt idx="5">
                    <c:v>Marketing</c:v>
                  </c:pt>
                  <c:pt idx="6">
                    <c:v>Maintenance &amp; controllers</c:v>
                  </c:pt>
                  <c:pt idx="7">
                    <c:v>Internet (300 Mbps)</c:v>
                  </c:pt>
                  <c:pt idx="8">
                    <c:v>Accounting &amp; subscriptions</c:v>
                  </c:pt>
                </c:lvl>
              </c:multiLvlStrCache>
            </c:multiLvlStrRef>
          </c:cat>
          <c:val>
            <c:numRef>
              <c:f>Sheet1!$B$2:$B$10</c:f>
              <c:numCache>
                <c:formatCode>General</c:formatCode>
                <c:ptCount val="9"/>
                <c:pt idx="0">
                  <c:v>32100</c:v>
                </c:pt>
                <c:pt idx="1">
                  <c:v>20000</c:v>
                </c:pt>
                <c:pt idx="2">
                  <c:v>15500</c:v>
                </c:pt>
                <c:pt idx="3">
                  <c:v>14000</c:v>
                </c:pt>
                <c:pt idx="4">
                  <c:v>14000</c:v>
                </c:pt>
                <c:pt idx="5">
                  <c:v>6000</c:v>
                </c:pt>
                <c:pt idx="6">
                  <c:v>4000</c:v>
                </c:pt>
                <c:pt idx="7">
                  <c:v>2400</c:v>
                </c:pt>
                <c:pt idx="8">
                  <c:v>2750</c:v>
                </c:pt>
              </c:numCache>
            </c:numRef>
          </c:val>
        </c:ser>
        <c:dLbls>
          <c:numFmt formatCode="₹#,##0" sourceLinked="0"/>
          <c:txPr>
            <a:bodyPr/>
            <a:lstStyle/>
            <a:p>
              <a:pPr>
                <a:defRPr b="0" i="0" strike="noStrike" sz="1000" u="none">
                  <a:solidFill>
                    <a:srgbClr val="12141C"/>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2141C"/>
                </a:solidFill>
                <a:latin typeface="Calibri"/>
              </a:defRPr>
            </a:pPr>
            <a:endParaRPr lang="en-US"/>
          </a:p>
        </c:txPr>
        <c:crossAx val="2094734552"/>
        <c:crosses val="autoZero"/>
        <c:auto val="1"/>
        <c:lblAlgn val="ctr"/>
        <c:noMultiLvlLbl val="1"/>
      </c:catAx>
      <c:valAx>
        <c:axId val="2094734552"/>
        <c:scaling>
          <c:orientation val="minMax"/>
          <c:max val="4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Monthly revenue</c:v>
                </c:pt>
              </c:strCache>
            </c:strRef>
          </c:tx>
          <c:spPr>
            <a:solidFill>
              <a:srgbClr val="00C2A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M1</c:v>
                  </c:pt>
                  <c:pt idx="1">
                    <c:v>M2</c:v>
                  </c:pt>
                  <c:pt idx="2">
                    <c:v>M3</c:v>
                  </c:pt>
                  <c:pt idx="3">
                    <c:v>M4</c:v>
                  </c:pt>
                  <c:pt idx="4">
                    <c:v>M5</c:v>
                  </c:pt>
                  <c:pt idx="5">
                    <c:v>M6</c:v>
                  </c:pt>
                  <c:pt idx="6">
                    <c:v>M9</c:v>
                  </c:pt>
                  <c:pt idx="7">
                    <c:v>M12</c:v>
                  </c:pt>
                </c:lvl>
              </c:multiLvlStrCache>
            </c:multiLvlStrRef>
          </c:cat>
          <c:val>
            <c:numRef>
              <c:f>Sheet1!$B$2:$B$9</c:f>
              <c:numCache>
                <c:formatCode>General</c:formatCode>
                <c:ptCount val="8"/>
                <c:pt idx="0">
                  <c:v>82000</c:v>
                </c:pt>
                <c:pt idx="1">
                  <c:v>98000</c:v>
                </c:pt>
                <c:pt idx="2">
                  <c:v>115000</c:v>
                </c:pt>
                <c:pt idx="3">
                  <c:v>128000</c:v>
                </c:pt>
                <c:pt idx="4">
                  <c:v>140000</c:v>
                </c:pt>
                <c:pt idx="5">
                  <c:v>152000</c:v>
                </c:pt>
                <c:pt idx="6">
                  <c:v>168000</c:v>
                </c:pt>
                <c:pt idx="7">
                  <c:v>182000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Monthly operating cost</c:v>
                </c:pt>
              </c:strCache>
            </c:strRef>
          </c:tx>
          <c:spPr>
            <a:solidFill>
              <a:srgbClr val="FF8A3D"/>
            </a:solidFill>
            <a:ln w="38100" cap="flat">
              <a:solidFill>
                <a:srgbClr val="FF8A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F8A3D"/>
              </a:solidFill>
              <a:ln w="9525" cap="flat">
                <a:solidFill>
                  <a:srgbClr val="FF8A3D"/>
                </a:solidFill>
                <a:prstDash val="solid"/>
                <a:round/>
              </a:ln>
              <a:effectLst/>
            </c:spPr>
          </c:marker>
          <c:cat>
            <c:multiLvlStrRef>
              <c:f>Sheet1!$A$2:$A$9</c:f>
              <c:multiLvlStrCache>
                <c:ptCount val="8"/>
                <c:lvl>
                  <c:pt idx="0">
                    <c:v>M1</c:v>
                  </c:pt>
                  <c:pt idx="1">
                    <c:v>M2</c:v>
                  </c:pt>
                  <c:pt idx="2">
                    <c:v>M3</c:v>
                  </c:pt>
                  <c:pt idx="3">
                    <c:v>M4</c:v>
                  </c:pt>
                  <c:pt idx="4">
                    <c:v>M5</c:v>
                  </c:pt>
                  <c:pt idx="5">
                    <c:v>M6</c:v>
                  </c:pt>
                  <c:pt idx="6">
                    <c:v>M9</c:v>
                  </c:pt>
                  <c:pt idx="7">
                    <c:v>M12</c:v>
                  </c:pt>
                </c:lvl>
              </c:multiLvlStrCache>
            </c:multiLvlStrRef>
          </c:cat>
          <c:val>
            <c:numRef>
              <c:f>Sheet1!$C$2:$C$9</c:f>
              <c:numCache>
                <c:formatCode>General</c:formatCode>
                <c:ptCount val="8"/>
                <c:pt idx="0">
                  <c:v>110750</c:v>
                </c:pt>
                <c:pt idx="1">
                  <c:v>110750</c:v>
                </c:pt>
                <c:pt idx="2">
                  <c:v>110750</c:v>
                </c:pt>
                <c:pt idx="3">
                  <c:v>110750</c:v>
                </c:pt>
                <c:pt idx="4">
                  <c:v>110750</c:v>
                </c:pt>
                <c:pt idx="5">
                  <c:v>110750</c:v>
                </c:pt>
                <c:pt idx="6">
                  <c:v>92000</c:v>
                </c:pt>
                <c:pt idx="7">
                  <c:v>90000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200000"/>
          <c:min val="0"/>
        </c:scaling>
        <c:delete val="0"/>
        <c:axPos val="l"/>
        <c:majorGridlines>
          <c:spPr>
            <a:ln w="12700" cap="flat">
              <a:solidFill>
                <a:srgbClr val="E9EB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2141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Lead with the model, not the hardware: this is a capital-efficient venture that rents its depreciating assets so we can test demand for six months before locking up cash. Four bays is deliberate — it is the smallest configuration that reaches a survivable breakeven. Flag up front that we are seeking 5.5 lakh, not 4.5, and that the deck explains exactly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precisely. We are not claiming Kolkata lacks gaming cafés — it has plenty, and the deck names them later. We are claiming the console-plus-real-food combination is unoccupied. The 'why now' column matters: the rent-first model this business depends on only became possible once local monthly-rental vendors started operating in Kolkata.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per-bay pricing point is worth pausing on — it is a margin decision, not just a convenience. A bay costs us the same in rent and electricity whether one person or four use it, so charging per bay and up-selling extra controllers captures group demand without penalising it. The 65/25/10 revenue split is the model we are underwriting.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distinguishes the proposal from every other gaming café pitch. Two things to land: first, renting converts capex to opex and buys us two extra bays we otherwise could not afford. Second — and this is the part operators usually miss — renting has a mathematical expiry at roughly eight months, so we have planned the conversion to ownership from day one rather than drifting into an expensive lease indefinitely.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premises are already secured at 20,000 a month, which is well below commercial rates for the area — that is a structural cost advantage. Be ready for the obvious question about the empty master bedroom: it is not waste, it is optionality. We add bays five and six only once four bays are consistently above 55% utilisation.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column is the operating insight: we are not selling one product at one price. Three distinct time slots with three price points, because the marginal cost of an occupied bay in a dead hour is close to zero. Filling weekday afternoons at 120 an hour is pure contribution, and the off-peak monthly pass is designed specifically for that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named, verifiable venues — we visited them during validation. The honest reading is that we cannot and should not out-price the budget PC cafés at 25 to 40 rupees an hour. We are a different product. Playzy is the closest competitor and the most instructive; its mall location carries rent and operating-hours constraints that our residential premises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mechanics worth calling out. Prepaid wallets are a working-capital instrument as much as a discount — cash arrives before the service is delivered. And the party package at 4,500 is the single highest-margin product in the venue because it fills all four bays at once and brings non-gamers who buy food while they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Utilisation is the single variable that determines survival, and 37% is the honest breakeven — not an optimistic one. Note the asymmetry: the gap between 37% and 55% is about 52,000 rupees a month of profit, which is why four bays rather than three matters so much. At three bays the breakeven would sit near 50%, which is a materially harder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slide. A first-time operator who presents a budget that exactly matches the money available is a operator who has not costed the work. Insurance, acoustic treatment and proper networking were the three items an initial estimate missed. Presenting the overrun ourselves, with three funding options and their consequences, is the credibility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points. First, our largest cost line is temporary by design — the rental line falls by about 20,000 a month once we convert to ownership from Month 6. Second, choosing console over PC gives us a permanent electricity advantage: four consoles draw roughly a third of what a ten-PC floor would, which is a meaningful structural saving in a business with thin early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this is a modelled ramp, not a forecast with certainty behind it. The shape matters more than the precise figures: two loss-making months, crossover in month three or four, then margin expansion in month six that comes from the cost side rather than from revenue growth. The falling orange line is the console conversion — that is a decision we control, unlike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bandwidth point often surprises people: gameplay is trivially light, three to eight megabits per console. The connection is sized for downloads, because a forty-gigabyte patch landing on four consoles at once during opening hours is a real operational failure. Wired Ethernet is non-negotiable — one lag complaint on Google Reviews costs more than the entire cabling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highest-return item on this slide costs nothing: a properly built Google Business Profile with good photographs. In Indian cities, 'gaming café near me' on Maps is how most walk-in customers find a venue, and it will keep working for two years. The weekly tournament is the retention engine — note that we run it from week one rather than waiting for demand, because the tournament creates the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retention as the investable metric. Acquisition spend is a treadmill; a regular customer base is an asset. The hardware discipline point sounds mundane but it is the one operators most often get wrong — broken analog sticks are the single most common reason a customer does not come back, and it is entirely preventable with a weekly check and a small replacement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path note at the bottom is the sequencing insight. Four items have external wait times we cannot compress, so they get filed in week one and everything else is arranged around them. The most common cause of launch slippage in Indian food and entertainment businesses is licensing delay, so we carry a two to three week buffer against this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governance argument and it is what a sceptical associate will respect most. We are not asking for the full amount up front against a promise. Two thousand rupees buys the demand answer. Ten thousand buys the legal answer. Only after both clear does hardware money move. And we have written the exit criterion in advance, because the hardest decision to make honestly is the one made mid-struggle.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 a risk register that names its own worst case earns more trust than a deck full of upside. The two highest-severity items are both about the premises being residential rather than commercial, and both are addressed before capital is committed. The cash-buffer risk is the honest reason for the funding ask being above the original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staged-release point hard, because it is the strongest thing we have to offer a cautious funder. Nobody is being asked to commit five and a half lakh on faith. Twelve thousand rupees, spent over three weeks, answers the two questions that could sink the venture — and if either answer is wrong, that is the total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that is easy to say yes to. We are not asking for approval of five and a half lakh today — we are asking for two thousand rupees and two weeks to bring back evidence. That reframing is the whole point of the gated structure, and it is the note to 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1C"/>
        </a:solidFill>
      </p:bgPr>
    </p:bg>
    <p:spTree>
      <p:nvGrpSpPr>
        <p:cNvPr id="1" name=""/>
        <p:cNvGrpSpPr/>
        <p:nvPr/>
      </p:nvGrpSpPr>
      <p:grpSpPr>
        <a:xfrm>
          <a:off x="0" y="0"/>
          <a:ext cx="0" cy="0"/>
          <a:chOff x="0" y="0"/>
          <a:chExt cx="0" cy="0"/>
        </a:xfrm>
      </p:grpSpPr>
      <p:sp>
        <p:nvSpPr>
          <p:cNvPr id="2" name="Shape 0"/>
          <p:cNvSpPr/>
          <p:nvPr/>
        </p:nvSpPr>
        <p:spPr>
          <a:xfrm>
            <a:off x="8869680" y="685800"/>
            <a:ext cx="914400" cy="868680"/>
          </a:xfrm>
          <a:prstGeom prst="roundRect">
            <a:avLst>
              <a:gd name="adj" fmla="val 8421"/>
            </a:avLst>
          </a:prstGeom>
          <a:solidFill>
            <a:srgbClr val="00C2A8">
              <a:alpha val="45000"/>
            </a:srgbClr>
          </a:solidFill>
          <a:ln/>
        </p:spPr>
      </p:sp>
      <p:sp>
        <p:nvSpPr>
          <p:cNvPr id="3" name="Shape 1"/>
          <p:cNvSpPr/>
          <p:nvPr/>
        </p:nvSpPr>
        <p:spPr>
          <a:xfrm>
            <a:off x="9966960" y="685800"/>
            <a:ext cx="914400" cy="868680"/>
          </a:xfrm>
          <a:prstGeom prst="roundRect">
            <a:avLst>
              <a:gd name="adj" fmla="val 8421"/>
            </a:avLst>
          </a:prstGeom>
          <a:solidFill>
            <a:srgbClr val="00C2A8">
              <a:alpha val="28000"/>
            </a:srgbClr>
          </a:solidFill>
          <a:ln/>
        </p:spPr>
      </p:sp>
      <p:sp>
        <p:nvSpPr>
          <p:cNvPr id="4" name="Shape 2"/>
          <p:cNvSpPr/>
          <p:nvPr/>
        </p:nvSpPr>
        <p:spPr>
          <a:xfrm>
            <a:off x="8869680" y="1691640"/>
            <a:ext cx="914400" cy="868680"/>
          </a:xfrm>
          <a:prstGeom prst="roundRect">
            <a:avLst>
              <a:gd name="adj" fmla="val 8421"/>
            </a:avLst>
          </a:prstGeom>
          <a:solidFill>
            <a:srgbClr val="FF8A3D">
              <a:alpha val="22000"/>
            </a:srgbClr>
          </a:solidFill>
          <a:ln/>
        </p:spPr>
      </p:sp>
      <p:sp>
        <p:nvSpPr>
          <p:cNvPr id="5" name="Shape 3"/>
          <p:cNvSpPr/>
          <p:nvPr/>
        </p:nvSpPr>
        <p:spPr>
          <a:xfrm>
            <a:off x="9966960" y="1691640"/>
            <a:ext cx="914400" cy="868680"/>
          </a:xfrm>
          <a:prstGeom prst="roundRect">
            <a:avLst>
              <a:gd name="adj" fmla="val 8421"/>
            </a:avLst>
          </a:prstGeom>
          <a:solidFill>
            <a:srgbClr val="00C2A8">
              <a:alpha val="14000"/>
            </a:srgbClr>
          </a:solidFill>
          <a:ln/>
        </p:spPr>
      </p:sp>
      <p:sp>
        <p:nvSpPr>
          <p:cNvPr id="6" name="Text 4"/>
          <p:cNvSpPr/>
          <p:nvPr/>
        </p:nvSpPr>
        <p:spPr>
          <a:xfrm>
            <a:off x="640080" y="1051560"/>
            <a:ext cx="7680960" cy="274320"/>
          </a:xfrm>
          <a:prstGeom prst="rect">
            <a:avLst/>
          </a:prstGeom>
          <a:noFill/>
          <a:ln/>
        </p:spPr>
        <p:txBody>
          <a:bodyPr wrap="square" lIns="0" tIns="0" rIns="0" bIns="0" rtlCol="0" anchor="ctr"/>
          <a:lstStyle/>
          <a:p>
            <a:pPr indent="0" marL="0">
              <a:buNone/>
            </a:pPr>
            <a:r>
              <a:rPr lang="en-US" sz="1150" b="1" spc="250" kern="0" dirty="0">
                <a:solidFill>
                  <a:srgbClr val="00C2A8"/>
                </a:solidFill>
                <a:latin typeface="Calibri" pitchFamily="34" charset="0"/>
                <a:ea typeface="Calibri" pitchFamily="34" charset="-122"/>
                <a:cs typeface="Calibri" pitchFamily="34" charset="-120"/>
              </a:rPr>
              <a:t>BUSINESS PROPOSAL  ·  KOLKATA, WEST BENGAL</a:t>
            </a:r>
            <a:endParaRPr lang="en-US" sz="1150" dirty="0"/>
          </a:p>
        </p:txBody>
      </p:sp>
      <p:sp>
        <p:nvSpPr>
          <p:cNvPr id="7" name="Text 5"/>
          <p:cNvSpPr/>
          <p:nvPr/>
        </p:nvSpPr>
        <p:spPr>
          <a:xfrm>
            <a:off x="640080" y="1463040"/>
            <a:ext cx="7680960" cy="173736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Arial" pitchFamily="34" charset="0"/>
                <a:ea typeface="Arial" pitchFamily="34" charset="-122"/>
                <a:cs typeface="Arial" pitchFamily="34" charset="-120"/>
              </a:rPr>
              <a:t>Console Gaming Café</a:t>
            </a:r>
            <a:endParaRPr lang="en-US" sz="4600" dirty="0"/>
          </a:p>
          <a:p>
            <a:pPr indent="0" marL="0">
              <a:lnSpc>
                <a:spcPts val="5000"/>
              </a:lnSpc>
              <a:buNone/>
            </a:pPr>
            <a:r>
              <a:rPr lang="en-US" sz="4600" b="1" dirty="0">
                <a:solidFill>
                  <a:srgbClr val="FFFFFF"/>
                </a:solidFill>
                <a:latin typeface="Arial" pitchFamily="34" charset="0"/>
                <a:ea typeface="Arial" pitchFamily="34" charset="-122"/>
                <a:cs typeface="Arial" pitchFamily="34" charset="-120"/>
              </a:rPr>
              <a:t>&amp; Cafeteria</a:t>
            </a:r>
            <a:endParaRPr lang="en-US" sz="4600" dirty="0"/>
          </a:p>
        </p:txBody>
      </p:sp>
      <p:sp>
        <p:nvSpPr>
          <p:cNvPr id="8" name="Text 6"/>
          <p:cNvSpPr/>
          <p:nvPr/>
        </p:nvSpPr>
        <p:spPr>
          <a:xfrm>
            <a:off x="640080" y="3337560"/>
            <a:ext cx="7498080" cy="822960"/>
          </a:xfrm>
          <a:prstGeom prst="rect">
            <a:avLst/>
          </a:prstGeom>
          <a:noFill/>
          <a:ln/>
        </p:spPr>
        <p:txBody>
          <a:bodyPr wrap="square" lIns="0" tIns="0" rIns="0" bIns="0" rtlCol="0" anchor="ctr"/>
          <a:lstStyle/>
          <a:p>
            <a:pPr indent="0" marL="0">
              <a:lnSpc>
                <a:spcPts val="2200"/>
              </a:lnSpc>
              <a:buNone/>
            </a:pPr>
            <a:r>
              <a:rPr lang="en-US" sz="1500" dirty="0">
                <a:solidFill>
                  <a:srgbClr val="9CA3AF"/>
                </a:solidFill>
                <a:latin typeface="Calibri" pitchFamily="34" charset="0"/>
                <a:ea typeface="Calibri" pitchFamily="34" charset="-122"/>
                <a:cs typeface="Calibri" pitchFamily="34" charset="-120"/>
              </a:rPr>
              <a:t>A capital-efficient, four-bay PlayStation lounge with an attached café — built on a rent-first asset model that validates demand before committing capital.</a:t>
            </a:r>
            <a:endParaRPr lang="en-US" sz="1500" dirty="0"/>
          </a:p>
        </p:txBody>
      </p:sp>
      <p:sp>
        <p:nvSpPr>
          <p:cNvPr id="9" name="Text 7"/>
          <p:cNvSpPr/>
          <p:nvPr/>
        </p:nvSpPr>
        <p:spPr>
          <a:xfrm>
            <a:off x="640080" y="4526280"/>
            <a:ext cx="2377440" cy="566928"/>
          </a:xfrm>
          <a:prstGeom prst="rect">
            <a:avLst/>
          </a:prstGeom>
          <a:noFill/>
          <a:ln/>
        </p:spPr>
        <p:txBody>
          <a:bodyPr wrap="square" lIns="0" tIns="0" rIns="0" bIns="0" rtlCol="0" anchor="ctr"/>
          <a:lstStyle/>
          <a:p>
            <a:pPr indent="0" marL="0">
              <a:buNone/>
            </a:pPr>
            <a:r>
              <a:rPr lang="en-US" sz="3000" b="1" dirty="0">
                <a:solidFill>
                  <a:srgbClr val="00C2A8"/>
                </a:solidFill>
                <a:latin typeface="Arial" pitchFamily="34" charset="0"/>
                <a:ea typeface="Arial" pitchFamily="34" charset="-122"/>
                <a:cs typeface="Arial" pitchFamily="34" charset="-120"/>
              </a:rPr>
              <a:t>₹5.5L</a:t>
            </a:r>
            <a:endParaRPr lang="en-US" sz="3000" dirty="0"/>
          </a:p>
        </p:txBody>
      </p:sp>
      <p:sp>
        <p:nvSpPr>
          <p:cNvPr id="10" name="Text 8"/>
          <p:cNvSpPr/>
          <p:nvPr/>
        </p:nvSpPr>
        <p:spPr>
          <a:xfrm>
            <a:off x="640080" y="5102352"/>
            <a:ext cx="2377440" cy="27432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Capital sought</a:t>
            </a:r>
            <a:endParaRPr lang="en-US" sz="1100" dirty="0"/>
          </a:p>
        </p:txBody>
      </p:sp>
      <p:sp>
        <p:nvSpPr>
          <p:cNvPr id="11" name="Text 9"/>
          <p:cNvSpPr/>
          <p:nvPr/>
        </p:nvSpPr>
        <p:spPr>
          <a:xfrm>
            <a:off x="3291840" y="4526280"/>
            <a:ext cx="2377440" cy="566928"/>
          </a:xfrm>
          <a:prstGeom prst="rect">
            <a:avLst/>
          </a:prstGeom>
          <a:noFill/>
          <a:ln/>
        </p:spPr>
        <p:txBody>
          <a:bodyPr wrap="square" lIns="0" tIns="0" rIns="0" bIns="0" rtlCol="0" anchor="ctr"/>
          <a:lstStyle/>
          <a:p>
            <a:pPr indent="0" marL="0">
              <a:buNone/>
            </a:pPr>
            <a:r>
              <a:rPr lang="en-US" sz="3000" b="1" dirty="0">
                <a:solidFill>
                  <a:srgbClr val="00C2A8"/>
                </a:solidFill>
                <a:latin typeface="Arial" pitchFamily="34" charset="0"/>
                <a:ea typeface="Arial" pitchFamily="34" charset="-122"/>
                <a:cs typeface="Arial" pitchFamily="34" charset="-120"/>
              </a:rPr>
              <a:t>4</a:t>
            </a:r>
            <a:endParaRPr lang="en-US" sz="3000" dirty="0"/>
          </a:p>
        </p:txBody>
      </p:sp>
      <p:sp>
        <p:nvSpPr>
          <p:cNvPr id="12" name="Text 10"/>
          <p:cNvSpPr/>
          <p:nvPr/>
        </p:nvSpPr>
        <p:spPr>
          <a:xfrm>
            <a:off x="3291840" y="5102352"/>
            <a:ext cx="2377440" cy="27432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Console bays</a:t>
            </a:r>
            <a:endParaRPr lang="en-US" sz="1100" dirty="0"/>
          </a:p>
        </p:txBody>
      </p:sp>
      <p:sp>
        <p:nvSpPr>
          <p:cNvPr id="13" name="Text 11"/>
          <p:cNvSpPr/>
          <p:nvPr/>
        </p:nvSpPr>
        <p:spPr>
          <a:xfrm>
            <a:off x="5943600" y="4526280"/>
            <a:ext cx="2377440" cy="566928"/>
          </a:xfrm>
          <a:prstGeom prst="rect">
            <a:avLst/>
          </a:prstGeom>
          <a:noFill/>
          <a:ln/>
        </p:spPr>
        <p:txBody>
          <a:bodyPr wrap="square" lIns="0" tIns="0" rIns="0" bIns="0" rtlCol="0" anchor="ctr"/>
          <a:lstStyle/>
          <a:p>
            <a:pPr indent="0" marL="0">
              <a:buNone/>
            </a:pPr>
            <a:r>
              <a:rPr lang="en-US" sz="3000" b="1" dirty="0">
                <a:solidFill>
                  <a:srgbClr val="00C2A8"/>
                </a:solidFill>
                <a:latin typeface="Arial" pitchFamily="34" charset="0"/>
                <a:ea typeface="Arial" pitchFamily="34" charset="-122"/>
                <a:cs typeface="Arial" pitchFamily="34" charset="-120"/>
              </a:rPr>
              <a:t>37%</a:t>
            </a:r>
            <a:endParaRPr lang="en-US" sz="3000" dirty="0"/>
          </a:p>
        </p:txBody>
      </p:sp>
      <p:sp>
        <p:nvSpPr>
          <p:cNvPr id="14" name="Text 12"/>
          <p:cNvSpPr/>
          <p:nvPr/>
        </p:nvSpPr>
        <p:spPr>
          <a:xfrm>
            <a:off x="5943600" y="5102352"/>
            <a:ext cx="2377440" cy="27432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Breakeven utilisation</a:t>
            </a:r>
            <a:endParaRPr lang="en-US" sz="1100" dirty="0"/>
          </a:p>
        </p:txBody>
      </p:sp>
      <p:sp>
        <p:nvSpPr>
          <p:cNvPr id="15" name="Text 13"/>
          <p:cNvSpPr/>
          <p:nvPr/>
        </p:nvSpPr>
        <p:spPr>
          <a:xfrm>
            <a:off x="8595360" y="4526280"/>
            <a:ext cx="2377440" cy="566928"/>
          </a:xfrm>
          <a:prstGeom prst="rect">
            <a:avLst/>
          </a:prstGeom>
          <a:noFill/>
          <a:ln/>
        </p:spPr>
        <p:txBody>
          <a:bodyPr wrap="square" lIns="0" tIns="0" rIns="0" bIns="0" rtlCol="0" anchor="ctr"/>
          <a:lstStyle/>
          <a:p>
            <a:pPr indent="0" marL="0">
              <a:buNone/>
            </a:pPr>
            <a:r>
              <a:rPr lang="en-US" sz="3000" b="1" dirty="0">
                <a:solidFill>
                  <a:srgbClr val="00C2A8"/>
                </a:solidFill>
                <a:latin typeface="Arial" pitchFamily="34" charset="0"/>
                <a:ea typeface="Arial" pitchFamily="34" charset="-122"/>
                <a:cs typeface="Arial" pitchFamily="34" charset="-120"/>
              </a:rPr>
              <a:t>10 wks</a:t>
            </a:r>
            <a:endParaRPr lang="en-US" sz="3000" dirty="0"/>
          </a:p>
        </p:txBody>
      </p:sp>
      <p:sp>
        <p:nvSpPr>
          <p:cNvPr id="16" name="Text 14"/>
          <p:cNvSpPr/>
          <p:nvPr/>
        </p:nvSpPr>
        <p:spPr>
          <a:xfrm>
            <a:off x="8595360" y="5102352"/>
            <a:ext cx="2377440" cy="27432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To launch</a:t>
            </a:r>
            <a:endParaRPr lang="en-US" sz="1100" dirty="0"/>
          </a:p>
        </p:txBody>
      </p:sp>
      <p:sp>
        <p:nvSpPr>
          <p:cNvPr id="17" name="Text 15"/>
          <p:cNvSpPr/>
          <p:nvPr/>
        </p:nvSpPr>
        <p:spPr>
          <a:xfrm>
            <a:off x="640080" y="6035040"/>
            <a:ext cx="10911535" cy="274320"/>
          </a:xfrm>
          <a:prstGeom prst="rect">
            <a:avLst/>
          </a:prstGeom>
          <a:noFill/>
          <a:ln/>
        </p:spPr>
        <p:txBody>
          <a:bodyPr wrap="square" lIns="0" tIns="0" rIns="0" bIns="0" rtlCol="0" anchor="ctr"/>
          <a:lstStyle/>
          <a:p>
            <a:pPr indent="0" marL="0">
              <a:buNone/>
            </a:pPr>
            <a:r>
              <a:rPr lang="en-US" sz="950" dirty="0">
                <a:solidFill>
                  <a:srgbClr val="5A6070"/>
                </a:solidFill>
                <a:latin typeface="Calibri" pitchFamily="34" charset="0"/>
                <a:ea typeface="Calibri" pitchFamily="34" charset="-122"/>
                <a:cs typeface="Calibri" pitchFamily="34" charset="-120"/>
              </a:rPr>
              <a:t>Prepared August 2026  ·  1,300 sq ft leased premises  ·  All figures indicative and subject to live vendor quotation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THE OPPORTUNITY</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Kolkata has gaming cafés. It does not have good ones.</a:t>
            </a:r>
            <a:endParaRPr lang="en-US" sz="3200" dirty="0"/>
          </a:p>
        </p:txBody>
      </p:sp>
      <p:sp>
        <p:nvSpPr>
          <p:cNvPr id="4" name="Shape 2"/>
          <p:cNvSpPr/>
          <p:nvPr/>
        </p:nvSpPr>
        <p:spPr>
          <a:xfrm>
            <a:off x="640080" y="1627632"/>
            <a:ext cx="6583680" cy="1325880"/>
          </a:xfrm>
          <a:prstGeom prst="roundRect">
            <a:avLst>
              <a:gd name="adj" fmla="val 6897"/>
            </a:avLst>
          </a:prstGeom>
          <a:solidFill>
            <a:srgbClr val="F3F4F7"/>
          </a:solidFill>
          <a:ln/>
        </p:spPr>
      </p:sp>
      <p:sp>
        <p:nvSpPr>
          <p:cNvPr id="5" name="Shape 3"/>
          <p:cNvSpPr/>
          <p:nvPr/>
        </p:nvSpPr>
        <p:spPr>
          <a:xfrm>
            <a:off x="932688" y="2057400"/>
            <a:ext cx="457200" cy="457200"/>
          </a:xfrm>
          <a:prstGeom prst="ellipse">
            <a:avLst/>
          </a:prstGeom>
          <a:solidFill>
            <a:srgbClr val="00C2A8"/>
          </a:solidFill>
          <a:ln/>
        </p:spPr>
      </p:sp>
      <p:sp>
        <p:nvSpPr>
          <p:cNvPr id="6" name="Text 4"/>
          <p:cNvSpPr/>
          <p:nvPr/>
        </p:nvSpPr>
        <p:spPr>
          <a:xfrm>
            <a:off x="932688" y="20574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554480" y="1773936"/>
            <a:ext cx="5532120" cy="310896"/>
          </a:xfrm>
          <a:prstGeom prst="rect">
            <a:avLst/>
          </a:prstGeom>
          <a:noFill/>
          <a:ln/>
        </p:spPr>
        <p:txBody>
          <a:bodyPr wrap="square" lIns="0" tIns="0" rIns="0" bIns="0" rtlCol="0" anchor="ctr"/>
          <a:lstStyle/>
          <a:p>
            <a:pPr indent="0" marL="0">
              <a:buNone/>
            </a:pPr>
            <a:r>
              <a:rPr lang="en-US" sz="1500" b="1" dirty="0">
                <a:solidFill>
                  <a:srgbClr val="12141C"/>
                </a:solidFill>
                <a:latin typeface="Arial" pitchFamily="34" charset="0"/>
                <a:ea typeface="Arial" pitchFamily="34" charset="-122"/>
                <a:cs typeface="Arial" pitchFamily="34" charset="-120"/>
              </a:rPr>
              <a:t>Console gaming is under-served</a:t>
            </a:r>
            <a:endParaRPr lang="en-US" sz="1500" dirty="0"/>
          </a:p>
        </p:txBody>
      </p:sp>
      <p:sp>
        <p:nvSpPr>
          <p:cNvPr id="8" name="Text 6"/>
          <p:cNvSpPr/>
          <p:nvPr/>
        </p:nvSpPr>
        <p:spPr>
          <a:xfrm>
            <a:off x="1554480" y="2130552"/>
            <a:ext cx="5532120" cy="713232"/>
          </a:xfrm>
          <a:prstGeom prst="rect">
            <a:avLst/>
          </a:prstGeom>
          <a:noFill/>
          <a:ln/>
        </p:spPr>
        <p:txBody>
          <a:bodyPr wrap="square" lIns="0" tIns="0" rIns="0" bIns="0" rtlCol="0" anchor="t"/>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Most Kolkata venues are PC-first. Console bays — where groups of two to four play together on a couch — are a minority offering, usually bolted onto a PC floor as an afterthought.</a:t>
            </a:r>
            <a:endParaRPr lang="en-US" sz="1150" dirty="0"/>
          </a:p>
        </p:txBody>
      </p:sp>
      <p:sp>
        <p:nvSpPr>
          <p:cNvPr id="9" name="Shape 7"/>
          <p:cNvSpPr/>
          <p:nvPr/>
        </p:nvSpPr>
        <p:spPr>
          <a:xfrm>
            <a:off x="640080" y="3136392"/>
            <a:ext cx="6583680" cy="1325880"/>
          </a:xfrm>
          <a:prstGeom prst="roundRect">
            <a:avLst>
              <a:gd name="adj" fmla="val 6897"/>
            </a:avLst>
          </a:prstGeom>
          <a:solidFill>
            <a:srgbClr val="F3F4F7"/>
          </a:solidFill>
          <a:ln/>
        </p:spPr>
      </p:sp>
      <p:sp>
        <p:nvSpPr>
          <p:cNvPr id="10" name="Shape 8"/>
          <p:cNvSpPr/>
          <p:nvPr/>
        </p:nvSpPr>
        <p:spPr>
          <a:xfrm>
            <a:off x="932688" y="3566160"/>
            <a:ext cx="457200" cy="457200"/>
          </a:xfrm>
          <a:prstGeom prst="ellipse">
            <a:avLst/>
          </a:prstGeom>
          <a:solidFill>
            <a:srgbClr val="00C2A8"/>
          </a:solidFill>
          <a:ln/>
        </p:spPr>
      </p:sp>
      <p:sp>
        <p:nvSpPr>
          <p:cNvPr id="11" name="Text 9"/>
          <p:cNvSpPr/>
          <p:nvPr/>
        </p:nvSpPr>
        <p:spPr>
          <a:xfrm>
            <a:off x="932688" y="35661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1554480" y="3282696"/>
            <a:ext cx="5532120" cy="310896"/>
          </a:xfrm>
          <a:prstGeom prst="rect">
            <a:avLst/>
          </a:prstGeom>
          <a:noFill/>
          <a:ln/>
        </p:spPr>
        <p:txBody>
          <a:bodyPr wrap="square" lIns="0" tIns="0" rIns="0" bIns="0" rtlCol="0" anchor="ctr"/>
          <a:lstStyle/>
          <a:p>
            <a:pPr indent="0" marL="0">
              <a:buNone/>
            </a:pPr>
            <a:r>
              <a:rPr lang="en-US" sz="1500" b="1" dirty="0">
                <a:solidFill>
                  <a:srgbClr val="12141C"/>
                </a:solidFill>
                <a:latin typeface="Arial" pitchFamily="34" charset="0"/>
                <a:ea typeface="Arial" pitchFamily="34" charset="-122"/>
                <a:cs typeface="Arial" pitchFamily="34" charset="-120"/>
              </a:rPr>
              <a:t>Food &amp; beverage is an afterthought</a:t>
            </a:r>
            <a:endParaRPr lang="en-US" sz="1500" dirty="0"/>
          </a:p>
        </p:txBody>
      </p:sp>
      <p:sp>
        <p:nvSpPr>
          <p:cNvPr id="13" name="Text 11"/>
          <p:cNvSpPr/>
          <p:nvPr/>
        </p:nvSpPr>
        <p:spPr>
          <a:xfrm>
            <a:off x="1554480" y="3639312"/>
            <a:ext cx="5532120" cy="713232"/>
          </a:xfrm>
          <a:prstGeom prst="rect">
            <a:avLst/>
          </a:prstGeom>
          <a:noFill/>
          <a:ln/>
        </p:spPr>
        <p:txBody>
          <a:bodyPr wrap="square" lIns="0" tIns="0" rIns="0" bIns="0" rtlCol="0" anchor="t"/>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Existing cafés sell packaged chips and soft drinks. Nobody is running a genuine kitchen alongside the screens, despite customers sitting for three hours at a stretch.</a:t>
            </a:r>
            <a:endParaRPr lang="en-US" sz="1150" dirty="0"/>
          </a:p>
        </p:txBody>
      </p:sp>
      <p:sp>
        <p:nvSpPr>
          <p:cNvPr id="14" name="Shape 12"/>
          <p:cNvSpPr/>
          <p:nvPr/>
        </p:nvSpPr>
        <p:spPr>
          <a:xfrm>
            <a:off x="640080" y="4645152"/>
            <a:ext cx="6583680" cy="1325880"/>
          </a:xfrm>
          <a:prstGeom prst="roundRect">
            <a:avLst>
              <a:gd name="adj" fmla="val 6897"/>
            </a:avLst>
          </a:prstGeom>
          <a:solidFill>
            <a:srgbClr val="F3F4F7"/>
          </a:solidFill>
          <a:ln/>
        </p:spPr>
      </p:sp>
      <p:sp>
        <p:nvSpPr>
          <p:cNvPr id="15" name="Shape 13"/>
          <p:cNvSpPr/>
          <p:nvPr/>
        </p:nvSpPr>
        <p:spPr>
          <a:xfrm>
            <a:off x="932688" y="5074920"/>
            <a:ext cx="457200" cy="457200"/>
          </a:xfrm>
          <a:prstGeom prst="ellipse">
            <a:avLst/>
          </a:prstGeom>
          <a:solidFill>
            <a:srgbClr val="00C2A8"/>
          </a:solidFill>
          <a:ln/>
        </p:spPr>
      </p:sp>
      <p:sp>
        <p:nvSpPr>
          <p:cNvPr id="16" name="Text 14"/>
          <p:cNvSpPr/>
          <p:nvPr/>
        </p:nvSpPr>
        <p:spPr>
          <a:xfrm>
            <a:off x="932688" y="5074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554480" y="4791456"/>
            <a:ext cx="5532120" cy="310896"/>
          </a:xfrm>
          <a:prstGeom prst="rect">
            <a:avLst/>
          </a:prstGeom>
          <a:noFill/>
          <a:ln/>
        </p:spPr>
        <p:txBody>
          <a:bodyPr wrap="square" lIns="0" tIns="0" rIns="0" bIns="0" rtlCol="0" anchor="ctr"/>
          <a:lstStyle/>
          <a:p>
            <a:pPr indent="0" marL="0">
              <a:buNone/>
            </a:pPr>
            <a:r>
              <a:rPr lang="en-US" sz="1500" b="1" dirty="0">
                <a:solidFill>
                  <a:srgbClr val="12141C"/>
                </a:solidFill>
                <a:latin typeface="Arial" pitchFamily="34" charset="0"/>
                <a:ea typeface="Arial" pitchFamily="34" charset="-122"/>
                <a:cs typeface="Arial" pitchFamily="34" charset="-120"/>
              </a:rPr>
              <a:t>Group play is the real demand</a:t>
            </a:r>
            <a:endParaRPr lang="en-US" sz="1500" dirty="0"/>
          </a:p>
        </p:txBody>
      </p:sp>
      <p:sp>
        <p:nvSpPr>
          <p:cNvPr id="18" name="Text 16"/>
          <p:cNvSpPr/>
          <p:nvPr/>
        </p:nvSpPr>
        <p:spPr>
          <a:xfrm>
            <a:off x="1554480" y="5148072"/>
            <a:ext cx="5532120" cy="713232"/>
          </a:xfrm>
          <a:prstGeom prst="rect">
            <a:avLst/>
          </a:prstGeom>
          <a:noFill/>
          <a:ln/>
        </p:spPr>
        <p:txBody>
          <a:bodyPr wrap="square" lIns="0" tIns="0" rIns="0" bIns="0" rtlCol="0" anchor="t"/>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The revenue-generating unit is not one gamer at a keyboard. It is four friends on one screen — which prices per bay, not per seat, and drives food orders.</a:t>
            </a:r>
            <a:endParaRPr lang="en-US" sz="1150" dirty="0"/>
          </a:p>
        </p:txBody>
      </p:sp>
      <p:sp>
        <p:nvSpPr>
          <p:cNvPr id="19" name="Shape 17"/>
          <p:cNvSpPr/>
          <p:nvPr/>
        </p:nvSpPr>
        <p:spPr>
          <a:xfrm>
            <a:off x="7635240" y="1627632"/>
            <a:ext cx="3913632" cy="4434840"/>
          </a:xfrm>
          <a:prstGeom prst="roundRect">
            <a:avLst>
              <a:gd name="adj" fmla="val 2336"/>
            </a:avLst>
          </a:prstGeom>
          <a:solidFill>
            <a:srgbClr val="12141C"/>
          </a:solidFill>
          <a:ln/>
        </p:spPr>
      </p:sp>
      <p:sp>
        <p:nvSpPr>
          <p:cNvPr id="20" name="Text 18"/>
          <p:cNvSpPr/>
          <p:nvPr/>
        </p:nvSpPr>
        <p:spPr>
          <a:xfrm>
            <a:off x="8001000" y="1938528"/>
            <a:ext cx="3200400" cy="256032"/>
          </a:xfrm>
          <a:prstGeom prst="rect">
            <a:avLst/>
          </a:prstGeom>
          <a:noFill/>
          <a:ln/>
        </p:spPr>
        <p:txBody>
          <a:bodyPr wrap="square" lIns="0" tIns="0" rIns="0" bIns="0" rtlCol="0" anchor="ctr"/>
          <a:lstStyle/>
          <a:p>
            <a:pPr indent="0" marL="0">
              <a:buNone/>
            </a:pPr>
            <a:r>
              <a:rPr lang="en-US" sz="1050" b="1" spc="200" kern="0" dirty="0">
                <a:solidFill>
                  <a:srgbClr val="00C2A8"/>
                </a:solidFill>
                <a:latin typeface="Calibri" pitchFamily="34" charset="0"/>
                <a:ea typeface="Calibri" pitchFamily="34" charset="-122"/>
                <a:cs typeface="Calibri" pitchFamily="34" charset="-120"/>
              </a:rPr>
              <a:t>WHY NOW</a:t>
            </a:r>
            <a:endParaRPr lang="en-US" sz="1050" dirty="0"/>
          </a:p>
        </p:txBody>
      </p:sp>
      <p:sp>
        <p:nvSpPr>
          <p:cNvPr id="21" name="Text 19"/>
          <p:cNvSpPr/>
          <p:nvPr/>
        </p:nvSpPr>
        <p:spPr>
          <a:xfrm>
            <a:off x="8001000" y="2395728"/>
            <a:ext cx="32004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Dense student catchment</a:t>
            </a:r>
            <a:endParaRPr lang="en-US" sz="1250" dirty="0"/>
          </a:p>
        </p:txBody>
      </p:sp>
      <p:sp>
        <p:nvSpPr>
          <p:cNvPr id="22" name="Text 20"/>
          <p:cNvSpPr/>
          <p:nvPr/>
        </p:nvSpPr>
        <p:spPr>
          <a:xfrm>
            <a:off x="8001000" y="2688336"/>
            <a:ext cx="3200400" cy="822960"/>
          </a:xfrm>
          <a:prstGeom prst="rect">
            <a:avLst/>
          </a:prstGeom>
          <a:noFill/>
          <a:ln/>
        </p:spPr>
        <p:txBody>
          <a:bodyPr wrap="square" lIns="0" tIns="0" rIns="0" bIns="0" rtlCol="0" anchor="t"/>
          <a:lstStyle/>
          <a:p>
            <a:pPr indent="0" marL="0">
              <a:lnSpc>
                <a:spcPts val="1400"/>
              </a:lnSpc>
              <a:buNone/>
            </a:pPr>
            <a:r>
              <a:rPr lang="en-US" sz="1050" dirty="0">
                <a:solidFill>
                  <a:srgbClr val="9CA3AF"/>
                </a:solidFill>
                <a:latin typeface="Calibri" pitchFamily="34" charset="0"/>
                <a:ea typeface="Calibri" pitchFamily="34" charset="-122"/>
                <a:cs typeface="Calibri" pitchFamily="34" charset="-120"/>
              </a:rPr>
              <a:t>Kolkata's college and coaching clusters put the 16–28 core demographic within walking distance.</a:t>
            </a:r>
            <a:endParaRPr lang="en-US" sz="1050" dirty="0"/>
          </a:p>
        </p:txBody>
      </p:sp>
      <p:sp>
        <p:nvSpPr>
          <p:cNvPr id="23" name="Text 21"/>
          <p:cNvSpPr/>
          <p:nvPr/>
        </p:nvSpPr>
        <p:spPr>
          <a:xfrm>
            <a:off x="8001000" y="3602736"/>
            <a:ext cx="32004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Console pricing has stabilised</a:t>
            </a:r>
            <a:endParaRPr lang="en-US" sz="1250" dirty="0"/>
          </a:p>
        </p:txBody>
      </p:sp>
      <p:sp>
        <p:nvSpPr>
          <p:cNvPr id="24" name="Text 22"/>
          <p:cNvSpPr/>
          <p:nvPr/>
        </p:nvSpPr>
        <p:spPr>
          <a:xfrm>
            <a:off x="8001000" y="3895344"/>
            <a:ext cx="3200400" cy="822960"/>
          </a:xfrm>
          <a:prstGeom prst="rect">
            <a:avLst/>
          </a:prstGeom>
          <a:noFill/>
          <a:ln/>
        </p:spPr>
        <p:txBody>
          <a:bodyPr wrap="square" lIns="0" tIns="0" rIns="0" bIns="0" rtlCol="0" anchor="t"/>
          <a:lstStyle/>
          <a:p>
            <a:pPr indent="0" marL="0">
              <a:lnSpc>
                <a:spcPts val="1400"/>
              </a:lnSpc>
              <a:buNone/>
            </a:pPr>
            <a:r>
              <a:rPr lang="en-US" sz="1050" dirty="0">
                <a:solidFill>
                  <a:srgbClr val="9CA3AF"/>
                </a:solidFill>
                <a:latin typeface="Calibri" pitchFamily="34" charset="0"/>
                <a:ea typeface="Calibri" pitchFamily="34" charset="-122"/>
                <a:cs typeface="Calibri" pitchFamily="34" charset="-120"/>
              </a:rPr>
              <a:t>PS5 hardware and rental supply are both mature and locally available.</a:t>
            </a:r>
            <a:endParaRPr lang="en-US" sz="1050" dirty="0"/>
          </a:p>
        </p:txBody>
      </p:sp>
      <p:sp>
        <p:nvSpPr>
          <p:cNvPr id="25" name="Text 23"/>
          <p:cNvSpPr/>
          <p:nvPr/>
        </p:nvSpPr>
        <p:spPr>
          <a:xfrm>
            <a:off x="8001000" y="4809744"/>
            <a:ext cx="32004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Rental infrastructure now exists</a:t>
            </a:r>
            <a:endParaRPr lang="en-US" sz="1250" dirty="0"/>
          </a:p>
        </p:txBody>
      </p:sp>
      <p:sp>
        <p:nvSpPr>
          <p:cNvPr id="26" name="Text 24"/>
          <p:cNvSpPr/>
          <p:nvPr/>
        </p:nvSpPr>
        <p:spPr>
          <a:xfrm>
            <a:off x="8001000" y="5102352"/>
            <a:ext cx="3200400" cy="822960"/>
          </a:xfrm>
          <a:prstGeom prst="rect">
            <a:avLst/>
          </a:prstGeom>
          <a:noFill/>
          <a:ln/>
        </p:spPr>
        <p:txBody>
          <a:bodyPr wrap="square" lIns="0" tIns="0" rIns="0" bIns="0" rtlCol="0" anchor="t"/>
          <a:lstStyle/>
          <a:p>
            <a:pPr indent="0" marL="0">
              <a:lnSpc>
                <a:spcPts val="1400"/>
              </a:lnSpc>
              <a:buNone/>
            </a:pPr>
            <a:r>
              <a:rPr lang="en-US" sz="1050" dirty="0">
                <a:solidFill>
                  <a:srgbClr val="9CA3AF"/>
                </a:solidFill>
                <a:latin typeface="Calibri" pitchFamily="34" charset="0"/>
                <a:ea typeface="Calibri" pitchFamily="34" charset="-122"/>
                <a:cs typeface="Calibri" pitchFamily="34" charset="-120"/>
              </a:rPr>
              <a:t>Kolkata-based vendors lease consoles, TVs, ACs and furniture monthly — the model was not viable five years ago.</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THE CONCEPT</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Four console bays, a real kitchen, one bill</a:t>
            </a:r>
            <a:endParaRPr lang="en-US" sz="3200" dirty="0"/>
          </a:p>
        </p:txBody>
      </p:sp>
      <p:sp>
        <p:nvSpPr>
          <p:cNvPr id="4" name="Text 2"/>
          <p:cNvSpPr/>
          <p:nvPr/>
        </p:nvSpPr>
        <p:spPr>
          <a:xfrm>
            <a:off x="640080" y="1463040"/>
            <a:ext cx="7863840" cy="45720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A 1,300 sq ft venue built around group console play, with food and beverages served to the bay and billed on the same ticket as game time.</a:t>
            </a:r>
            <a:endParaRPr lang="en-US" sz="1300" dirty="0"/>
          </a:p>
        </p:txBody>
      </p:sp>
      <p:sp>
        <p:nvSpPr>
          <p:cNvPr id="5" name="Shape 3"/>
          <p:cNvSpPr/>
          <p:nvPr/>
        </p:nvSpPr>
        <p:spPr>
          <a:xfrm>
            <a:off x="640080" y="2148840"/>
            <a:ext cx="3429000" cy="3337560"/>
          </a:xfrm>
          <a:prstGeom prst="roundRect">
            <a:avLst>
              <a:gd name="adj" fmla="val 2740"/>
            </a:avLst>
          </a:prstGeom>
          <a:solidFill>
            <a:srgbClr val="FFFFFF"/>
          </a:solidFill>
          <a:ln/>
        </p:spPr>
      </p:sp>
      <p:sp>
        <p:nvSpPr>
          <p:cNvPr id="6" name="Shape 4"/>
          <p:cNvSpPr/>
          <p:nvPr/>
        </p:nvSpPr>
        <p:spPr>
          <a:xfrm>
            <a:off x="640080" y="2148840"/>
            <a:ext cx="3429000" cy="3337560"/>
          </a:xfrm>
          <a:prstGeom prst="roundRect">
            <a:avLst>
              <a:gd name="adj" fmla="val 2740"/>
            </a:avLst>
          </a:prstGeom>
          <a:solidFill>
            <a:srgbClr val="FFFFFF"/>
          </a:solidFill>
          <a:ln w="12700">
            <a:solidFill>
              <a:srgbClr val="D6D9E0"/>
            </a:solidFill>
            <a:prstDash val="solid"/>
          </a:ln>
        </p:spPr>
      </p:sp>
      <p:sp>
        <p:nvSpPr>
          <p:cNvPr id="7" name="Text 5"/>
          <p:cNvSpPr/>
          <p:nvPr/>
        </p:nvSpPr>
        <p:spPr>
          <a:xfrm>
            <a:off x="960120" y="2395728"/>
            <a:ext cx="2788920" cy="256032"/>
          </a:xfrm>
          <a:prstGeom prst="rect">
            <a:avLst/>
          </a:prstGeom>
          <a:noFill/>
          <a:ln/>
        </p:spPr>
        <p:txBody>
          <a:bodyPr wrap="square" lIns="0" tIns="0" rIns="0" bIns="0" rtlCol="0" anchor="ctr"/>
          <a:lstStyle/>
          <a:p>
            <a:pPr indent="0" marL="0">
              <a:buNone/>
            </a:pPr>
            <a:r>
              <a:rPr lang="en-US" sz="1050" b="1" spc="200" kern="0" dirty="0">
                <a:solidFill>
                  <a:srgbClr val="00C2A8"/>
                </a:solidFill>
                <a:latin typeface="Calibri" pitchFamily="34" charset="0"/>
                <a:ea typeface="Calibri" pitchFamily="34" charset="-122"/>
                <a:cs typeface="Calibri" pitchFamily="34" charset="-120"/>
              </a:rPr>
              <a:t>THE BAY</a:t>
            </a:r>
            <a:endParaRPr lang="en-US" sz="1050" dirty="0"/>
          </a:p>
        </p:txBody>
      </p:sp>
      <p:sp>
        <p:nvSpPr>
          <p:cNvPr id="8" name="Text 6"/>
          <p:cNvSpPr/>
          <p:nvPr/>
        </p:nvSpPr>
        <p:spPr>
          <a:xfrm>
            <a:off x="960120" y="2697480"/>
            <a:ext cx="2788920" cy="777240"/>
          </a:xfrm>
          <a:prstGeom prst="rect">
            <a:avLst/>
          </a:prstGeom>
          <a:noFill/>
          <a:ln/>
        </p:spPr>
        <p:txBody>
          <a:bodyPr wrap="square" lIns="0" tIns="0" rIns="0" bIns="0" rtlCol="0" anchor="ctr"/>
          <a:lstStyle/>
          <a:p>
            <a:pPr indent="0" marL="0">
              <a:buNone/>
            </a:pPr>
            <a:r>
              <a:rPr lang="en-US" sz="4400" b="1" dirty="0">
                <a:solidFill>
                  <a:srgbClr val="12141C"/>
                </a:solidFill>
                <a:latin typeface="Arial" pitchFamily="34" charset="0"/>
                <a:ea typeface="Arial" pitchFamily="34" charset="-122"/>
                <a:cs typeface="Arial" pitchFamily="34" charset="-120"/>
              </a:rPr>
              <a:t>4</a:t>
            </a:r>
            <a:endParaRPr lang="en-US" sz="4400" dirty="0"/>
          </a:p>
        </p:txBody>
      </p:sp>
      <p:sp>
        <p:nvSpPr>
          <p:cNvPr id="9" name="Text 7"/>
          <p:cNvSpPr/>
          <p:nvPr/>
        </p:nvSpPr>
        <p:spPr>
          <a:xfrm>
            <a:off x="960120" y="3493008"/>
            <a:ext cx="2788920" cy="256032"/>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PS5 bays</a:t>
            </a:r>
            <a:endParaRPr lang="en-US" sz="1150" dirty="0"/>
          </a:p>
        </p:txBody>
      </p:sp>
      <p:sp>
        <p:nvSpPr>
          <p:cNvPr id="10" name="Text 8"/>
          <p:cNvSpPr/>
          <p:nvPr/>
        </p:nvSpPr>
        <p:spPr>
          <a:xfrm>
            <a:off x="960120" y="3840480"/>
            <a:ext cx="2788920" cy="1417320"/>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One console, one 43" screen, seating for four. Priced per bay, not per person — the same bay costs us the same whether one or four people use it.</a:t>
            </a:r>
            <a:endParaRPr lang="en-US" sz="1100" dirty="0"/>
          </a:p>
        </p:txBody>
      </p:sp>
      <p:sp>
        <p:nvSpPr>
          <p:cNvPr id="11" name="Shape 9"/>
          <p:cNvSpPr/>
          <p:nvPr/>
        </p:nvSpPr>
        <p:spPr>
          <a:xfrm>
            <a:off x="4352544" y="2148840"/>
            <a:ext cx="3429000" cy="3337560"/>
          </a:xfrm>
          <a:prstGeom prst="roundRect">
            <a:avLst>
              <a:gd name="adj" fmla="val 2740"/>
            </a:avLst>
          </a:prstGeom>
          <a:solidFill>
            <a:srgbClr val="FFFFFF"/>
          </a:solidFill>
          <a:ln/>
        </p:spPr>
      </p:sp>
      <p:sp>
        <p:nvSpPr>
          <p:cNvPr id="12" name="Shape 10"/>
          <p:cNvSpPr/>
          <p:nvPr/>
        </p:nvSpPr>
        <p:spPr>
          <a:xfrm>
            <a:off x="4352544" y="2148840"/>
            <a:ext cx="3429000" cy="3337560"/>
          </a:xfrm>
          <a:prstGeom prst="roundRect">
            <a:avLst>
              <a:gd name="adj" fmla="val 2740"/>
            </a:avLst>
          </a:prstGeom>
          <a:solidFill>
            <a:srgbClr val="FFFFFF"/>
          </a:solidFill>
          <a:ln w="12700">
            <a:solidFill>
              <a:srgbClr val="D6D9E0"/>
            </a:solidFill>
            <a:prstDash val="solid"/>
          </a:ln>
        </p:spPr>
      </p:sp>
      <p:sp>
        <p:nvSpPr>
          <p:cNvPr id="13" name="Text 11"/>
          <p:cNvSpPr/>
          <p:nvPr/>
        </p:nvSpPr>
        <p:spPr>
          <a:xfrm>
            <a:off x="4672584" y="2395728"/>
            <a:ext cx="2788920" cy="256032"/>
          </a:xfrm>
          <a:prstGeom prst="rect">
            <a:avLst/>
          </a:prstGeom>
          <a:noFill/>
          <a:ln/>
        </p:spPr>
        <p:txBody>
          <a:bodyPr wrap="square" lIns="0" tIns="0" rIns="0" bIns="0" rtlCol="0" anchor="ctr"/>
          <a:lstStyle/>
          <a:p>
            <a:pPr indent="0" marL="0">
              <a:buNone/>
            </a:pPr>
            <a:r>
              <a:rPr lang="en-US" sz="1050" b="1" spc="200" kern="0" dirty="0">
                <a:solidFill>
                  <a:srgbClr val="00C2A8"/>
                </a:solidFill>
                <a:latin typeface="Calibri" pitchFamily="34" charset="0"/>
                <a:ea typeface="Calibri" pitchFamily="34" charset="-122"/>
                <a:cs typeface="Calibri" pitchFamily="34" charset="-120"/>
              </a:rPr>
              <a:t>THE KITCHEN</a:t>
            </a:r>
            <a:endParaRPr lang="en-US" sz="1050" dirty="0"/>
          </a:p>
        </p:txBody>
      </p:sp>
      <p:sp>
        <p:nvSpPr>
          <p:cNvPr id="14" name="Text 12"/>
          <p:cNvSpPr/>
          <p:nvPr/>
        </p:nvSpPr>
        <p:spPr>
          <a:xfrm>
            <a:off x="4672584" y="2697480"/>
            <a:ext cx="2788920" cy="777240"/>
          </a:xfrm>
          <a:prstGeom prst="rect">
            <a:avLst/>
          </a:prstGeom>
          <a:noFill/>
          <a:ln/>
        </p:spPr>
        <p:txBody>
          <a:bodyPr wrap="square" lIns="0" tIns="0" rIns="0" bIns="0" rtlCol="0" anchor="ctr"/>
          <a:lstStyle/>
          <a:p>
            <a:pPr indent="0" marL="0">
              <a:buNone/>
            </a:pPr>
            <a:r>
              <a:rPr lang="en-US" sz="4400" b="1" dirty="0">
                <a:solidFill>
                  <a:srgbClr val="12141C"/>
                </a:solidFill>
                <a:latin typeface="Arial" pitchFamily="34" charset="0"/>
                <a:ea typeface="Arial" pitchFamily="34" charset="-122"/>
                <a:cs typeface="Arial" pitchFamily="34" charset="-120"/>
              </a:rPr>
              <a:t>12</a:t>
            </a:r>
            <a:endParaRPr lang="en-US" sz="4400" dirty="0"/>
          </a:p>
        </p:txBody>
      </p:sp>
      <p:sp>
        <p:nvSpPr>
          <p:cNvPr id="15" name="Text 13"/>
          <p:cNvSpPr/>
          <p:nvPr/>
        </p:nvSpPr>
        <p:spPr>
          <a:xfrm>
            <a:off x="4672584" y="3493008"/>
            <a:ext cx="2788920" cy="256032"/>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café seats</a:t>
            </a:r>
            <a:endParaRPr lang="en-US" sz="1150" dirty="0"/>
          </a:p>
        </p:txBody>
      </p:sp>
      <p:sp>
        <p:nvSpPr>
          <p:cNvPr id="16" name="Text 14"/>
          <p:cNvSpPr/>
          <p:nvPr/>
        </p:nvSpPr>
        <p:spPr>
          <a:xfrm>
            <a:off x="4672584" y="3840480"/>
            <a:ext cx="2788920" cy="1417320"/>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Induction-based kitchen serving grilled sandwiches, momos, noodles, coffee and cold drinks at 60–65% gross margin.</a:t>
            </a:r>
            <a:endParaRPr lang="en-US" sz="1100" dirty="0"/>
          </a:p>
        </p:txBody>
      </p:sp>
      <p:sp>
        <p:nvSpPr>
          <p:cNvPr id="17" name="Shape 15"/>
          <p:cNvSpPr/>
          <p:nvPr/>
        </p:nvSpPr>
        <p:spPr>
          <a:xfrm>
            <a:off x="8065008" y="2148840"/>
            <a:ext cx="3429000" cy="3337560"/>
          </a:xfrm>
          <a:prstGeom prst="roundRect">
            <a:avLst>
              <a:gd name="adj" fmla="val 2740"/>
            </a:avLst>
          </a:prstGeom>
          <a:solidFill>
            <a:srgbClr val="FFFFFF"/>
          </a:solidFill>
          <a:ln/>
        </p:spPr>
      </p:sp>
      <p:sp>
        <p:nvSpPr>
          <p:cNvPr id="18" name="Shape 16"/>
          <p:cNvSpPr/>
          <p:nvPr/>
        </p:nvSpPr>
        <p:spPr>
          <a:xfrm>
            <a:off x="8065008" y="2148840"/>
            <a:ext cx="3429000" cy="3337560"/>
          </a:xfrm>
          <a:prstGeom prst="roundRect">
            <a:avLst>
              <a:gd name="adj" fmla="val 2740"/>
            </a:avLst>
          </a:prstGeom>
          <a:solidFill>
            <a:srgbClr val="FFFFFF"/>
          </a:solidFill>
          <a:ln w="12700">
            <a:solidFill>
              <a:srgbClr val="D6D9E0"/>
            </a:solidFill>
            <a:prstDash val="solid"/>
          </a:ln>
        </p:spPr>
      </p:sp>
      <p:sp>
        <p:nvSpPr>
          <p:cNvPr id="19" name="Text 17"/>
          <p:cNvSpPr/>
          <p:nvPr/>
        </p:nvSpPr>
        <p:spPr>
          <a:xfrm>
            <a:off x="8385048" y="2395728"/>
            <a:ext cx="2788920" cy="256032"/>
          </a:xfrm>
          <a:prstGeom prst="rect">
            <a:avLst/>
          </a:prstGeom>
          <a:noFill/>
          <a:ln/>
        </p:spPr>
        <p:txBody>
          <a:bodyPr wrap="square" lIns="0" tIns="0" rIns="0" bIns="0" rtlCol="0" anchor="ctr"/>
          <a:lstStyle/>
          <a:p>
            <a:pPr indent="0" marL="0">
              <a:buNone/>
            </a:pPr>
            <a:r>
              <a:rPr lang="en-US" sz="1050" b="1" spc="200" kern="0" dirty="0">
                <a:solidFill>
                  <a:srgbClr val="00C2A8"/>
                </a:solidFill>
                <a:latin typeface="Calibri" pitchFamily="34" charset="0"/>
                <a:ea typeface="Calibri" pitchFamily="34" charset="-122"/>
                <a:cs typeface="Calibri" pitchFamily="34" charset="-120"/>
              </a:rPr>
              <a:t>THE COMMUNITY</a:t>
            </a:r>
            <a:endParaRPr lang="en-US" sz="1050" dirty="0"/>
          </a:p>
        </p:txBody>
      </p:sp>
      <p:sp>
        <p:nvSpPr>
          <p:cNvPr id="20" name="Text 18"/>
          <p:cNvSpPr/>
          <p:nvPr/>
        </p:nvSpPr>
        <p:spPr>
          <a:xfrm>
            <a:off x="8385048" y="2697480"/>
            <a:ext cx="2788920" cy="777240"/>
          </a:xfrm>
          <a:prstGeom prst="rect">
            <a:avLst/>
          </a:prstGeom>
          <a:noFill/>
          <a:ln/>
        </p:spPr>
        <p:txBody>
          <a:bodyPr wrap="square" lIns="0" tIns="0" rIns="0" bIns="0" rtlCol="0" anchor="ctr"/>
          <a:lstStyle/>
          <a:p>
            <a:pPr indent="0" marL="0">
              <a:buNone/>
            </a:pPr>
            <a:r>
              <a:rPr lang="en-US" sz="4400" b="1" dirty="0">
                <a:solidFill>
                  <a:srgbClr val="12141C"/>
                </a:solidFill>
                <a:latin typeface="Arial" pitchFamily="34" charset="0"/>
                <a:ea typeface="Arial" pitchFamily="34" charset="-122"/>
                <a:cs typeface="Arial" pitchFamily="34" charset="-120"/>
              </a:rPr>
              <a:t>52</a:t>
            </a:r>
            <a:endParaRPr lang="en-US" sz="4400" dirty="0"/>
          </a:p>
        </p:txBody>
      </p:sp>
      <p:sp>
        <p:nvSpPr>
          <p:cNvPr id="21" name="Text 19"/>
          <p:cNvSpPr/>
          <p:nvPr/>
        </p:nvSpPr>
        <p:spPr>
          <a:xfrm>
            <a:off x="8385048" y="3493008"/>
            <a:ext cx="2788920" cy="256032"/>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tournaments/yr</a:t>
            </a:r>
            <a:endParaRPr lang="en-US" sz="1150" dirty="0"/>
          </a:p>
        </p:txBody>
      </p:sp>
      <p:sp>
        <p:nvSpPr>
          <p:cNvPr id="22" name="Text 20"/>
          <p:cNvSpPr/>
          <p:nvPr/>
        </p:nvSpPr>
        <p:spPr>
          <a:xfrm>
            <a:off x="8385048" y="3840480"/>
            <a:ext cx="2788920" cy="1417320"/>
          </a:xfrm>
          <a:prstGeom prst="rect">
            <a:avLst/>
          </a:prstGeom>
          <a:noFill/>
          <a:ln/>
        </p:spPr>
        <p:txBody>
          <a:bodyPr wrap="square" lIns="0" tIns="0" rIns="0" bIns="0" rtlCol="0" anchor="t"/>
          <a:lstStyle/>
          <a:p>
            <a:pPr indent="0" marL="0">
              <a:lnSpc>
                <a:spcPts val="1500"/>
              </a:lnSpc>
              <a:buNone/>
            </a:pPr>
            <a:r>
              <a:rPr lang="en-US" sz="1100" dirty="0">
                <a:solidFill>
                  <a:srgbClr val="6B7280"/>
                </a:solidFill>
                <a:latin typeface="Calibri" pitchFamily="34" charset="0"/>
                <a:ea typeface="Calibri" pitchFamily="34" charset="-122"/>
                <a:cs typeface="Calibri" pitchFamily="34" charset="-120"/>
              </a:rPr>
              <a:t>A weekly Friday or Saturday tournament, a Discord server and a loyalty wallet turn one-off visitors into weekly regulars.</a:t>
            </a:r>
            <a:endParaRPr lang="en-US" sz="1100" dirty="0"/>
          </a:p>
        </p:txBody>
      </p:sp>
      <p:sp>
        <p:nvSpPr>
          <p:cNvPr id="23" name="Text 21"/>
          <p:cNvSpPr/>
          <p:nvPr/>
        </p:nvSpPr>
        <p:spPr>
          <a:xfrm>
            <a:off x="640080" y="5715000"/>
            <a:ext cx="10911535" cy="320040"/>
          </a:xfrm>
          <a:prstGeom prst="rect">
            <a:avLst/>
          </a:prstGeom>
          <a:noFill/>
          <a:ln/>
        </p:spPr>
        <p:txBody>
          <a:bodyPr wrap="square" lIns="0" tIns="0" rIns="0" bIns="0" rtlCol="0" anchor="ctr"/>
          <a:lstStyle/>
          <a:p>
            <a:pPr indent="0" marL="0">
              <a:buNone/>
            </a:pPr>
            <a:r>
              <a:rPr lang="en-US" sz="1200" b="1" i="1" dirty="0">
                <a:solidFill>
                  <a:srgbClr val="008C79"/>
                </a:solidFill>
                <a:latin typeface="Calibri" pitchFamily="34" charset="0"/>
                <a:ea typeface="Calibri" pitchFamily="34" charset="-122"/>
                <a:cs typeface="Calibri" pitchFamily="34" charset="-120"/>
              </a:rPr>
              <a:t>Three revenue streams:  gaming time ≈ 65%   ·   food &amp; beverage ≈ 25%   ·   events &amp; parties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CAPITAL STRATEGY</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We rent what depreciates. We buy what differentiates.</a:t>
            </a:r>
            <a:endParaRPr lang="en-US" sz="3200" dirty="0"/>
          </a:p>
        </p:txBody>
      </p:sp>
      <p:sp>
        <p:nvSpPr>
          <p:cNvPr id="4" name="Text 2"/>
          <p:cNvSpPr/>
          <p:nvPr/>
        </p:nvSpPr>
        <p:spPr>
          <a:xfrm>
            <a:off x="640080" y="1481328"/>
            <a:ext cx="10515600" cy="475488"/>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The defining decision of this venture: lease the consoles, screens, air-conditioning, seating and refrigeration. Own one console, the physical game library and the fixed improvements.</a:t>
            </a:r>
            <a:endParaRPr lang="en-US" sz="1300" dirty="0"/>
          </a:p>
        </p:txBody>
      </p:sp>
      <p:sp>
        <p:nvSpPr>
          <p:cNvPr id="5" name="Shape 3"/>
          <p:cNvSpPr/>
          <p:nvPr/>
        </p:nvSpPr>
        <p:spPr>
          <a:xfrm>
            <a:off x="640080" y="2148840"/>
            <a:ext cx="5257800" cy="3383280"/>
          </a:xfrm>
          <a:prstGeom prst="roundRect">
            <a:avLst>
              <a:gd name="adj" fmla="val 2703"/>
            </a:avLst>
          </a:prstGeom>
          <a:solidFill>
            <a:srgbClr val="D9F5F0"/>
          </a:solidFill>
          <a:ln/>
        </p:spPr>
      </p:sp>
      <p:sp>
        <p:nvSpPr>
          <p:cNvPr id="6" name="Text 4"/>
          <p:cNvSpPr/>
          <p:nvPr/>
        </p:nvSpPr>
        <p:spPr>
          <a:xfrm>
            <a:off x="987552" y="2395728"/>
            <a:ext cx="4572000" cy="256032"/>
          </a:xfrm>
          <a:prstGeom prst="rect">
            <a:avLst/>
          </a:prstGeom>
          <a:noFill/>
          <a:ln/>
        </p:spPr>
        <p:txBody>
          <a:bodyPr wrap="square" lIns="0" tIns="0" rIns="0" bIns="0" rtlCol="0" anchor="ctr"/>
          <a:lstStyle/>
          <a:p>
            <a:pPr indent="0" marL="0">
              <a:buNone/>
            </a:pPr>
            <a:r>
              <a:rPr lang="en-US" sz="1050" b="1" spc="150" kern="0" dirty="0">
                <a:solidFill>
                  <a:srgbClr val="008C79"/>
                </a:solidFill>
                <a:latin typeface="Calibri" pitchFamily="34" charset="0"/>
                <a:ea typeface="Calibri" pitchFamily="34" charset="-122"/>
                <a:cs typeface="Calibri" pitchFamily="34" charset="-120"/>
              </a:rPr>
              <a:t>WHAT THE RENT-FIRST MODEL BUYS</a:t>
            </a:r>
            <a:endParaRPr lang="en-US" sz="1050" dirty="0"/>
          </a:p>
        </p:txBody>
      </p:sp>
      <p:sp>
        <p:nvSpPr>
          <p:cNvPr id="7" name="Text 5"/>
          <p:cNvSpPr/>
          <p:nvPr/>
        </p:nvSpPr>
        <p:spPr>
          <a:xfrm>
            <a:off x="987552" y="2743200"/>
            <a:ext cx="4572000" cy="256032"/>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Four bays instead of two</a:t>
            </a:r>
            <a:endParaRPr lang="en-US" sz="1300" dirty="0"/>
          </a:p>
        </p:txBody>
      </p:sp>
      <p:sp>
        <p:nvSpPr>
          <p:cNvPr id="8" name="Text 6"/>
          <p:cNvSpPr/>
          <p:nvPr/>
        </p:nvSpPr>
        <p:spPr>
          <a:xfrm>
            <a:off x="987552" y="2999232"/>
            <a:ext cx="4572000" cy="585216"/>
          </a:xfrm>
          <a:prstGeom prst="rect">
            <a:avLst/>
          </a:prstGeom>
          <a:noFill/>
          <a:ln/>
        </p:spPr>
        <p:txBody>
          <a:bodyPr wrap="square" lIns="0" tIns="0" rIns="0" bIns="0" rtlCol="0" anchor="t"/>
          <a:lstStyle/>
          <a:p>
            <a:pPr indent="0" marL="0">
              <a:lnSpc>
                <a:spcPts val="1400"/>
              </a:lnSpc>
              <a:buNone/>
            </a:pPr>
            <a:r>
              <a:rPr lang="en-US" sz="1100" dirty="0">
                <a:solidFill>
                  <a:srgbClr val="4A5160"/>
                </a:solidFill>
                <a:latin typeface="Calibri" pitchFamily="34" charset="0"/>
                <a:ea typeface="Calibri" pitchFamily="34" charset="-122"/>
                <a:cs typeface="Calibri" pitchFamily="34" charset="-120"/>
              </a:rPr>
              <a:t>Converts roughly ₹2 lakh of capital expenditure into about ₹32,000 per month of operating cost.</a:t>
            </a:r>
            <a:endParaRPr lang="en-US" sz="1100" dirty="0"/>
          </a:p>
        </p:txBody>
      </p:sp>
      <p:sp>
        <p:nvSpPr>
          <p:cNvPr id="9" name="Text 7"/>
          <p:cNvSpPr/>
          <p:nvPr/>
        </p:nvSpPr>
        <p:spPr>
          <a:xfrm>
            <a:off x="987552" y="3675888"/>
            <a:ext cx="4572000" cy="256032"/>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A cheap exit</a:t>
            </a:r>
            <a:endParaRPr lang="en-US" sz="1300" dirty="0"/>
          </a:p>
        </p:txBody>
      </p:sp>
      <p:sp>
        <p:nvSpPr>
          <p:cNvPr id="10" name="Text 8"/>
          <p:cNvSpPr/>
          <p:nvPr/>
        </p:nvSpPr>
        <p:spPr>
          <a:xfrm>
            <a:off x="987552" y="3931920"/>
            <a:ext cx="4572000" cy="585216"/>
          </a:xfrm>
          <a:prstGeom prst="rect">
            <a:avLst/>
          </a:prstGeom>
          <a:noFill/>
          <a:ln/>
        </p:spPr>
        <p:txBody>
          <a:bodyPr wrap="square" lIns="0" tIns="0" rIns="0" bIns="0" rtlCol="0" anchor="t"/>
          <a:lstStyle/>
          <a:p>
            <a:pPr indent="0" marL="0">
              <a:lnSpc>
                <a:spcPts val="1400"/>
              </a:lnSpc>
              <a:buNone/>
            </a:pPr>
            <a:r>
              <a:rPr lang="en-US" sz="1100" dirty="0">
                <a:solidFill>
                  <a:srgbClr val="4A5160"/>
                </a:solidFill>
                <a:latin typeface="Calibri" pitchFamily="34" charset="0"/>
                <a:ea typeface="Calibri" pitchFamily="34" charset="-122"/>
                <a:cs typeface="Calibri" pitchFamily="34" charset="-120"/>
              </a:rPr>
              <a:t>If demand does not materialise, rented assets go back and deposits are refunded. Downside is capped, not sunk.</a:t>
            </a:r>
            <a:endParaRPr lang="en-US" sz="1100" dirty="0"/>
          </a:p>
        </p:txBody>
      </p:sp>
      <p:sp>
        <p:nvSpPr>
          <p:cNvPr id="11" name="Text 9"/>
          <p:cNvSpPr/>
          <p:nvPr/>
        </p:nvSpPr>
        <p:spPr>
          <a:xfrm>
            <a:off x="987552" y="4608576"/>
            <a:ext cx="4572000" cy="256032"/>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Vendor-borne maintenance</a:t>
            </a:r>
            <a:endParaRPr lang="en-US" sz="1300" dirty="0"/>
          </a:p>
        </p:txBody>
      </p:sp>
      <p:sp>
        <p:nvSpPr>
          <p:cNvPr id="12" name="Text 10"/>
          <p:cNvSpPr/>
          <p:nvPr/>
        </p:nvSpPr>
        <p:spPr>
          <a:xfrm>
            <a:off x="987552" y="4864608"/>
            <a:ext cx="4572000" cy="585216"/>
          </a:xfrm>
          <a:prstGeom prst="rect">
            <a:avLst/>
          </a:prstGeom>
          <a:noFill/>
          <a:ln/>
        </p:spPr>
        <p:txBody>
          <a:bodyPr wrap="square" lIns="0" tIns="0" rIns="0" bIns="0" rtlCol="0" anchor="t"/>
          <a:lstStyle/>
          <a:p>
            <a:pPr indent="0" marL="0">
              <a:lnSpc>
                <a:spcPts val="1400"/>
              </a:lnSpc>
              <a:buNone/>
            </a:pPr>
            <a:r>
              <a:rPr lang="en-US" sz="1100" dirty="0">
                <a:solidFill>
                  <a:srgbClr val="4A5160"/>
                </a:solidFill>
                <a:latin typeface="Calibri" pitchFamily="34" charset="0"/>
                <a:ea typeface="Calibri" pitchFamily="34" charset="-122"/>
                <a:cs typeface="Calibri" pitchFamily="34" charset="-120"/>
              </a:rPr>
              <a:t>Console failure and controller wear sit with the lessor under a negotiated service level, not with us.</a:t>
            </a:r>
            <a:endParaRPr lang="en-US" sz="1100" dirty="0"/>
          </a:p>
        </p:txBody>
      </p:sp>
      <p:sp>
        <p:nvSpPr>
          <p:cNvPr id="13" name="Shape 11"/>
          <p:cNvSpPr/>
          <p:nvPr/>
        </p:nvSpPr>
        <p:spPr>
          <a:xfrm>
            <a:off x="6291072" y="2148840"/>
            <a:ext cx="5257800" cy="3383280"/>
          </a:xfrm>
          <a:prstGeom prst="roundRect">
            <a:avLst>
              <a:gd name="adj" fmla="val 2703"/>
            </a:avLst>
          </a:prstGeom>
          <a:solidFill>
            <a:srgbClr val="12141C"/>
          </a:solidFill>
          <a:ln/>
        </p:spPr>
      </p:sp>
      <p:sp>
        <p:nvSpPr>
          <p:cNvPr id="14" name="Text 12"/>
          <p:cNvSpPr/>
          <p:nvPr/>
        </p:nvSpPr>
        <p:spPr>
          <a:xfrm>
            <a:off x="6638544" y="2395728"/>
            <a:ext cx="4572000" cy="256032"/>
          </a:xfrm>
          <a:prstGeom prst="rect">
            <a:avLst/>
          </a:prstGeom>
          <a:noFill/>
          <a:ln/>
        </p:spPr>
        <p:txBody>
          <a:bodyPr wrap="square" lIns="0" tIns="0" rIns="0" bIns="0" rtlCol="0" anchor="ctr"/>
          <a:lstStyle/>
          <a:p>
            <a:pPr indent="0" marL="0">
              <a:buNone/>
            </a:pPr>
            <a:r>
              <a:rPr lang="en-US" sz="1050" b="1" spc="150" kern="0" dirty="0">
                <a:solidFill>
                  <a:srgbClr val="FF8A3D"/>
                </a:solidFill>
                <a:latin typeface="Calibri" pitchFamily="34" charset="0"/>
                <a:ea typeface="Calibri" pitchFamily="34" charset="-122"/>
                <a:cs typeface="Calibri" pitchFamily="34" charset="-120"/>
              </a:rPr>
              <a:t>THE BUILT-IN EXPIRY DATE</a:t>
            </a:r>
            <a:endParaRPr lang="en-US" sz="1050" dirty="0"/>
          </a:p>
        </p:txBody>
      </p:sp>
      <p:sp>
        <p:nvSpPr>
          <p:cNvPr id="15" name="Text 13"/>
          <p:cNvSpPr/>
          <p:nvPr/>
        </p:nvSpPr>
        <p:spPr>
          <a:xfrm>
            <a:off x="6638544" y="2697480"/>
            <a:ext cx="4572000" cy="65836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~8 months</a:t>
            </a:r>
            <a:endParaRPr lang="en-US" sz="4000" dirty="0"/>
          </a:p>
        </p:txBody>
      </p:sp>
      <p:sp>
        <p:nvSpPr>
          <p:cNvPr id="16" name="Text 14"/>
          <p:cNvSpPr/>
          <p:nvPr/>
        </p:nvSpPr>
        <p:spPr>
          <a:xfrm>
            <a:off x="6638544" y="3401568"/>
            <a:ext cx="4572000" cy="658368"/>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A PS5 leases at roughly ₹6,500 per month and purchases at ₹54,000. Past the eight-month mark, renting costs more than owning.</a:t>
            </a:r>
            <a:endParaRPr lang="en-US" sz="1150" dirty="0"/>
          </a:p>
        </p:txBody>
      </p:sp>
      <p:sp>
        <p:nvSpPr>
          <p:cNvPr id="17" name="Text 15"/>
          <p:cNvSpPr/>
          <p:nvPr/>
        </p:nvSpPr>
        <p:spPr>
          <a:xfrm>
            <a:off x="6638544" y="4160520"/>
            <a:ext cx="4572000" cy="1143000"/>
          </a:xfrm>
          <a:prstGeom prst="rect">
            <a:avLst/>
          </a:prstGeom>
          <a:noFill/>
          <a:ln/>
        </p:spPr>
        <p:txBody>
          <a:bodyPr wrap="square" lIns="0" tIns="0" rIns="0" bIns="0" rtlCol="0" anchor="ctr"/>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Renting is therefore a six-month demand-validation instrument, not a permanent structure. From Month 6 we convert leased consoles to owned units out of retained profit — which removes about ₹20,000 per month from the cost base and drops it straight to the bottom line.</a:t>
            </a:r>
            <a:endParaRPr lang="en-US" sz="1150" dirty="0"/>
          </a:p>
        </p:txBody>
      </p:sp>
      <p:sp>
        <p:nvSpPr>
          <p:cNvPr id="18" name="Text 16"/>
          <p:cNvSpPr/>
          <p:nvPr/>
        </p:nvSpPr>
        <p:spPr>
          <a:xfrm>
            <a:off x="640080" y="5715000"/>
            <a:ext cx="10911535" cy="320040"/>
          </a:xfrm>
          <a:prstGeom prst="rect">
            <a:avLst/>
          </a:prstGeom>
          <a:noFill/>
          <a:ln/>
        </p:spPr>
        <p:txBody>
          <a:bodyPr wrap="square" lIns="0" tIns="0" rIns="0" bIns="0" rtlCol="0" anchor="ctr"/>
          <a:lstStyle/>
          <a:p>
            <a:pPr indent="0" marL="0">
              <a:buNone/>
            </a:pPr>
            <a:r>
              <a:rPr lang="en-US" sz="1200" b="1" i="1" dirty="0">
                <a:solidFill>
                  <a:srgbClr val="008C79"/>
                </a:solidFill>
                <a:latin typeface="Calibri" pitchFamily="34" charset="0"/>
                <a:ea typeface="Calibri" pitchFamily="34" charset="-122"/>
                <a:cs typeface="Calibri" pitchFamily="34" charset="-120"/>
              </a:rPr>
              <a:t>This is the difference between a hobby project and an investable one: the downside is bounded and the upside is bought, not borrowed.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PREMISES</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1,300 sq ft, already leased at ₹20,000 per month</a:t>
            </a:r>
            <a:endParaRPr lang="en-US" sz="3200" dirty="0"/>
          </a:p>
        </p:txBody>
      </p:sp>
      <p:sp>
        <p:nvSpPr>
          <p:cNvPr id="4" name="Shape 2"/>
          <p:cNvSpPr/>
          <p:nvPr/>
        </p:nvSpPr>
        <p:spPr>
          <a:xfrm>
            <a:off x="640080" y="1554480"/>
            <a:ext cx="5330952" cy="1234440"/>
          </a:xfrm>
          <a:prstGeom prst="roundRect">
            <a:avLst>
              <a:gd name="adj" fmla="val 7407"/>
            </a:avLst>
          </a:prstGeom>
          <a:solidFill>
            <a:srgbClr val="F3F4F7"/>
          </a:solidFill>
          <a:ln/>
        </p:spPr>
      </p:sp>
      <p:sp>
        <p:nvSpPr>
          <p:cNvPr id="5" name="Shape 3"/>
          <p:cNvSpPr/>
          <p:nvPr/>
        </p:nvSpPr>
        <p:spPr>
          <a:xfrm>
            <a:off x="914400" y="1792224"/>
            <a:ext cx="256032" cy="256032"/>
          </a:xfrm>
          <a:prstGeom prst="ellipse">
            <a:avLst/>
          </a:prstGeom>
          <a:solidFill>
            <a:srgbClr val="00C2A8"/>
          </a:solidFill>
          <a:ln/>
        </p:spPr>
      </p:sp>
      <p:sp>
        <p:nvSpPr>
          <p:cNvPr id="6" name="Text 4"/>
          <p:cNvSpPr/>
          <p:nvPr/>
        </p:nvSpPr>
        <p:spPr>
          <a:xfrm>
            <a:off x="1325880" y="1719072"/>
            <a:ext cx="4434840" cy="274320"/>
          </a:xfrm>
          <a:prstGeom prst="rect">
            <a:avLst/>
          </a:prstGeom>
          <a:noFill/>
          <a:ln/>
        </p:spPr>
        <p:txBody>
          <a:bodyPr wrap="square" lIns="0" tIns="0" rIns="0" bIns="0" rtlCol="0" anchor="ctr"/>
          <a:lstStyle/>
          <a:p>
            <a:pPr indent="0" marL="0">
              <a:buNone/>
            </a:pPr>
            <a:r>
              <a:rPr lang="en-US" sz="1350" b="1" dirty="0">
                <a:solidFill>
                  <a:srgbClr val="12141C"/>
                </a:solidFill>
                <a:latin typeface="Arial" pitchFamily="34" charset="0"/>
                <a:ea typeface="Arial" pitchFamily="34" charset="-122"/>
                <a:cs typeface="Arial" pitchFamily="34" charset="-120"/>
              </a:rPr>
              <a:t>Living / dining</a:t>
            </a:r>
            <a:endParaRPr lang="en-US" sz="1350" dirty="0"/>
          </a:p>
        </p:txBody>
      </p:sp>
      <p:sp>
        <p:nvSpPr>
          <p:cNvPr id="7" name="Text 5"/>
          <p:cNvSpPr/>
          <p:nvPr/>
        </p:nvSpPr>
        <p:spPr>
          <a:xfrm>
            <a:off x="1325880" y="2011680"/>
            <a:ext cx="4434840" cy="256032"/>
          </a:xfrm>
          <a:prstGeom prst="rect">
            <a:avLst/>
          </a:prstGeom>
          <a:noFill/>
          <a:ln/>
        </p:spPr>
        <p:txBody>
          <a:bodyPr wrap="square" lIns="0" tIns="0" rIns="0" bIns="0" rtlCol="0" anchor="ctr"/>
          <a:lstStyle/>
          <a:p>
            <a:pPr indent="0" marL="0">
              <a:buNone/>
            </a:pPr>
            <a:r>
              <a:rPr lang="en-US" sz="1150" b="1" dirty="0">
                <a:solidFill>
                  <a:srgbClr val="00C2A8"/>
                </a:solidFill>
                <a:latin typeface="Calibri" pitchFamily="34" charset="0"/>
                <a:ea typeface="Calibri" pitchFamily="34" charset="-122"/>
                <a:cs typeface="Calibri" pitchFamily="34" charset="-120"/>
              </a:rPr>
              <a:t>2 console bays</a:t>
            </a:r>
            <a:endParaRPr lang="en-US" sz="1150" dirty="0"/>
          </a:p>
        </p:txBody>
      </p:sp>
      <p:sp>
        <p:nvSpPr>
          <p:cNvPr id="8" name="Text 6"/>
          <p:cNvSpPr/>
          <p:nvPr/>
        </p:nvSpPr>
        <p:spPr>
          <a:xfrm>
            <a:off x="1325880" y="2286000"/>
            <a:ext cx="4434840" cy="438912"/>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The main floor. Most visible from entry, largest screens, highest-traffic zone.</a:t>
            </a:r>
            <a:endParaRPr lang="en-US" sz="1050" dirty="0"/>
          </a:p>
        </p:txBody>
      </p:sp>
      <p:sp>
        <p:nvSpPr>
          <p:cNvPr id="9" name="Shape 7"/>
          <p:cNvSpPr/>
          <p:nvPr/>
        </p:nvSpPr>
        <p:spPr>
          <a:xfrm>
            <a:off x="6217920" y="1554480"/>
            <a:ext cx="5330952" cy="1234440"/>
          </a:xfrm>
          <a:prstGeom prst="roundRect">
            <a:avLst>
              <a:gd name="adj" fmla="val 7407"/>
            </a:avLst>
          </a:prstGeom>
          <a:solidFill>
            <a:srgbClr val="F3F4F7"/>
          </a:solidFill>
          <a:ln/>
        </p:spPr>
      </p:sp>
      <p:sp>
        <p:nvSpPr>
          <p:cNvPr id="10" name="Shape 8"/>
          <p:cNvSpPr/>
          <p:nvPr/>
        </p:nvSpPr>
        <p:spPr>
          <a:xfrm>
            <a:off x="6492240" y="1792224"/>
            <a:ext cx="256032" cy="256032"/>
          </a:xfrm>
          <a:prstGeom prst="ellipse">
            <a:avLst/>
          </a:prstGeom>
          <a:solidFill>
            <a:srgbClr val="00C2A8"/>
          </a:solidFill>
          <a:ln/>
        </p:spPr>
      </p:sp>
      <p:sp>
        <p:nvSpPr>
          <p:cNvPr id="11" name="Text 9"/>
          <p:cNvSpPr/>
          <p:nvPr/>
        </p:nvSpPr>
        <p:spPr>
          <a:xfrm>
            <a:off x="6903720" y="1719072"/>
            <a:ext cx="4434840" cy="274320"/>
          </a:xfrm>
          <a:prstGeom prst="rect">
            <a:avLst/>
          </a:prstGeom>
          <a:noFill/>
          <a:ln/>
        </p:spPr>
        <p:txBody>
          <a:bodyPr wrap="square" lIns="0" tIns="0" rIns="0" bIns="0" rtlCol="0" anchor="ctr"/>
          <a:lstStyle/>
          <a:p>
            <a:pPr indent="0" marL="0">
              <a:buNone/>
            </a:pPr>
            <a:r>
              <a:rPr lang="en-US" sz="1350" b="1" dirty="0">
                <a:solidFill>
                  <a:srgbClr val="12141C"/>
                </a:solidFill>
                <a:latin typeface="Arial" pitchFamily="34" charset="0"/>
                <a:ea typeface="Arial" pitchFamily="34" charset="-122"/>
                <a:cs typeface="Arial" pitchFamily="34" charset="-120"/>
              </a:rPr>
              <a:t>Bedroom 1</a:t>
            </a:r>
            <a:endParaRPr lang="en-US" sz="1350" dirty="0"/>
          </a:p>
        </p:txBody>
      </p:sp>
      <p:sp>
        <p:nvSpPr>
          <p:cNvPr id="12" name="Text 10"/>
          <p:cNvSpPr/>
          <p:nvPr/>
        </p:nvSpPr>
        <p:spPr>
          <a:xfrm>
            <a:off x="6903720" y="2011680"/>
            <a:ext cx="4434840" cy="256032"/>
          </a:xfrm>
          <a:prstGeom prst="rect">
            <a:avLst/>
          </a:prstGeom>
          <a:noFill/>
          <a:ln/>
        </p:spPr>
        <p:txBody>
          <a:bodyPr wrap="square" lIns="0" tIns="0" rIns="0" bIns="0" rtlCol="0" anchor="ctr"/>
          <a:lstStyle/>
          <a:p>
            <a:pPr indent="0" marL="0">
              <a:buNone/>
            </a:pPr>
            <a:r>
              <a:rPr lang="en-US" sz="1150" b="1" dirty="0">
                <a:solidFill>
                  <a:srgbClr val="00C2A8"/>
                </a:solidFill>
                <a:latin typeface="Calibri" pitchFamily="34" charset="0"/>
                <a:ea typeface="Calibri" pitchFamily="34" charset="-122"/>
                <a:cs typeface="Calibri" pitchFamily="34" charset="-120"/>
              </a:rPr>
              <a:t>2 console bays</a:t>
            </a:r>
            <a:endParaRPr lang="en-US" sz="1150" dirty="0"/>
          </a:p>
        </p:txBody>
      </p:sp>
      <p:sp>
        <p:nvSpPr>
          <p:cNvPr id="13" name="Text 11"/>
          <p:cNvSpPr/>
          <p:nvPr/>
        </p:nvSpPr>
        <p:spPr>
          <a:xfrm>
            <a:off x="6903720" y="2286000"/>
            <a:ext cx="4434840" cy="438912"/>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Second gaming room. Doubles as the tournament space on event nights.</a:t>
            </a:r>
            <a:endParaRPr lang="en-US" sz="1050" dirty="0"/>
          </a:p>
        </p:txBody>
      </p:sp>
      <p:sp>
        <p:nvSpPr>
          <p:cNvPr id="14" name="Shape 12"/>
          <p:cNvSpPr/>
          <p:nvPr/>
        </p:nvSpPr>
        <p:spPr>
          <a:xfrm>
            <a:off x="640080" y="2971800"/>
            <a:ext cx="5330952" cy="1234440"/>
          </a:xfrm>
          <a:prstGeom prst="roundRect">
            <a:avLst>
              <a:gd name="adj" fmla="val 7407"/>
            </a:avLst>
          </a:prstGeom>
          <a:solidFill>
            <a:srgbClr val="F3F4F7"/>
          </a:solidFill>
          <a:ln/>
        </p:spPr>
      </p:sp>
      <p:sp>
        <p:nvSpPr>
          <p:cNvPr id="15" name="Shape 13"/>
          <p:cNvSpPr/>
          <p:nvPr/>
        </p:nvSpPr>
        <p:spPr>
          <a:xfrm>
            <a:off x="914400" y="3209544"/>
            <a:ext cx="256032" cy="256032"/>
          </a:xfrm>
          <a:prstGeom prst="ellipse">
            <a:avLst/>
          </a:prstGeom>
          <a:solidFill>
            <a:srgbClr val="FF8A3D"/>
          </a:solidFill>
          <a:ln/>
        </p:spPr>
      </p:sp>
      <p:sp>
        <p:nvSpPr>
          <p:cNvPr id="16" name="Text 14"/>
          <p:cNvSpPr/>
          <p:nvPr/>
        </p:nvSpPr>
        <p:spPr>
          <a:xfrm>
            <a:off x="1325880" y="3136392"/>
            <a:ext cx="4434840" cy="274320"/>
          </a:xfrm>
          <a:prstGeom prst="rect">
            <a:avLst/>
          </a:prstGeom>
          <a:noFill/>
          <a:ln/>
        </p:spPr>
        <p:txBody>
          <a:bodyPr wrap="square" lIns="0" tIns="0" rIns="0" bIns="0" rtlCol="0" anchor="ctr"/>
          <a:lstStyle/>
          <a:p>
            <a:pPr indent="0" marL="0">
              <a:buNone/>
            </a:pPr>
            <a:r>
              <a:rPr lang="en-US" sz="1350" b="1" dirty="0">
                <a:solidFill>
                  <a:srgbClr val="12141C"/>
                </a:solidFill>
                <a:latin typeface="Arial" pitchFamily="34" charset="0"/>
                <a:ea typeface="Arial" pitchFamily="34" charset="-122"/>
                <a:cs typeface="Arial" pitchFamily="34" charset="-120"/>
              </a:rPr>
              <a:t>Bedroom 2</a:t>
            </a:r>
            <a:endParaRPr lang="en-US" sz="1350" dirty="0"/>
          </a:p>
        </p:txBody>
      </p:sp>
      <p:sp>
        <p:nvSpPr>
          <p:cNvPr id="17" name="Text 15"/>
          <p:cNvSpPr/>
          <p:nvPr/>
        </p:nvSpPr>
        <p:spPr>
          <a:xfrm>
            <a:off x="1325880" y="3429000"/>
            <a:ext cx="4434840" cy="256032"/>
          </a:xfrm>
          <a:prstGeom prst="rect">
            <a:avLst/>
          </a:prstGeom>
          <a:noFill/>
          <a:ln/>
        </p:spPr>
        <p:txBody>
          <a:bodyPr wrap="square" lIns="0" tIns="0" rIns="0" bIns="0" rtlCol="0" anchor="ctr"/>
          <a:lstStyle/>
          <a:p>
            <a:pPr indent="0" marL="0">
              <a:buNone/>
            </a:pPr>
            <a:r>
              <a:rPr lang="en-US" sz="1150" b="1" dirty="0">
                <a:solidFill>
                  <a:srgbClr val="FF8A3D"/>
                </a:solidFill>
                <a:latin typeface="Calibri" pitchFamily="34" charset="0"/>
                <a:ea typeface="Calibri" pitchFamily="34" charset="-122"/>
                <a:cs typeface="Calibri" pitchFamily="34" charset="-120"/>
              </a:rPr>
              <a:t>Café — 12 seats</a:t>
            </a:r>
            <a:endParaRPr lang="en-US" sz="1150" dirty="0"/>
          </a:p>
        </p:txBody>
      </p:sp>
      <p:sp>
        <p:nvSpPr>
          <p:cNvPr id="18" name="Text 16"/>
          <p:cNvSpPr/>
          <p:nvPr/>
        </p:nvSpPr>
        <p:spPr>
          <a:xfrm>
            <a:off x="1325880" y="3703320"/>
            <a:ext cx="4434840" cy="438912"/>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Seating plus the service counter and point-of-sale terminal.</a:t>
            </a:r>
            <a:endParaRPr lang="en-US" sz="1050" dirty="0"/>
          </a:p>
        </p:txBody>
      </p:sp>
      <p:sp>
        <p:nvSpPr>
          <p:cNvPr id="19" name="Shape 17"/>
          <p:cNvSpPr/>
          <p:nvPr/>
        </p:nvSpPr>
        <p:spPr>
          <a:xfrm>
            <a:off x="6217920" y="2971800"/>
            <a:ext cx="5330952" cy="1234440"/>
          </a:xfrm>
          <a:prstGeom prst="roundRect">
            <a:avLst>
              <a:gd name="adj" fmla="val 7407"/>
            </a:avLst>
          </a:prstGeom>
          <a:solidFill>
            <a:srgbClr val="F3F4F7"/>
          </a:solidFill>
          <a:ln/>
        </p:spPr>
      </p:sp>
      <p:sp>
        <p:nvSpPr>
          <p:cNvPr id="20" name="Shape 18"/>
          <p:cNvSpPr/>
          <p:nvPr/>
        </p:nvSpPr>
        <p:spPr>
          <a:xfrm>
            <a:off x="6492240" y="3209544"/>
            <a:ext cx="256032" cy="256032"/>
          </a:xfrm>
          <a:prstGeom prst="ellipse">
            <a:avLst/>
          </a:prstGeom>
          <a:solidFill>
            <a:srgbClr val="6B7280"/>
          </a:solidFill>
          <a:ln/>
        </p:spPr>
      </p:sp>
      <p:sp>
        <p:nvSpPr>
          <p:cNvPr id="21" name="Text 19"/>
          <p:cNvSpPr/>
          <p:nvPr/>
        </p:nvSpPr>
        <p:spPr>
          <a:xfrm>
            <a:off x="6903720" y="3136392"/>
            <a:ext cx="4434840" cy="274320"/>
          </a:xfrm>
          <a:prstGeom prst="rect">
            <a:avLst/>
          </a:prstGeom>
          <a:noFill/>
          <a:ln/>
        </p:spPr>
        <p:txBody>
          <a:bodyPr wrap="square" lIns="0" tIns="0" rIns="0" bIns="0" rtlCol="0" anchor="ctr"/>
          <a:lstStyle/>
          <a:p>
            <a:pPr indent="0" marL="0">
              <a:buNone/>
            </a:pPr>
            <a:r>
              <a:rPr lang="en-US" sz="1350" b="1" dirty="0">
                <a:solidFill>
                  <a:srgbClr val="12141C"/>
                </a:solidFill>
                <a:latin typeface="Arial" pitchFamily="34" charset="0"/>
                <a:ea typeface="Arial" pitchFamily="34" charset="-122"/>
                <a:cs typeface="Arial" pitchFamily="34" charset="-120"/>
              </a:rPr>
              <a:t>Master bedroom</a:t>
            </a:r>
            <a:endParaRPr lang="en-US" sz="1350" dirty="0"/>
          </a:p>
        </p:txBody>
      </p:sp>
      <p:sp>
        <p:nvSpPr>
          <p:cNvPr id="22" name="Text 20"/>
          <p:cNvSpPr/>
          <p:nvPr/>
        </p:nvSpPr>
        <p:spPr>
          <a:xfrm>
            <a:off x="6903720" y="3429000"/>
            <a:ext cx="4434840" cy="256032"/>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Held vacant</a:t>
            </a:r>
            <a:endParaRPr lang="en-US" sz="1150" dirty="0"/>
          </a:p>
        </p:txBody>
      </p:sp>
      <p:sp>
        <p:nvSpPr>
          <p:cNvPr id="23" name="Text 21"/>
          <p:cNvSpPr/>
          <p:nvPr/>
        </p:nvSpPr>
        <p:spPr>
          <a:xfrm>
            <a:off x="6903720" y="3703320"/>
            <a:ext cx="4434840" cy="438912"/>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Deliberately empty in Phase 1. This is expansion capacity for bays five and six once utilisation is proven.</a:t>
            </a:r>
            <a:endParaRPr lang="en-US" sz="1050" dirty="0"/>
          </a:p>
        </p:txBody>
      </p:sp>
      <p:sp>
        <p:nvSpPr>
          <p:cNvPr id="24" name="Shape 22"/>
          <p:cNvSpPr/>
          <p:nvPr/>
        </p:nvSpPr>
        <p:spPr>
          <a:xfrm>
            <a:off x="640080" y="4389120"/>
            <a:ext cx="5330952" cy="1234440"/>
          </a:xfrm>
          <a:prstGeom prst="roundRect">
            <a:avLst>
              <a:gd name="adj" fmla="val 7407"/>
            </a:avLst>
          </a:prstGeom>
          <a:solidFill>
            <a:srgbClr val="F3F4F7"/>
          </a:solidFill>
          <a:ln/>
        </p:spPr>
      </p:sp>
      <p:sp>
        <p:nvSpPr>
          <p:cNvPr id="25" name="Shape 23"/>
          <p:cNvSpPr/>
          <p:nvPr/>
        </p:nvSpPr>
        <p:spPr>
          <a:xfrm>
            <a:off x="914400" y="4626864"/>
            <a:ext cx="256032" cy="256032"/>
          </a:xfrm>
          <a:prstGeom prst="ellipse">
            <a:avLst/>
          </a:prstGeom>
          <a:solidFill>
            <a:srgbClr val="FF8A3D"/>
          </a:solidFill>
          <a:ln/>
        </p:spPr>
      </p:sp>
      <p:sp>
        <p:nvSpPr>
          <p:cNvPr id="26" name="Text 24"/>
          <p:cNvSpPr/>
          <p:nvPr/>
        </p:nvSpPr>
        <p:spPr>
          <a:xfrm>
            <a:off x="1325880" y="4553712"/>
            <a:ext cx="4434840" cy="274320"/>
          </a:xfrm>
          <a:prstGeom prst="rect">
            <a:avLst/>
          </a:prstGeom>
          <a:noFill/>
          <a:ln/>
        </p:spPr>
        <p:txBody>
          <a:bodyPr wrap="square" lIns="0" tIns="0" rIns="0" bIns="0" rtlCol="0" anchor="ctr"/>
          <a:lstStyle/>
          <a:p>
            <a:pPr indent="0" marL="0">
              <a:buNone/>
            </a:pPr>
            <a:r>
              <a:rPr lang="en-US" sz="1350" b="1" dirty="0">
                <a:solidFill>
                  <a:srgbClr val="12141C"/>
                </a:solidFill>
                <a:latin typeface="Arial" pitchFamily="34" charset="0"/>
                <a:ea typeface="Arial" pitchFamily="34" charset="-122"/>
                <a:cs typeface="Arial" pitchFamily="34" charset="-120"/>
              </a:rPr>
              <a:t>Kitchen</a:t>
            </a:r>
            <a:endParaRPr lang="en-US" sz="1350" dirty="0"/>
          </a:p>
        </p:txBody>
      </p:sp>
      <p:sp>
        <p:nvSpPr>
          <p:cNvPr id="27" name="Text 25"/>
          <p:cNvSpPr/>
          <p:nvPr/>
        </p:nvSpPr>
        <p:spPr>
          <a:xfrm>
            <a:off x="1325880" y="4846320"/>
            <a:ext cx="4434840" cy="256032"/>
          </a:xfrm>
          <a:prstGeom prst="rect">
            <a:avLst/>
          </a:prstGeom>
          <a:noFill/>
          <a:ln/>
        </p:spPr>
        <p:txBody>
          <a:bodyPr wrap="square" lIns="0" tIns="0" rIns="0" bIns="0" rtlCol="0" anchor="ctr"/>
          <a:lstStyle/>
          <a:p>
            <a:pPr indent="0" marL="0">
              <a:buNone/>
            </a:pPr>
            <a:r>
              <a:rPr lang="en-US" sz="1150" b="1" dirty="0">
                <a:solidFill>
                  <a:srgbClr val="FF8A3D"/>
                </a:solidFill>
                <a:latin typeface="Calibri" pitchFamily="34" charset="0"/>
                <a:ea typeface="Calibri" pitchFamily="34" charset="-122"/>
                <a:cs typeface="Calibri" pitchFamily="34" charset="-120"/>
              </a:rPr>
              <a:t>Food preparation</a:t>
            </a:r>
            <a:endParaRPr lang="en-US" sz="1150" dirty="0"/>
          </a:p>
        </p:txBody>
      </p:sp>
      <p:sp>
        <p:nvSpPr>
          <p:cNvPr id="28" name="Text 26"/>
          <p:cNvSpPr/>
          <p:nvPr/>
        </p:nvSpPr>
        <p:spPr>
          <a:xfrm>
            <a:off x="1325880" y="5120640"/>
            <a:ext cx="4434840" cy="438912"/>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Induction and electric only — domestic LPG cannot lawfully be used for commercial cooking.</a:t>
            </a:r>
            <a:endParaRPr lang="en-US" sz="1050" dirty="0"/>
          </a:p>
        </p:txBody>
      </p:sp>
      <p:sp>
        <p:nvSpPr>
          <p:cNvPr id="29" name="Shape 27"/>
          <p:cNvSpPr/>
          <p:nvPr/>
        </p:nvSpPr>
        <p:spPr>
          <a:xfrm>
            <a:off x="6217920" y="4389120"/>
            <a:ext cx="5330952" cy="1234440"/>
          </a:xfrm>
          <a:prstGeom prst="roundRect">
            <a:avLst>
              <a:gd name="adj" fmla="val 7407"/>
            </a:avLst>
          </a:prstGeom>
          <a:solidFill>
            <a:srgbClr val="F3F4F7"/>
          </a:solidFill>
          <a:ln/>
        </p:spPr>
      </p:sp>
      <p:sp>
        <p:nvSpPr>
          <p:cNvPr id="30" name="Shape 28"/>
          <p:cNvSpPr/>
          <p:nvPr/>
        </p:nvSpPr>
        <p:spPr>
          <a:xfrm>
            <a:off x="6492240" y="4626864"/>
            <a:ext cx="256032" cy="256032"/>
          </a:xfrm>
          <a:prstGeom prst="ellipse">
            <a:avLst/>
          </a:prstGeom>
          <a:solidFill>
            <a:srgbClr val="6B7280"/>
          </a:solidFill>
          <a:ln/>
        </p:spPr>
      </p:sp>
      <p:sp>
        <p:nvSpPr>
          <p:cNvPr id="31" name="Text 29"/>
          <p:cNvSpPr/>
          <p:nvPr/>
        </p:nvSpPr>
        <p:spPr>
          <a:xfrm>
            <a:off x="6903720" y="4553712"/>
            <a:ext cx="4434840" cy="274320"/>
          </a:xfrm>
          <a:prstGeom prst="rect">
            <a:avLst/>
          </a:prstGeom>
          <a:noFill/>
          <a:ln/>
        </p:spPr>
        <p:txBody>
          <a:bodyPr wrap="square" lIns="0" tIns="0" rIns="0" bIns="0" rtlCol="0" anchor="ctr"/>
          <a:lstStyle/>
          <a:p>
            <a:pPr indent="0" marL="0">
              <a:buNone/>
            </a:pPr>
            <a:r>
              <a:rPr lang="en-US" sz="1350" b="1" dirty="0">
                <a:solidFill>
                  <a:srgbClr val="12141C"/>
                </a:solidFill>
                <a:latin typeface="Arial" pitchFamily="34" charset="0"/>
                <a:ea typeface="Arial" pitchFamily="34" charset="-122"/>
                <a:cs typeface="Arial" pitchFamily="34" charset="-120"/>
              </a:rPr>
              <a:t>Entry passage</a:t>
            </a:r>
            <a:endParaRPr lang="en-US" sz="1350" dirty="0"/>
          </a:p>
        </p:txBody>
      </p:sp>
      <p:sp>
        <p:nvSpPr>
          <p:cNvPr id="32" name="Text 30"/>
          <p:cNvSpPr/>
          <p:nvPr/>
        </p:nvSpPr>
        <p:spPr>
          <a:xfrm>
            <a:off x="6903720" y="4846320"/>
            <a:ext cx="4434840" cy="256032"/>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Billing counter</a:t>
            </a:r>
            <a:endParaRPr lang="en-US" sz="1150" dirty="0"/>
          </a:p>
        </p:txBody>
      </p:sp>
      <p:sp>
        <p:nvSpPr>
          <p:cNvPr id="33" name="Text 31"/>
          <p:cNvSpPr/>
          <p:nvPr/>
        </p:nvSpPr>
        <p:spPr>
          <a:xfrm>
            <a:off x="6903720" y="5120640"/>
            <a:ext cx="4434840" cy="438912"/>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Rate card mounted at eye level before customers reach a bay.</a:t>
            </a:r>
            <a:endParaRPr lang="en-US" sz="1050" dirty="0"/>
          </a:p>
        </p:txBody>
      </p:sp>
      <p:sp>
        <p:nvSpPr>
          <p:cNvPr id="34" name="Text 32"/>
          <p:cNvSpPr/>
          <p:nvPr/>
        </p:nvSpPr>
        <p:spPr>
          <a:xfrm>
            <a:off x="640080" y="5897880"/>
            <a:ext cx="10911535" cy="320040"/>
          </a:xfrm>
          <a:prstGeom prst="rect">
            <a:avLst/>
          </a:prstGeom>
          <a:noFill/>
          <a:ln/>
        </p:spPr>
        <p:txBody>
          <a:bodyPr wrap="square" lIns="0" tIns="0" rIns="0" bIns="0" rtlCol="0" anchor="ctr"/>
          <a:lstStyle/>
          <a:p>
            <a:pPr indent="0" marL="0">
              <a:buNone/>
            </a:pPr>
            <a:r>
              <a:rPr lang="en-US" sz="1150" i="1" dirty="0">
                <a:solidFill>
                  <a:srgbClr val="008C79"/>
                </a:solidFill>
                <a:latin typeface="Calibri" pitchFamily="34" charset="0"/>
                <a:ea typeface="Calibri" pitchFamily="34" charset="-122"/>
                <a:cs typeface="Calibri" pitchFamily="34" charset="-120"/>
              </a:rPr>
              <a:t>Holding the master bedroom vacant is intentional. Building capacity before weekday utilisation is known is the most common way small venues over-invest.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TARGET CUSTOMER</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Who walks in, and when</a:t>
            </a:r>
            <a:endParaRPr lang="en-US" sz="3200" dirty="0"/>
          </a:p>
        </p:txBody>
      </p:sp>
      <p:sp>
        <p:nvSpPr>
          <p:cNvPr id="4" name="Text 2"/>
          <p:cNvSpPr/>
          <p:nvPr/>
        </p:nvSpPr>
        <p:spPr>
          <a:xfrm>
            <a:off x="640080" y="1481328"/>
            <a:ext cx="5029200" cy="256032"/>
          </a:xfrm>
          <a:prstGeom prst="rect">
            <a:avLst/>
          </a:prstGeom>
          <a:noFill/>
          <a:ln/>
        </p:spPr>
        <p:txBody>
          <a:bodyPr wrap="square" lIns="0" tIns="0" rIns="0" bIns="0" rtlCol="0" anchor="ctr"/>
          <a:lstStyle/>
          <a:p>
            <a:pPr indent="0" marL="0">
              <a:buNone/>
            </a:pPr>
            <a:r>
              <a:rPr lang="en-US" sz="1050" b="1" spc="150" kern="0" dirty="0">
                <a:solidFill>
                  <a:srgbClr val="00C2A8"/>
                </a:solidFill>
                <a:latin typeface="Calibri" pitchFamily="34" charset="0"/>
                <a:ea typeface="Calibri" pitchFamily="34" charset="-122"/>
                <a:cs typeface="Calibri" pitchFamily="34" charset="-120"/>
              </a:rPr>
              <a:t>PRIMARY SEGMENTS</a:t>
            </a:r>
            <a:endParaRPr lang="en-US" sz="1050" dirty="0"/>
          </a:p>
        </p:txBody>
      </p:sp>
      <p:sp>
        <p:nvSpPr>
          <p:cNvPr id="5" name="Text 3"/>
          <p:cNvSpPr/>
          <p:nvPr/>
        </p:nvSpPr>
        <p:spPr>
          <a:xfrm>
            <a:off x="640080" y="1828800"/>
            <a:ext cx="5029200" cy="292608"/>
          </a:xfrm>
          <a:prstGeom prst="rect">
            <a:avLst/>
          </a:prstGeom>
          <a:noFill/>
          <a:ln/>
        </p:spPr>
        <p:txBody>
          <a:bodyPr wrap="square" lIns="0" tIns="0" rIns="0" bIns="0" rtlCol="0" anchor="ctr"/>
          <a:lstStyle/>
          <a:p>
            <a:pPr indent="0" marL="0">
              <a:buNone/>
            </a:pPr>
            <a:r>
              <a:rPr lang="en-US" sz="1450" b="1" dirty="0">
                <a:solidFill>
                  <a:srgbClr val="12141C"/>
                </a:solidFill>
                <a:latin typeface="Arial" pitchFamily="34" charset="0"/>
                <a:ea typeface="Arial" pitchFamily="34" charset="-122"/>
                <a:cs typeface="Arial" pitchFamily="34" charset="-120"/>
              </a:rPr>
              <a:t>College students, 17–22</a:t>
            </a:r>
            <a:endParaRPr lang="en-US" sz="1450" dirty="0"/>
          </a:p>
        </p:txBody>
      </p:sp>
      <p:sp>
        <p:nvSpPr>
          <p:cNvPr id="6" name="Text 4"/>
          <p:cNvSpPr/>
          <p:nvPr/>
        </p:nvSpPr>
        <p:spPr>
          <a:xfrm>
            <a:off x="640080" y="2139696"/>
            <a:ext cx="5029200" cy="768096"/>
          </a:xfrm>
          <a:prstGeom prst="rect">
            <a:avLst/>
          </a:prstGeom>
          <a:noFill/>
          <a:ln/>
        </p:spPr>
        <p:txBody>
          <a:bodyPr wrap="square" lIns="0" tIns="0" rIns="0" bIns="0" rtlCol="0" anchor="t"/>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Weekday afternoons and evenings. Price-sensitive — served by the student rate and the off-peak monthly pass.</a:t>
            </a:r>
            <a:endParaRPr lang="en-US" sz="1150" dirty="0"/>
          </a:p>
        </p:txBody>
      </p:sp>
      <p:sp>
        <p:nvSpPr>
          <p:cNvPr id="7" name="Shape 5"/>
          <p:cNvSpPr/>
          <p:nvPr/>
        </p:nvSpPr>
        <p:spPr>
          <a:xfrm>
            <a:off x="640080" y="2962656"/>
            <a:ext cx="5029200" cy="0"/>
          </a:xfrm>
          <a:prstGeom prst="line">
            <a:avLst/>
          </a:prstGeom>
          <a:noFill/>
          <a:ln w="12700">
            <a:solidFill>
              <a:srgbClr val="D6D9E0"/>
            </a:solidFill>
            <a:prstDash val="solid"/>
          </a:ln>
        </p:spPr>
      </p:sp>
      <p:sp>
        <p:nvSpPr>
          <p:cNvPr id="8" name="Text 6"/>
          <p:cNvSpPr/>
          <p:nvPr/>
        </p:nvSpPr>
        <p:spPr>
          <a:xfrm>
            <a:off x="640080" y="3127248"/>
            <a:ext cx="5029200" cy="292608"/>
          </a:xfrm>
          <a:prstGeom prst="rect">
            <a:avLst/>
          </a:prstGeom>
          <a:noFill/>
          <a:ln/>
        </p:spPr>
        <p:txBody>
          <a:bodyPr wrap="square" lIns="0" tIns="0" rIns="0" bIns="0" rtlCol="0" anchor="ctr"/>
          <a:lstStyle/>
          <a:p>
            <a:pPr indent="0" marL="0">
              <a:buNone/>
            </a:pPr>
            <a:r>
              <a:rPr lang="en-US" sz="1450" b="1" dirty="0">
                <a:solidFill>
                  <a:srgbClr val="12141C"/>
                </a:solidFill>
                <a:latin typeface="Arial" pitchFamily="34" charset="0"/>
                <a:ea typeface="Arial" pitchFamily="34" charset="-122"/>
                <a:cs typeface="Arial" pitchFamily="34" charset="-120"/>
              </a:rPr>
              <a:t>Young professionals, 23–30</a:t>
            </a:r>
            <a:endParaRPr lang="en-US" sz="1450" dirty="0"/>
          </a:p>
        </p:txBody>
      </p:sp>
      <p:sp>
        <p:nvSpPr>
          <p:cNvPr id="9" name="Text 7"/>
          <p:cNvSpPr/>
          <p:nvPr/>
        </p:nvSpPr>
        <p:spPr>
          <a:xfrm>
            <a:off x="640080" y="3438144"/>
            <a:ext cx="5029200" cy="768096"/>
          </a:xfrm>
          <a:prstGeom prst="rect">
            <a:avLst/>
          </a:prstGeom>
          <a:noFill/>
          <a:ln/>
        </p:spPr>
        <p:txBody>
          <a:bodyPr wrap="square" lIns="0" tIns="0" rIns="0" bIns="0" rtlCol="0" anchor="t"/>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Weekday evenings and weekends. Least price-sensitive segment; highest food spend per visit.</a:t>
            </a:r>
            <a:endParaRPr lang="en-US" sz="1150" dirty="0"/>
          </a:p>
        </p:txBody>
      </p:sp>
      <p:sp>
        <p:nvSpPr>
          <p:cNvPr id="10" name="Shape 8"/>
          <p:cNvSpPr/>
          <p:nvPr/>
        </p:nvSpPr>
        <p:spPr>
          <a:xfrm>
            <a:off x="640080" y="4261104"/>
            <a:ext cx="5029200" cy="0"/>
          </a:xfrm>
          <a:prstGeom prst="line">
            <a:avLst/>
          </a:prstGeom>
          <a:noFill/>
          <a:ln w="12700">
            <a:solidFill>
              <a:srgbClr val="D6D9E0"/>
            </a:solidFill>
            <a:prstDash val="solid"/>
          </a:ln>
        </p:spPr>
      </p:sp>
      <p:sp>
        <p:nvSpPr>
          <p:cNvPr id="11" name="Text 9"/>
          <p:cNvSpPr/>
          <p:nvPr/>
        </p:nvSpPr>
        <p:spPr>
          <a:xfrm>
            <a:off x="640080" y="4425696"/>
            <a:ext cx="5029200" cy="292608"/>
          </a:xfrm>
          <a:prstGeom prst="rect">
            <a:avLst/>
          </a:prstGeom>
          <a:noFill/>
          <a:ln/>
        </p:spPr>
        <p:txBody>
          <a:bodyPr wrap="square" lIns="0" tIns="0" rIns="0" bIns="0" rtlCol="0" anchor="ctr"/>
          <a:lstStyle/>
          <a:p>
            <a:pPr indent="0" marL="0">
              <a:buNone/>
            </a:pPr>
            <a:r>
              <a:rPr lang="en-US" sz="1450" b="1" dirty="0">
                <a:solidFill>
                  <a:srgbClr val="12141C"/>
                </a:solidFill>
                <a:latin typeface="Arial" pitchFamily="34" charset="0"/>
                <a:ea typeface="Arial" pitchFamily="34" charset="-122"/>
                <a:cs typeface="Arial" pitchFamily="34" charset="-120"/>
              </a:rPr>
              <a:t>Groups &amp; celebrations</a:t>
            </a:r>
            <a:endParaRPr lang="en-US" sz="1450" dirty="0"/>
          </a:p>
        </p:txBody>
      </p:sp>
      <p:sp>
        <p:nvSpPr>
          <p:cNvPr id="12" name="Text 10"/>
          <p:cNvSpPr/>
          <p:nvPr/>
        </p:nvSpPr>
        <p:spPr>
          <a:xfrm>
            <a:off x="640080" y="4736592"/>
            <a:ext cx="5029200" cy="768096"/>
          </a:xfrm>
          <a:prstGeom prst="rect">
            <a:avLst/>
          </a:prstGeom>
          <a:noFill/>
          <a:ln/>
        </p:spPr>
        <p:txBody>
          <a:bodyPr wrap="square" lIns="0" tIns="0" rIns="0" bIns="0" rtlCol="0" anchor="t"/>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Weekend bookings, birthdays and office outings. Highest-margin business and brings non-gamers who buy food.</a:t>
            </a:r>
            <a:endParaRPr lang="en-US" sz="1150" dirty="0"/>
          </a:p>
        </p:txBody>
      </p:sp>
      <p:sp>
        <p:nvSpPr>
          <p:cNvPr id="13" name="Shape 11"/>
          <p:cNvSpPr/>
          <p:nvPr/>
        </p:nvSpPr>
        <p:spPr>
          <a:xfrm>
            <a:off x="6309360" y="1481328"/>
            <a:ext cx="5239512" cy="4160520"/>
          </a:xfrm>
          <a:prstGeom prst="roundRect">
            <a:avLst>
              <a:gd name="adj" fmla="val 2198"/>
            </a:avLst>
          </a:prstGeom>
          <a:solidFill>
            <a:srgbClr val="F3F4F7"/>
          </a:solidFill>
          <a:ln/>
        </p:spPr>
      </p:sp>
      <p:sp>
        <p:nvSpPr>
          <p:cNvPr id="14" name="Text 12"/>
          <p:cNvSpPr/>
          <p:nvPr/>
        </p:nvSpPr>
        <p:spPr>
          <a:xfrm>
            <a:off x="6656832" y="1737360"/>
            <a:ext cx="4572000" cy="256032"/>
          </a:xfrm>
          <a:prstGeom prst="rect">
            <a:avLst/>
          </a:prstGeom>
          <a:noFill/>
          <a:ln/>
        </p:spPr>
        <p:txBody>
          <a:bodyPr wrap="square" lIns="0" tIns="0" rIns="0" bIns="0" rtlCol="0" anchor="ctr"/>
          <a:lstStyle/>
          <a:p>
            <a:pPr indent="0" marL="0">
              <a:buNone/>
            </a:pPr>
            <a:r>
              <a:rPr lang="en-US" sz="1050" b="1" spc="150" kern="0" dirty="0">
                <a:solidFill>
                  <a:srgbClr val="008C79"/>
                </a:solidFill>
                <a:latin typeface="Calibri" pitchFamily="34" charset="0"/>
                <a:ea typeface="Calibri" pitchFamily="34" charset="-122"/>
                <a:cs typeface="Calibri" pitchFamily="34" charset="-120"/>
              </a:rPr>
              <a:t>THE DEMAND PATTERN WE PRICE AGAINST</a:t>
            </a:r>
            <a:endParaRPr lang="en-US" sz="1050" dirty="0"/>
          </a:p>
        </p:txBody>
      </p:sp>
      <p:sp>
        <p:nvSpPr>
          <p:cNvPr id="15" name="Shape 13"/>
          <p:cNvSpPr/>
          <p:nvPr/>
        </p:nvSpPr>
        <p:spPr>
          <a:xfrm>
            <a:off x="6656832" y="2194560"/>
            <a:ext cx="4544568" cy="777240"/>
          </a:xfrm>
          <a:prstGeom prst="roundRect">
            <a:avLst>
              <a:gd name="adj" fmla="val 11765"/>
            </a:avLst>
          </a:prstGeom>
          <a:solidFill>
            <a:srgbClr val="FFFFFF"/>
          </a:solidFill>
          <a:ln/>
        </p:spPr>
      </p:sp>
      <p:sp>
        <p:nvSpPr>
          <p:cNvPr id="16" name="Text 14"/>
          <p:cNvSpPr/>
          <p:nvPr/>
        </p:nvSpPr>
        <p:spPr>
          <a:xfrm>
            <a:off x="6903720" y="2286000"/>
            <a:ext cx="2286000" cy="274320"/>
          </a:xfrm>
          <a:prstGeom prst="rect">
            <a:avLst/>
          </a:prstGeom>
          <a:noFill/>
          <a:ln/>
        </p:spPr>
        <p:txBody>
          <a:bodyPr wrap="square" lIns="0" tIns="0" rIns="0" bIns="0" rtlCol="0" anchor="ctr"/>
          <a:lstStyle/>
          <a:p>
            <a:pPr indent="0" marL="0">
              <a:buNone/>
            </a:pPr>
            <a:r>
              <a:rPr lang="en-US" sz="1200" b="1" dirty="0">
                <a:solidFill>
                  <a:srgbClr val="12141C"/>
                </a:solidFill>
                <a:latin typeface="Arial" pitchFamily="34" charset="0"/>
                <a:ea typeface="Arial" pitchFamily="34" charset="-122"/>
                <a:cs typeface="Arial" pitchFamily="34" charset="-120"/>
              </a:rPr>
              <a:t>Weekday 11am – 4pm</a:t>
            </a:r>
            <a:endParaRPr lang="en-US" sz="1200" dirty="0"/>
          </a:p>
        </p:txBody>
      </p:sp>
      <p:sp>
        <p:nvSpPr>
          <p:cNvPr id="17" name="Text 15"/>
          <p:cNvSpPr/>
          <p:nvPr/>
        </p:nvSpPr>
        <p:spPr>
          <a:xfrm>
            <a:off x="6903720" y="2578608"/>
            <a:ext cx="228600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Dead hours</a:t>
            </a:r>
            <a:endParaRPr lang="en-US" sz="1050" dirty="0"/>
          </a:p>
        </p:txBody>
      </p:sp>
      <p:sp>
        <p:nvSpPr>
          <p:cNvPr id="18" name="Text 16"/>
          <p:cNvSpPr/>
          <p:nvPr/>
        </p:nvSpPr>
        <p:spPr>
          <a:xfrm>
            <a:off x="9326880" y="2395728"/>
            <a:ext cx="1691640" cy="384048"/>
          </a:xfrm>
          <a:prstGeom prst="rect">
            <a:avLst/>
          </a:prstGeom>
          <a:noFill/>
          <a:ln/>
        </p:spPr>
        <p:txBody>
          <a:bodyPr wrap="square" lIns="0" tIns="0" rIns="0" bIns="0" rtlCol="0" anchor="ctr"/>
          <a:lstStyle/>
          <a:p>
            <a:pPr algn="r" indent="0" marL="0">
              <a:buNone/>
            </a:pPr>
            <a:r>
              <a:rPr lang="en-US" sz="1700" b="1" dirty="0">
                <a:solidFill>
                  <a:srgbClr val="D64550"/>
                </a:solidFill>
                <a:latin typeface="Arial" pitchFamily="34" charset="0"/>
                <a:ea typeface="Arial" pitchFamily="34" charset="-122"/>
                <a:cs typeface="Arial" pitchFamily="34" charset="-120"/>
              </a:rPr>
              <a:t>₹120/hr</a:t>
            </a:r>
            <a:endParaRPr lang="en-US" sz="1700" dirty="0"/>
          </a:p>
        </p:txBody>
      </p:sp>
      <p:sp>
        <p:nvSpPr>
          <p:cNvPr id="19" name="Shape 17"/>
          <p:cNvSpPr/>
          <p:nvPr/>
        </p:nvSpPr>
        <p:spPr>
          <a:xfrm>
            <a:off x="6656832" y="3127248"/>
            <a:ext cx="4544568" cy="777240"/>
          </a:xfrm>
          <a:prstGeom prst="roundRect">
            <a:avLst>
              <a:gd name="adj" fmla="val 11765"/>
            </a:avLst>
          </a:prstGeom>
          <a:solidFill>
            <a:srgbClr val="FFFFFF"/>
          </a:solidFill>
          <a:ln/>
        </p:spPr>
      </p:sp>
      <p:sp>
        <p:nvSpPr>
          <p:cNvPr id="20" name="Text 18"/>
          <p:cNvSpPr/>
          <p:nvPr/>
        </p:nvSpPr>
        <p:spPr>
          <a:xfrm>
            <a:off x="6903720" y="3218688"/>
            <a:ext cx="2286000" cy="274320"/>
          </a:xfrm>
          <a:prstGeom prst="rect">
            <a:avLst/>
          </a:prstGeom>
          <a:noFill/>
          <a:ln/>
        </p:spPr>
        <p:txBody>
          <a:bodyPr wrap="square" lIns="0" tIns="0" rIns="0" bIns="0" rtlCol="0" anchor="ctr"/>
          <a:lstStyle/>
          <a:p>
            <a:pPr indent="0" marL="0">
              <a:buNone/>
            </a:pPr>
            <a:r>
              <a:rPr lang="en-US" sz="1200" b="1" dirty="0">
                <a:solidFill>
                  <a:srgbClr val="12141C"/>
                </a:solidFill>
                <a:latin typeface="Arial" pitchFamily="34" charset="0"/>
                <a:ea typeface="Arial" pitchFamily="34" charset="-122"/>
                <a:cs typeface="Arial" pitchFamily="34" charset="-120"/>
              </a:rPr>
              <a:t>Weekday 4pm – 11pm</a:t>
            </a:r>
            <a:endParaRPr lang="en-US" sz="1200" dirty="0"/>
          </a:p>
        </p:txBody>
      </p:sp>
      <p:sp>
        <p:nvSpPr>
          <p:cNvPr id="21" name="Text 19"/>
          <p:cNvSpPr/>
          <p:nvPr/>
        </p:nvSpPr>
        <p:spPr>
          <a:xfrm>
            <a:off x="6903720" y="3511296"/>
            <a:ext cx="228600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Steady</a:t>
            </a:r>
            <a:endParaRPr lang="en-US" sz="1050" dirty="0"/>
          </a:p>
        </p:txBody>
      </p:sp>
      <p:sp>
        <p:nvSpPr>
          <p:cNvPr id="22" name="Text 20"/>
          <p:cNvSpPr/>
          <p:nvPr/>
        </p:nvSpPr>
        <p:spPr>
          <a:xfrm>
            <a:off x="9326880" y="3328416"/>
            <a:ext cx="1691640" cy="384048"/>
          </a:xfrm>
          <a:prstGeom prst="rect">
            <a:avLst/>
          </a:prstGeom>
          <a:noFill/>
          <a:ln/>
        </p:spPr>
        <p:txBody>
          <a:bodyPr wrap="square" lIns="0" tIns="0" rIns="0" bIns="0" rtlCol="0" anchor="ctr"/>
          <a:lstStyle/>
          <a:p>
            <a:pPr algn="r" indent="0" marL="0">
              <a:buNone/>
            </a:pPr>
            <a:r>
              <a:rPr lang="en-US" sz="1700" b="1" dirty="0">
                <a:solidFill>
                  <a:srgbClr val="FF8A3D"/>
                </a:solidFill>
                <a:latin typeface="Arial" pitchFamily="34" charset="0"/>
                <a:ea typeface="Arial" pitchFamily="34" charset="-122"/>
                <a:cs typeface="Arial" pitchFamily="34" charset="-120"/>
              </a:rPr>
              <a:t>₹160/hr</a:t>
            </a:r>
            <a:endParaRPr lang="en-US" sz="1700" dirty="0"/>
          </a:p>
        </p:txBody>
      </p:sp>
      <p:sp>
        <p:nvSpPr>
          <p:cNvPr id="23" name="Shape 21"/>
          <p:cNvSpPr/>
          <p:nvPr/>
        </p:nvSpPr>
        <p:spPr>
          <a:xfrm>
            <a:off x="6656832" y="4059936"/>
            <a:ext cx="4544568" cy="777240"/>
          </a:xfrm>
          <a:prstGeom prst="roundRect">
            <a:avLst>
              <a:gd name="adj" fmla="val 11765"/>
            </a:avLst>
          </a:prstGeom>
          <a:solidFill>
            <a:srgbClr val="FFFFFF"/>
          </a:solidFill>
          <a:ln/>
        </p:spPr>
      </p:sp>
      <p:sp>
        <p:nvSpPr>
          <p:cNvPr id="24" name="Text 22"/>
          <p:cNvSpPr/>
          <p:nvPr/>
        </p:nvSpPr>
        <p:spPr>
          <a:xfrm>
            <a:off x="6903720" y="4151376"/>
            <a:ext cx="2286000" cy="274320"/>
          </a:xfrm>
          <a:prstGeom prst="rect">
            <a:avLst/>
          </a:prstGeom>
          <a:noFill/>
          <a:ln/>
        </p:spPr>
        <p:txBody>
          <a:bodyPr wrap="square" lIns="0" tIns="0" rIns="0" bIns="0" rtlCol="0" anchor="ctr"/>
          <a:lstStyle/>
          <a:p>
            <a:pPr indent="0" marL="0">
              <a:buNone/>
            </a:pPr>
            <a:r>
              <a:rPr lang="en-US" sz="1200" b="1" dirty="0">
                <a:solidFill>
                  <a:srgbClr val="12141C"/>
                </a:solidFill>
                <a:latin typeface="Arial" pitchFamily="34" charset="0"/>
                <a:ea typeface="Arial" pitchFamily="34" charset="-122"/>
                <a:cs typeface="Arial" pitchFamily="34" charset="-120"/>
              </a:rPr>
              <a:t>Weekend &amp; holidays</a:t>
            </a:r>
            <a:endParaRPr lang="en-US" sz="1200" dirty="0"/>
          </a:p>
        </p:txBody>
      </p:sp>
      <p:sp>
        <p:nvSpPr>
          <p:cNvPr id="25" name="Text 23"/>
          <p:cNvSpPr/>
          <p:nvPr/>
        </p:nvSpPr>
        <p:spPr>
          <a:xfrm>
            <a:off x="6903720" y="4443984"/>
            <a:ext cx="2286000" cy="256032"/>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Full at peak</a:t>
            </a:r>
            <a:endParaRPr lang="en-US" sz="1050" dirty="0"/>
          </a:p>
        </p:txBody>
      </p:sp>
      <p:sp>
        <p:nvSpPr>
          <p:cNvPr id="26" name="Text 24"/>
          <p:cNvSpPr/>
          <p:nvPr/>
        </p:nvSpPr>
        <p:spPr>
          <a:xfrm>
            <a:off x="9326880" y="4261104"/>
            <a:ext cx="1691640" cy="384048"/>
          </a:xfrm>
          <a:prstGeom prst="rect">
            <a:avLst/>
          </a:prstGeom>
          <a:noFill/>
          <a:ln/>
        </p:spPr>
        <p:txBody>
          <a:bodyPr wrap="square" lIns="0" tIns="0" rIns="0" bIns="0" rtlCol="0" anchor="ctr"/>
          <a:lstStyle/>
          <a:p>
            <a:pPr algn="r" indent="0" marL="0">
              <a:buNone/>
            </a:pPr>
            <a:r>
              <a:rPr lang="en-US" sz="1700" b="1" dirty="0">
                <a:solidFill>
                  <a:srgbClr val="008C79"/>
                </a:solidFill>
                <a:latin typeface="Arial" pitchFamily="34" charset="0"/>
                <a:ea typeface="Arial" pitchFamily="34" charset="-122"/>
                <a:cs typeface="Arial" pitchFamily="34" charset="-120"/>
              </a:rPr>
              <a:t>₹200/hr</a:t>
            </a:r>
            <a:endParaRPr lang="en-US" sz="1700" dirty="0"/>
          </a:p>
        </p:txBody>
      </p:sp>
      <p:sp>
        <p:nvSpPr>
          <p:cNvPr id="27" name="Text 25"/>
          <p:cNvSpPr/>
          <p:nvPr/>
        </p:nvSpPr>
        <p:spPr>
          <a:xfrm>
            <a:off x="6656832" y="5120640"/>
            <a:ext cx="4544568" cy="457200"/>
          </a:xfrm>
          <a:prstGeom prst="rect">
            <a:avLst/>
          </a:prstGeom>
          <a:noFill/>
          <a:ln/>
        </p:spPr>
        <p:txBody>
          <a:bodyPr wrap="square" lIns="0" tIns="0" rIns="0" bIns="0" rtlCol="0" anchor="ctr"/>
          <a:lstStyle/>
          <a:p>
            <a:pPr indent="0" marL="0">
              <a:lnSpc>
                <a:spcPts val="1400"/>
              </a:lnSpc>
              <a:buNone/>
            </a:pPr>
            <a:r>
              <a:rPr lang="en-US" sz="1050" i="1" dirty="0">
                <a:solidFill>
                  <a:srgbClr val="4A5160"/>
                </a:solidFill>
                <a:latin typeface="Calibri" pitchFamily="34" charset="0"/>
                <a:ea typeface="Calibri" pitchFamily="34" charset="-122"/>
                <a:cs typeface="Calibri" pitchFamily="34" charset="-120"/>
              </a:rPr>
              <a:t>Weekday afternoons are dead in every Indian gaming café. We do not price them like peak and hope — we discount them deliberately to convert idle capacity into revenue.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LANDSCAPE</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The competitive set, and where we sit</a:t>
            </a:r>
            <a:endParaRPr lang="en-US" sz="3200" dirty="0"/>
          </a:p>
        </p:txBody>
      </p:sp>
      <p:sp>
        <p:nvSpPr>
          <p:cNvPr id="4" name="Text 2"/>
          <p:cNvSpPr/>
          <p:nvPr/>
        </p:nvSpPr>
        <p:spPr>
          <a:xfrm>
            <a:off x="640080" y="1508760"/>
            <a:ext cx="2743200" cy="274320"/>
          </a:xfrm>
          <a:prstGeom prst="rect">
            <a:avLst/>
          </a:prstGeom>
          <a:noFill/>
          <a:ln/>
        </p:spPr>
        <p:txBody>
          <a:bodyPr wrap="square" lIns="0" tIns="0" rIns="0" bIns="0" rtlCol="0" anchor="ctr"/>
          <a:lstStyle/>
          <a:p>
            <a:pPr indent="0" marL="0">
              <a:buNone/>
            </a:pPr>
            <a:r>
              <a:rPr lang="en-US" sz="1000" b="1" spc="150" kern="0" dirty="0">
                <a:solidFill>
                  <a:srgbClr val="00C2A8"/>
                </a:solidFill>
                <a:latin typeface="Calibri" pitchFamily="34" charset="0"/>
                <a:ea typeface="Calibri" pitchFamily="34" charset="-122"/>
                <a:cs typeface="Calibri" pitchFamily="34" charset="-120"/>
              </a:rPr>
              <a:t>VENUE</a:t>
            </a:r>
            <a:endParaRPr lang="en-US" sz="1000" dirty="0"/>
          </a:p>
        </p:txBody>
      </p:sp>
      <p:sp>
        <p:nvSpPr>
          <p:cNvPr id="5" name="Text 3"/>
          <p:cNvSpPr/>
          <p:nvPr/>
        </p:nvSpPr>
        <p:spPr>
          <a:xfrm>
            <a:off x="3474720" y="1508760"/>
            <a:ext cx="2103120" cy="274320"/>
          </a:xfrm>
          <a:prstGeom prst="rect">
            <a:avLst/>
          </a:prstGeom>
          <a:noFill/>
          <a:ln/>
        </p:spPr>
        <p:txBody>
          <a:bodyPr wrap="square" lIns="0" tIns="0" rIns="0" bIns="0" rtlCol="0" anchor="ctr"/>
          <a:lstStyle/>
          <a:p>
            <a:pPr indent="0" marL="0">
              <a:buNone/>
            </a:pPr>
            <a:r>
              <a:rPr lang="en-US" sz="1000" b="1" spc="150" kern="0" dirty="0">
                <a:solidFill>
                  <a:srgbClr val="00C2A8"/>
                </a:solidFill>
                <a:latin typeface="Calibri" pitchFamily="34" charset="0"/>
                <a:ea typeface="Calibri" pitchFamily="34" charset="-122"/>
                <a:cs typeface="Calibri" pitchFamily="34" charset="-120"/>
              </a:rPr>
              <a:t>LOCATION</a:t>
            </a:r>
            <a:endParaRPr lang="en-US" sz="1000" dirty="0"/>
          </a:p>
        </p:txBody>
      </p:sp>
      <p:sp>
        <p:nvSpPr>
          <p:cNvPr id="6" name="Text 4"/>
          <p:cNvSpPr/>
          <p:nvPr/>
        </p:nvSpPr>
        <p:spPr>
          <a:xfrm>
            <a:off x="5669280" y="1508760"/>
            <a:ext cx="2103120" cy="274320"/>
          </a:xfrm>
          <a:prstGeom prst="rect">
            <a:avLst/>
          </a:prstGeom>
          <a:noFill/>
          <a:ln/>
        </p:spPr>
        <p:txBody>
          <a:bodyPr wrap="square" lIns="0" tIns="0" rIns="0" bIns="0" rtlCol="0" anchor="ctr"/>
          <a:lstStyle/>
          <a:p>
            <a:pPr indent="0" marL="0">
              <a:buNone/>
            </a:pPr>
            <a:r>
              <a:rPr lang="en-US" sz="1000" b="1" spc="150" kern="0" dirty="0">
                <a:solidFill>
                  <a:srgbClr val="00C2A8"/>
                </a:solidFill>
                <a:latin typeface="Calibri" pitchFamily="34" charset="0"/>
                <a:ea typeface="Calibri" pitchFamily="34" charset="-122"/>
                <a:cs typeface="Calibri" pitchFamily="34" charset="-120"/>
              </a:rPr>
              <a:t>FORMAT</a:t>
            </a:r>
            <a:endParaRPr lang="en-US" sz="1000" dirty="0"/>
          </a:p>
        </p:txBody>
      </p:sp>
      <p:sp>
        <p:nvSpPr>
          <p:cNvPr id="7" name="Text 5"/>
          <p:cNvSpPr/>
          <p:nvPr/>
        </p:nvSpPr>
        <p:spPr>
          <a:xfrm>
            <a:off x="7863840" y="1508760"/>
            <a:ext cx="3657600" cy="274320"/>
          </a:xfrm>
          <a:prstGeom prst="rect">
            <a:avLst/>
          </a:prstGeom>
          <a:noFill/>
          <a:ln/>
        </p:spPr>
        <p:txBody>
          <a:bodyPr wrap="square" lIns="0" tIns="0" rIns="0" bIns="0" rtlCol="0" anchor="ctr"/>
          <a:lstStyle/>
          <a:p>
            <a:pPr indent="0" marL="0">
              <a:buNone/>
            </a:pPr>
            <a:r>
              <a:rPr lang="en-US" sz="1000" b="1" spc="150" kern="0" dirty="0">
                <a:solidFill>
                  <a:srgbClr val="00C2A8"/>
                </a:solidFill>
                <a:latin typeface="Calibri" pitchFamily="34" charset="0"/>
                <a:ea typeface="Calibri" pitchFamily="34" charset="-122"/>
                <a:cs typeface="Calibri" pitchFamily="34" charset="-120"/>
              </a:rPr>
              <a:t>OUR READ</a:t>
            </a:r>
            <a:endParaRPr lang="en-US" sz="1000" dirty="0"/>
          </a:p>
        </p:txBody>
      </p:sp>
      <p:sp>
        <p:nvSpPr>
          <p:cNvPr id="8" name="Shape 6"/>
          <p:cNvSpPr/>
          <p:nvPr/>
        </p:nvSpPr>
        <p:spPr>
          <a:xfrm>
            <a:off x="502920" y="1819656"/>
            <a:ext cx="11185855" cy="658368"/>
          </a:xfrm>
          <a:prstGeom prst="roundRect">
            <a:avLst>
              <a:gd name="adj" fmla="val 6944"/>
            </a:avLst>
          </a:prstGeom>
          <a:solidFill>
            <a:srgbClr val="F3F4F7"/>
          </a:solidFill>
          <a:ln/>
        </p:spPr>
      </p:sp>
      <p:sp>
        <p:nvSpPr>
          <p:cNvPr id="9" name="Text 7"/>
          <p:cNvSpPr/>
          <p:nvPr/>
        </p:nvSpPr>
        <p:spPr>
          <a:xfrm>
            <a:off x="640080" y="1874520"/>
            <a:ext cx="2743200" cy="548640"/>
          </a:xfrm>
          <a:prstGeom prst="rect">
            <a:avLst/>
          </a:prstGeom>
          <a:noFill/>
          <a:ln/>
        </p:spPr>
        <p:txBody>
          <a:bodyPr wrap="square" lIns="0" tIns="0" rIns="0" bIns="0" rtlCol="0" anchor="ctr"/>
          <a:lstStyle/>
          <a:p>
            <a:pPr indent="0" marL="0">
              <a:lnSpc>
                <a:spcPts val="1300"/>
              </a:lnSpc>
              <a:buNone/>
            </a:pPr>
            <a:r>
              <a:rPr lang="en-US" sz="1200" b="1" dirty="0">
                <a:solidFill>
                  <a:srgbClr val="12141C"/>
                </a:solidFill>
                <a:latin typeface="Arial" pitchFamily="34" charset="0"/>
                <a:ea typeface="Arial" pitchFamily="34" charset="-122"/>
                <a:cs typeface="Arial" pitchFamily="34" charset="-120"/>
              </a:rPr>
              <a:t>Playzy Gaming Cafe</a:t>
            </a:r>
            <a:endParaRPr lang="en-US" sz="1200" dirty="0"/>
          </a:p>
        </p:txBody>
      </p:sp>
      <p:sp>
        <p:nvSpPr>
          <p:cNvPr id="10" name="Text 8"/>
          <p:cNvSpPr/>
          <p:nvPr/>
        </p:nvSpPr>
        <p:spPr>
          <a:xfrm>
            <a:off x="3474720" y="1874520"/>
            <a:ext cx="2103120" cy="548640"/>
          </a:xfrm>
          <a:prstGeom prst="rect">
            <a:avLst/>
          </a:prstGeom>
          <a:noFill/>
          <a:ln/>
        </p:spPr>
        <p:txBody>
          <a:bodyPr wrap="square" lIns="0" tIns="0" rIns="0" bIns="0" rtlCol="0" anchor="ctr"/>
          <a:lstStyle/>
          <a:p>
            <a:pPr indent="0" marL="0">
              <a:lnSpc>
                <a:spcPts val="1300"/>
              </a:lnSpc>
              <a:buNone/>
            </a:pPr>
            <a:r>
              <a:rPr lang="en-US" sz="1050" dirty="0">
                <a:solidFill>
                  <a:srgbClr val="12141C"/>
                </a:solidFill>
                <a:latin typeface="Calibri" pitchFamily="34" charset="0"/>
                <a:ea typeface="Calibri" pitchFamily="34" charset="-122"/>
                <a:cs typeface="Calibri" pitchFamily="34" charset="-120"/>
              </a:rPr>
              <a:t>City Centre 2, Hatiara</a:t>
            </a:r>
            <a:endParaRPr lang="en-US" sz="1050" dirty="0"/>
          </a:p>
        </p:txBody>
      </p:sp>
      <p:sp>
        <p:nvSpPr>
          <p:cNvPr id="11" name="Text 9"/>
          <p:cNvSpPr/>
          <p:nvPr/>
        </p:nvSpPr>
        <p:spPr>
          <a:xfrm>
            <a:off x="5669280" y="1874520"/>
            <a:ext cx="2103120" cy="548640"/>
          </a:xfrm>
          <a:prstGeom prst="rect">
            <a:avLst/>
          </a:prstGeom>
          <a:noFill/>
          <a:ln/>
        </p:spPr>
        <p:txBody>
          <a:bodyPr wrap="square" lIns="0" tIns="0" rIns="0" bIns="0" rtlCol="0" anchor="ctr"/>
          <a:lstStyle/>
          <a:p>
            <a:pPr indent="0" marL="0">
              <a:lnSpc>
                <a:spcPts val="1300"/>
              </a:lnSpc>
              <a:buNone/>
            </a:pPr>
            <a:r>
              <a:rPr lang="en-US" sz="1050" dirty="0">
                <a:solidFill>
                  <a:srgbClr val="12141C"/>
                </a:solidFill>
                <a:latin typeface="Calibri" pitchFamily="34" charset="0"/>
                <a:ea typeface="Calibri" pitchFamily="34" charset="-122"/>
                <a:cs typeface="Calibri" pitchFamily="34" charset="-120"/>
              </a:rPr>
              <a:t>PS5, VR, racing sims, parties</a:t>
            </a:r>
            <a:endParaRPr lang="en-US" sz="1050" dirty="0"/>
          </a:p>
        </p:txBody>
      </p:sp>
      <p:sp>
        <p:nvSpPr>
          <p:cNvPr id="12" name="Text 10"/>
          <p:cNvSpPr/>
          <p:nvPr/>
        </p:nvSpPr>
        <p:spPr>
          <a:xfrm>
            <a:off x="7863840" y="1874520"/>
            <a:ext cx="3657600" cy="54864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Closest to our model. Mall location means high rent and mall-hours constraints.</a:t>
            </a:r>
            <a:endParaRPr lang="en-US" sz="1050" dirty="0"/>
          </a:p>
        </p:txBody>
      </p:sp>
      <p:sp>
        <p:nvSpPr>
          <p:cNvPr id="13" name="Text 11"/>
          <p:cNvSpPr/>
          <p:nvPr/>
        </p:nvSpPr>
        <p:spPr>
          <a:xfrm>
            <a:off x="640080" y="2587752"/>
            <a:ext cx="2743200" cy="548640"/>
          </a:xfrm>
          <a:prstGeom prst="rect">
            <a:avLst/>
          </a:prstGeom>
          <a:noFill/>
          <a:ln/>
        </p:spPr>
        <p:txBody>
          <a:bodyPr wrap="square" lIns="0" tIns="0" rIns="0" bIns="0" rtlCol="0" anchor="ctr"/>
          <a:lstStyle/>
          <a:p>
            <a:pPr indent="0" marL="0">
              <a:lnSpc>
                <a:spcPts val="1300"/>
              </a:lnSpc>
              <a:buNone/>
            </a:pPr>
            <a:r>
              <a:rPr lang="en-US" sz="1200" b="1" dirty="0">
                <a:solidFill>
                  <a:srgbClr val="12141C"/>
                </a:solidFill>
                <a:latin typeface="Arial" pitchFamily="34" charset="0"/>
                <a:ea typeface="Arial" pitchFamily="34" charset="-122"/>
                <a:cs typeface="Arial" pitchFamily="34" charset="-120"/>
              </a:rPr>
              <a:t>RDX Esports</a:t>
            </a:r>
            <a:endParaRPr lang="en-US" sz="1200" dirty="0"/>
          </a:p>
        </p:txBody>
      </p:sp>
      <p:sp>
        <p:nvSpPr>
          <p:cNvPr id="14" name="Text 12"/>
          <p:cNvSpPr/>
          <p:nvPr/>
        </p:nvSpPr>
        <p:spPr>
          <a:xfrm>
            <a:off x="3474720" y="2587752"/>
            <a:ext cx="2103120" cy="548640"/>
          </a:xfrm>
          <a:prstGeom prst="rect">
            <a:avLst/>
          </a:prstGeom>
          <a:noFill/>
          <a:ln/>
        </p:spPr>
        <p:txBody>
          <a:bodyPr wrap="square" lIns="0" tIns="0" rIns="0" bIns="0" rtlCol="0" anchor="ctr"/>
          <a:lstStyle/>
          <a:p>
            <a:pPr indent="0" marL="0">
              <a:lnSpc>
                <a:spcPts val="1300"/>
              </a:lnSpc>
              <a:buNone/>
            </a:pPr>
            <a:r>
              <a:rPr lang="en-US" sz="1050" dirty="0">
                <a:solidFill>
                  <a:srgbClr val="12141C"/>
                </a:solidFill>
                <a:latin typeface="Calibri" pitchFamily="34" charset="0"/>
                <a:ea typeface="Calibri" pitchFamily="34" charset="-122"/>
                <a:cs typeface="Calibri" pitchFamily="34" charset="-120"/>
              </a:rPr>
              <a:t>City Centre I, Salt Lake</a:t>
            </a:r>
            <a:endParaRPr lang="en-US" sz="1050" dirty="0"/>
          </a:p>
        </p:txBody>
      </p:sp>
      <p:sp>
        <p:nvSpPr>
          <p:cNvPr id="15" name="Text 13"/>
          <p:cNvSpPr/>
          <p:nvPr/>
        </p:nvSpPr>
        <p:spPr>
          <a:xfrm>
            <a:off x="5669280" y="2587752"/>
            <a:ext cx="2103120" cy="548640"/>
          </a:xfrm>
          <a:prstGeom prst="rect">
            <a:avLst/>
          </a:prstGeom>
          <a:noFill/>
          <a:ln/>
        </p:spPr>
        <p:txBody>
          <a:bodyPr wrap="square" lIns="0" tIns="0" rIns="0" bIns="0" rtlCol="0" anchor="ctr"/>
          <a:lstStyle/>
          <a:p>
            <a:pPr indent="0" marL="0">
              <a:lnSpc>
                <a:spcPts val="1300"/>
              </a:lnSpc>
              <a:buNone/>
            </a:pPr>
            <a:r>
              <a:rPr lang="en-US" sz="1050" dirty="0">
                <a:solidFill>
                  <a:srgbClr val="12141C"/>
                </a:solidFill>
                <a:latin typeface="Calibri" pitchFamily="34" charset="0"/>
                <a:ea typeface="Calibri" pitchFamily="34" charset="-122"/>
                <a:cs typeface="Calibri" pitchFamily="34" charset="-120"/>
              </a:rPr>
              <a:t>Casual and competitive esports</a:t>
            </a:r>
            <a:endParaRPr lang="en-US" sz="1050" dirty="0"/>
          </a:p>
        </p:txBody>
      </p:sp>
      <p:sp>
        <p:nvSpPr>
          <p:cNvPr id="16" name="Text 14"/>
          <p:cNvSpPr/>
          <p:nvPr/>
        </p:nvSpPr>
        <p:spPr>
          <a:xfrm>
            <a:off x="7863840" y="2587752"/>
            <a:ext cx="3657600" cy="54864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Esports-led. Serves the competitive niche rather than the casual group.</a:t>
            </a:r>
            <a:endParaRPr lang="en-US" sz="1050" dirty="0"/>
          </a:p>
        </p:txBody>
      </p:sp>
      <p:sp>
        <p:nvSpPr>
          <p:cNvPr id="17" name="Shape 15"/>
          <p:cNvSpPr/>
          <p:nvPr/>
        </p:nvSpPr>
        <p:spPr>
          <a:xfrm>
            <a:off x="502920" y="3246120"/>
            <a:ext cx="11185855" cy="658368"/>
          </a:xfrm>
          <a:prstGeom prst="roundRect">
            <a:avLst>
              <a:gd name="adj" fmla="val 6944"/>
            </a:avLst>
          </a:prstGeom>
          <a:solidFill>
            <a:srgbClr val="F3F4F7"/>
          </a:solidFill>
          <a:ln/>
        </p:spPr>
      </p:sp>
      <p:sp>
        <p:nvSpPr>
          <p:cNvPr id="18" name="Text 16"/>
          <p:cNvSpPr/>
          <p:nvPr/>
        </p:nvSpPr>
        <p:spPr>
          <a:xfrm>
            <a:off x="640080" y="3300984"/>
            <a:ext cx="2743200" cy="548640"/>
          </a:xfrm>
          <a:prstGeom prst="rect">
            <a:avLst/>
          </a:prstGeom>
          <a:noFill/>
          <a:ln/>
        </p:spPr>
        <p:txBody>
          <a:bodyPr wrap="square" lIns="0" tIns="0" rIns="0" bIns="0" rtlCol="0" anchor="ctr"/>
          <a:lstStyle/>
          <a:p>
            <a:pPr indent="0" marL="0">
              <a:lnSpc>
                <a:spcPts val="1300"/>
              </a:lnSpc>
              <a:buNone/>
            </a:pPr>
            <a:r>
              <a:rPr lang="en-US" sz="1200" b="1" dirty="0">
                <a:solidFill>
                  <a:srgbClr val="12141C"/>
                </a:solidFill>
                <a:latin typeface="Arial" pitchFamily="34" charset="0"/>
                <a:ea typeface="Arial" pitchFamily="34" charset="-122"/>
                <a:cs typeface="Arial" pitchFamily="34" charset="-120"/>
              </a:rPr>
              <a:t>Games Corner Cafe</a:t>
            </a:r>
            <a:endParaRPr lang="en-US" sz="1200" dirty="0"/>
          </a:p>
        </p:txBody>
      </p:sp>
      <p:sp>
        <p:nvSpPr>
          <p:cNvPr id="19" name="Text 17"/>
          <p:cNvSpPr/>
          <p:nvPr/>
        </p:nvSpPr>
        <p:spPr>
          <a:xfrm>
            <a:off x="3474720" y="3300984"/>
            <a:ext cx="2103120" cy="548640"/>
          </a:xfrm>
          <a:prstGeom prst="rect">
            <a:avLst/>
          </a:prstGeom>
          <a:noFill/>
          <a:ln/>
        </p:spPr>
        <p:txBody>
          <a:bodyPr wrap="square" lIns="0" tIns="0" rIns="0" bIns="0" rtlCol="0" anchor="ctr"/>
          <a:lstStyle/>
          <a:p>
            <a:pPr indent="0" marL="0">
              <a:lnSpc>
                <a:spcPts val="1300"/>
              </a:lnSpc>
              <a:buNone/>
            </a:pPr>
            <a:r>
              <a:rPr lang="en-US" sz="1050" dirty="0">
                <a:solidFill>
                  <a:srgbClr val="12141C"/>
                </a:solidFill>
                <a:latin typeface="Calibri" pitchFamily="34" charset="0"/>
                <a:ea typeface="Calibri" pitchFamily="34" charset="-122"/>
                <a:cs typeface="Calibri" pitchFamily="34" charset="-120"/>
              </a:rPr>
              <a:t>South Kolkata</a:t>
            </a:r>
            <a:endParaRPr lang="en-US" sz="1050" dirty="0"/>
          </a:p>
        </p:txBody>
      </p:sp>
      <p:sp>
        <p:nvSpPr>
          <p:cNvPr id="20" name="Text 18"/>
          <p:cNvSpPr/>
          <p:nvPr/>
        </p:nvSpPr>
        <p:spPr>
          <a:xfrm>
            <a:off x="5669280" y="3300984"/>
            <a:ext cx="2103120" cy="548640"/>
          </a:xfrm>
          <a:prstGeom prst="rect">
            <a:avLst/>
          </a:prstGeom>
          <a:noFill/>
          <a:ln/>
        </p:spPr>
        <p:txBody>
          <a:bodyPr wrap="square" lIns="0" tIns="0" rIns="0" bIns="0" rtlCol="0" anchor="ctr"/>
          <a:lstStyle/>
          <a:p>
            <a:pPr indent="0" marL="0">
              <a:lnSpc>
                <a:spcPts val="1300"/>
              </a:lnSpc>
              <a:buNone/>
            </a:pPr>
            <a:r>
              <a:rPr lang="en-US" sz="1050" dirty="0">
                <a:solidFill>
                  <a:srgbClr val="12141C"/>
                </a:solidFill>
                <a:latin typeface="Calibri" pitchFamily="34" charset="0"/>
                <a:ea typeface="Calibri" pitchFamily="34" charset="-122"/>
                <a:cs typeface="Calibri" pitchFamily="34" charset="-120"/>
              </a:rPr>
              <a:t>PC-led, events and birthdays</a:t>
            </a:r>
            <a:endParaRPr lang="en-US" sz="1050" dirty="0"/>
          </a:p>
        </p:txBody>
      </p:sp>
      <p:sp>
        <p:nvSpPr>
          <p:cNvPr id="21" name="Text 19"/>
          <p:cNvSpPr/>
          <p:nvPr/>
        </p:nvSpPr>
        <p:spPr>
          <a:xfrm>
            <a:off x="7863840" y="3300984"/>
            <a:ext cx="3657600" cy="54864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Strong event programme worth studying. PC-first, so limited couch play.</a:t>
            </a:r>
            <a:endParaRPr lang="en-US" sz="1050" dirty="0"/>
          </a:p>
        </p:txBody>
      </p:sp>
      <p:sp>
        <p:nvSpPr>
          <p:cNvPr id="22" name="Text 20"/>
          <p:cNvSpPr/>
          <p:nvPr/>
        </p:nvSpPr>
        <p:spPr>
          <a:xfrm>
            <a:off x="640080" y="4014216"/>
            <a:ext cx="2743200" cy="548640"/>
          </a:xfrm>
          <a:prstGeom prst="rect">
            <a:avLst/>
          </a:prstGeom>
          <a:noFill/>
          <a:ln/>
        </p:spPr>
        <p:txBody>
          <a:bodyPr wrap="square" lIns="0" tIns="0" rIns="0" bIns="0" rtlCol="0" anchor="ctr"/>
          <a:lstStyle/>
          <a:p>
            <a:pPr indent="0" marL="0">
              <a:lnSpc>
                <a:spcPts val="1300"/>
              </a:lnSpc>
              <a:buNone/>
            </a:pPr>
            <a:r>
              <a:rPr lang="en-US" sz="1200" b="1" dirty="0">
                <a:solidFill>
                  <a:srgbClr val="12141C"/>
                </a:solidFill>
                <a:latin typeface="Arial" pitchFamily="34" charset="0"/>
                <a:ea typeface="Arial" pitchFamily="34" charset="-122"/>
                <a:cs typeface="Arial" pitchFamily="34" charset="-120"/>
              </a:rPr>
              <a:t>Level 5 Gaming Cafe</a:t>
            </a:r>
            <a:endParaRPr lang="en-US" sz="1200" dirty="0"/>
          </a:p>
        </p:txBody>
      </p:sp>
      <p:sp>
        <p:nvSpPr>
          <p:cNvPr id="23" name="Text 21"/>
          <p:cNvSpPr/>
          <p:nvPr/>
        </p:nvSpPr>
        <p:spPr>
          <a:xfrm>
            <a:off x="3474720" y="4014216"/>
            <a:ext cx="2103120" cy="548640"/>
          </a:xfrm>
          <a:prstGeom prst="rect">
            <a:avLst/>
          </a:prstGeom>
          <a:noFill/>
          <a:ln/>
        </p:spPr>
        <p:txBody>
          <a:bodyPr wrap="square" lIns="0" tIns="0" rIns="0" bIns="0" rtlCol="0" anchor="ctr"/>
          <a:lstStyle/>
          <a:p>
            <a:pPr indent="0" marL="0">
              <a:lnSpc>
                <a:spcPts val="1300"/>
              </a:lnSpc>
              <a:buNone/>
            </a:pPr>
            <a:r>
              <a:rPr lang="en-US" sz="1050" dirty="0">
                <a:solidFill>
                  <a:srgbClr val="12141C"/>
                </a:solidFill>
                <a:latin typeface="Calibri" pitchFamily="34" charset="0"/>
                <a:ea typeface="Calibri" pitchFamily="34" charset="-122"/>
                <a:cs typeface="Calibri" pitchFamily="34" charset="-120"/>
              </a:rPr>
              <a:t>City Centre, Salt Lake</a:t>
            </a:r>
            <a:endParaRPr lang="en-US" sz="1050" dirty="0"/>
          </a:p>
        </p:txBody>
      </p:sp>
      <p:sp>
        <p:nvSpPr>
          <p:cNvPr id="24" name="Text 22"/>
          <p:cNvSpPr/>
          <p:nvPr/>
        </p:nvSpPr>
        <p:spPr>
          <a:xfrm>
            <a:off x="5669280" y="4014216"/>
            <a:ext cx="2103120" cy="548640"/>
          </a:xfrm>
          <a:prstGeom prst="rect">
            <a:avLst/>
          </a:prstGeom>
          <a:noFill/>
          <a:ln/>
        </p:spPr>
        <p:txBody>
          <a:bodyPr wrap="square" lIns="0" tIns="0" rIns="0" bIns="0" rtlCol="0" anchor="ctr"/>
          <a:lstStyle/>
          <a:p>
            <a:pPr indent="0" marL="0">
              <a:lnSpc>
                <a:spcPts val="1300"/>
              </a:lnSpc>
              <a:buNone/>
            </a:pPr>
            <a:r>
              <a:rPr lang="en-US" sz="1050" dirty="0">
                <a:solidFill>
                  <a:srgbClr val="12141C"/>
                </a:solidFill>
                <a:latin typeface="Calibri" pitchFamily="34" charset="0"/>
                <a:ea typeface="Calibri" pitchFamily="34" charset="-122"/>
                <a:cs typeface="Calibri" pitchFamily="34" charset="-120"/>
              </a:rPr>
              <a:t>PC, PlayStation, VR</a:t>
            </a:r>
            <a:endParaRPr lang="en-US" sz="1050" dirty="0"/>
          </a:p>
        </p:txBody>
      </p:sp>
      <p:sp>
        <p:nvSpPr>
          <p:cNvPr id="25" name="Text 23"/>
          <p:cNvSpPr/>
          <p:nvPr/>
        </p:nvSpPr>
        <p:spPr>
          <a:xfrm>
            <a:off x="7863840" y="4014216"/>
            <a:ext cx="3657600" cy="54864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Mall footfall model. Broad but shallow console offering.</a:t>
            </a:r>
            <a:endParaRPr lang="en-US" sz="1050" dirty="0"/>
          </a:p>
        </p:txBody>
      </p:sp>
      <p:sp>
        <p:nvSpPr>
          <p:cNvPr id="26" name="Shape 24"/>
          <p:cNvSpPr/>
          <p:nvPr/>
        </p:nvSpPr>
        <p:spPr>
          <a:xfrm>
            <a:off x="502920" y="4672584"/>
            <a:ext cx="11185855" cy="658368"/>
          </a:xfrm>
          <a:prstGeom prst="roundRect">
            <a:avLst>
              <a:gd name="adj" fmla="val 6944"/>
            </a:avLst>
          </a:prstGeom>
          <a:solidFill>
            <a:srgbClr val="F3F4F7"/>
          </a:solidFill>
          <a:ln/>
        </p:spPr>
      </p:sp>
      <p:sp>
        <p:nvSpPr>
          <p:cNvPr id="27" name="Text 25"/>
          <p:cNvSpPr/>
          <p:nvPr/>
        </p:nvSpPr>
        <p:spPr>
          <a:xfrm>
            <a:off x="640080" y="4727448"/>
            <a:ext cx="2743200" cy="548640"/>
          </a:xfrm>
          <a:prstGeom prst="rect">
            <a:avLst/>
          </a:prstGeom>
          <a:noFill/>
          <a:ln/>
        </p:spPr>
        <p:txBody>
          <a:bodyPr wrap="square" lIns="0" tIns="0" rIns="0" bIns="0" rtlCol="0" anchor="ctr"/>
          <a:lstStyle/>
          <a:p>
            <a:pPr indent="0" marL="0">
              <a:lnSpc>
                <a:spcPts val="1300"/>
              </a:lnSpc>
              <a:buNone/>
            </a:pPr>
            <a:r>
              <a:rPr lang="en-US" sz="1200" b="1" dirty="0">
                <a:solidFill>
                  <a:srgbClr val="12141C"/>
                </a:solidFill>
                <a:latin typeface="Arial" pitchFamily="34" charset="0"/>
                <a:ea typeface="Arial" pitchFamily="34" charset="-122"/>
                <a:cs typeface="Arial" pitchFamily="34" charset="-120"/>
              </a:rPr>
              <a:t>Budget PC cafés</a:t>
            </a:r>
            <a:endParaRPr lang="en-US" sz="1200" dirty="0"/>
          </a:p>
        </p:txBody>
      </p:sp>
      <p:sp>
        <p:nvSpPr>
          <p:cNvPr id="28" name="Text 26"/>
          <p:cNvSpPr/>
          <p:nvPr/>
        </p:nvSpPr>
        <p:spPr>
          <a:xfrm>
            <a:off x="3474720" y="4727448"/>
            <a:ext cx="2103120" cy="548640"/>
          </a:xfrm>
          <a:prstGeom prst="rect">
            <a:avLst/>
          </a:prstGeom>
          <a:noFill/>
          <a:ln/>
        </p:spPr>
        <p:txBody>
          <a:bodyPr wrap="square" lIns="0" tIns="0" rIns="0" bIns="0" rtlCol="0" anchor="ctr"/>
          <a:lstStyle/>
          <a:p>
            <a:pPr indent="0" marL="0">
              <a:lnSpc>
                <a:spcPts val="1300"/>
              </a:lnSpc>
              <a:buNone/>
            </a:pPr>
            <a:r>
              <a:rPr lang="en-US" sz="1050" dirty="0">
                <a:solidFill>
                  <a:srgbClr val="12141C"/>
                </a:solidFill>
                <a:latin typeface="Calibri" pitchFamily="34" charset="0"/>
                <a:ea typeface="Calibri" pitchFamily="34" charset="-122"/>
                <a:cs typeface="Calibri" pitchFamily="34" charset="-120"/>
              </a:rPr>
              <a:t>Various</a:t>
            </a:r>
            <a:endParaRPr lang="en-US" sz="1050" dirty="0"/>
          </a:p>
        </p:txBody>
      </p:sp>
      <p:sp>
        <p:nvSpPr>
          <p:cNvPr id="29" name="Text 27"/>
          <p:cNvSpPr/>
          <p:nvPr/>
        </p:nvSpPr>
        <p:spPr>
          <a:xfrm>
            <a:off x="5669280" y="4727448"/>
            <a:ext cx="2103120" cy="548640"/>
          </a:xfrm>
          <a:prstGeom prst="rect">
            <a:avLst/>
          </a:prstGeom>
          <a:noFill/>
          <a:ln/>
        </p:spPr>
        <p:txBody>
          <a:bodyPr wrap="square" lIns="0" tIns="0" rIns="0" bIns="0" rtlCol="0" anchor="ctr"/>
          <a:lstStyle/>
          <a:p>
            <a:pPr indent="0" marL="0">
              <a:lnSpc>
                <a:spcPts val="1300"/>
              </a:lnSpc>
              <a:buNone/>
            </a:pPr>
            <a:r>
              <a:rPr lang="en-US" sz="1050" dirty="0">
                <a:solidFill>
                  <a:srgbClr val="12141C"/>
                </a:solidFill>
                <a:latin typeface="Calibri" pitchFamily="34" charset="0"/>
                <a:ea typeface="Calibri" pitchFamily="34" charset="-122"/>
                <a:cs typeface="Calibri" pitchFamily="34" charset="-120"/>
              </a:rPr>
              <a:t>PC hours from ₹25–40/hr</a:t>
            </a:r>
            <a:endParaRPr lang="en-US" sz="1050" dirty="0"/>
          </a:p>
        </p:txBody>
      </p:sp>
      <p:sp>
        <p:nvSpPr>
          <p:cNvPr id="30" name="Text 28"/>
          <p:cNvSpPr/>
          <p:nvPr/>
        </p:nvSpPr>
        <p:spPr>
          <a:xfrm>
            <a:off x="7863840" y="4727448"/>
            <a:ext cx="3657600" cy="54864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Define the price floor. They compete on cost, not experience or food.</a:t>
            </a:r>
            <a:endParaRPr lang="en-US" sz="1050" dirty="0"/>
          </a:p>
        </p:txBody>
      </p:sp>
      <p:sp>
        <p:nvSpPr>
          <p:cNvPr id="31" name="Shape 29"/>
          <p:cNvSpPr/>
          <p:nvPr/>
        </p:nvSpPr>
        <p:spPr>
          <a:xfrm>
            <a:off x="640080" y="5577840"/>
            <a:ext cx="10911535" cy="658368"/>
          </a:xfrm>
          <a:prstGeom prst="roundRect">
            <a:avLst>
              <a:gd name="adj" fmla="val 13889"/>
            </a:avLst>
          </a:prstGeom>
          <a:solidFill>
            <a:srgbClr val="12141C"/>
          </a:solidFill>
          <a:ln/>
        </p:spPr>
      </p:sp>
      <p:sp>
        <p:nvSpPr>
          <p:cNvPr id="32" name="Text 30"/>
          <p:cNvSpPr/>
          <p:nvPr/>
        </p:nvSpPr>
        <p:spPr>
          <a:xfrm>
            <a:off x="960120" y="5705856"/>
            <a:ext cx="1554480" cy="274320"/>
          </a:xfrm>
          <a:prstGeom prst="rect">
            <a:avLst/>
          </a:prstGeom>
          <a:noFill/>
          <a:ln/>
        </p:spPr>
        <p:txBody>
          <a:bodyPr wrap="square" lIns="0" tIns="0" rIns="0" bIns="0" rtlCol="0" anchor="ctr"/>
          <a:lstStyle/>
          <a:p>
            <a:pPr indent="0" marL="0">
              <a:buNone/>
            </a:pPr>
            <a:r>
              <a:rPr lang="en-US" sz="1000" b="1" spc="150" kern="0" dirty="0">
                <a:solidFill>
                  <a:srgbClr val="FF8A3D"/>
                </a:solidFill>
                <a:latin typeface="Calibri" pitchFamily="34" charset="0"/>
                <a:ea typeface="Calibri" pitchFamily="34" charset="-122"/>
                <a:cs typeface="Calibri" pitchFamily="34" charset="-120"/>
              </a:rPr>
              <a:t>OUR POSITION</a:t>
            </a:r>
            <a:endParaRPr lang="en-US" sz="1000" dirty="0"/>
          </a:p>
        </p:txBody>
      </p:sp>
      <p:sp>
        <p:nvSpPr>
          <p:cNvPr id="33" name="Text 31"/>
          <p:cNvSpPr/>
          <p:nvPr/>
        </p:nvSpPr>
        <p:spPr>
          <a:xfrm>
            <a:off x="2651760" y="5687568"/>
            <a:ext cx="8412480" cy="457200"/>
          </a:xfrm>
          <a:prstGeom prst="rect">
            <a:avLst/>
          </a:prstGeom>
          <a:noFill/>
          <a:ln/>
        </p:spPr>
        <p:txBody>
          <a:bodyPr wrap="square" lIns="0" tIns="0" rIns="0" bIns="0" rtlCol="0" anchor="ctr"/>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Neighbourhood console lounge with a real kitchen — not a mall arcade, not a PC hall. We compete on group experience, food quality and community, not on hourly price.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REVENUE MODEL</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How the venue earns</a:t>
            </a:r>
            <a:endParaRPr lang="en-US" sz="3200" dirty="0"/>
          </a:p>
        </p:txBody>
      </p:sp>
      <p:sp>
        <p:nvSpPr>
          <p:cNvPr id="4" name="Text 2"/>
          <p:cNvSpPr/>
          <p:nvPr/>
        </p:nvSpPr>
        <p:spPr>
          <a:xfrm>
            <a:off x="640080" y="1463040"/>
            <a:ext cx="5120640" cy="256032"/>
          </a:xfrm>
          <a:prstGeom prst="rect">
            <a:avLst/>
          </a:prstGeom>
          <a:noFill/>
          <a:ln/>
        </p:spPr>
        <p:txBody>
          <a:bodyPr wrap="square" lIns="0" tIns="0" rIns="0" bIns="0" rtlCol="0" anchor="ctr"/>
          <a:lstStyle/>
          <a:p>
            <a:pPr indent="0" marL="0">
              <a:buNone/>
            </a:pPr>
            <a:r>
              <a:rPr lang="en-US" sz="1050" b="1" spc="150" kern="0" dirty="0">
                <a:solidFill>
                  <a:srgbClr val="00C2A8"/>
                </a:solidFill>
                <a:latin typeface="Calibri" pitchFamily="34" charset="0"/>
                <a:ea typeface="Calibri" pitchFamily="34" charset="-122"/>
                <a:cs typeface="Calibri" pitchFamily="34" charset="-120"/>
              </a:rPr>
              <a:t>GAME TIME  ·  PRICED PER BAY</a:t>
            </a:r>
            <a:endParaRPr lang="en-US" sz="1050" dirty="0"/>
          </a:p>
        </p:txBody>
      </p:sp>
      <p:sp>
        <p:nvSpPr>
          <p:cNvPr id="5" name="Shape 3"/>
          <p:cNvSpPr/>
          <p:nvPr/>
        </p:nvSpPr>
        <p:spPr>
          <a:xfrm>
            <a:off x="530352" y="1773936"/>
            <a:ext cx="5349240" cy="420624"/>
          </a:xfrm>
          <a:prstGeom prst="roundRect">
            <a:avLst>
              <a:gd name="adj" fmla="val 10870"/>
            </a:avLst>
          </a:prstGeom>
          <a:solidFill>
            <a:srgbClr val="F3F4F7"/>
          </a:solidFill>
          <a:ln/>
        </p:spPr>
      </p:sp>
      <p:sp>
        <p:nvSpPr>
          <p:cNvPr id="6" name="Text 4"/>
          <p:cNvSpPr/>
          <p:nvPr/>
        </p:nvSpPr>
        <p:spPr>
          <a:xfrm>
            <a:off x="640080" y="1810512"/>
            <a:ext cx="3840480" cy="347472"/>
          </a:xfrm>
          <a:prstGeom prst="rect">
            <a:avLst/>
          </a:prstGeom>
          <a:noFill/>
          <a:ln/>
        </p:spPr>
        <p:txBody>
          <a:bodyPr wrap="square" lIns="0" tIns="0" rIns="0" bIns="0" rtlCol="0" anchor="ctr"/>
          <a:lstStyle/>
          <a:p>
            <a:pPr indent="0" marL="0">
              <a:buNone/>
            </a:pPr>
            <a:r>
              <a:rPr lang="en-US" sz="1150" dirty="0">
                <a:solidFill>
                  <a:srgbClr val="12141C"/>
                </a:solidFill>
                <a:latin typeface="Calibri" pitchFamily="34" charset="0"/>
                <a:ea typeface="Calibri" pitchFamily="34" charset="-122"/>
                <a:cs typeface="Calibri" pitchFamily="34" charset="-120"/>
              </a:rPr>
              <a:t>Weekday off-peak (11am–4pm)</a:t>
            </a:r>
            <a:endParaRPr lang="en-US" sz="1150" dirty="0"/>
          </a:p>
        </p:txBody>
      </p:sp>
      <p:sp>
        <p:nvSpPr>
          <p:cNvPr id="7" name="Text 5"/>
          <p:cNvSpPr/>
          <p:nvPr/>
        </p:nvSpPr>
        <p:spPr>
          <a:xfrm>
            <a:off x="4480560" y="1810512"/>
            <a:ext cx="1280160" cy="347472"/>
          </a:xfrm>
          <a:prstGeom prst="rect">
            <a:avLst/>
          </a:prstGeom>
          <a:noFill/>
          <a:ln/>
        </p:spPr>
        <p:txBody>
          <a:bodyPr wrap="square" lIns="0" tIns="0" rIns="0" bIns="0" rtlCol="0" anchor="ctr"/>
          <a:lstStyle/>
          <a:p>
            <a:pPr algn="r" indent="0" marL="0">
              <a:buNone/>
            </a:pPr>
            <a:r>
              <a:rPr lang="en-US" sz="1300" b="1" dirty="0">
                <a:solidFill>
                  <a:srgbClr val="008C79"/>
                </a:solidFill>
                <a:latin typeface="Arial" pitchFamily="34" charset="0"/>
                <a:ea typeface="Arial" pitchFamily="34" charset="-122"/>
                <a:cs typeface="Arial" pitchFamily="34" charset="-120"/>
              </a:rPr>
              <a:t>₹120/hr</a:t>
            </a:r>
            <a:endParaRPr lang="en-US" sz="1300" dirty="0"/>
          </a:p>
        </p:txBody>
      </p:sp>
      <p:sp>
        <p:nvSpPr>
          <p:cNvPr id="8" name="Text 6"/>
          <p:cNvSpPr/>
          <p:nvPr/>
        </p:nvSpPr>
        <p:spPr>
          <a:xfrm>
            <a:off x="640080" y="2267712"/>
            <a:ext cx="3840480" cy="347472"/>
          </a:xfrm>
          <a:prstGeom prst="rect">
            <a:avLst/>
          </a:prstGeom>
          <a:noFill/>
          <a:ln/>
        </p:spPr>
        <p:txBody>
          <a:bodyPr wrap="square" lIns="0" tIns="0" rIns="0" bIns="0" rtlCol="0" anchor="ctr"/>
          <a:lstStyle/>
          <a:p>
            <a:pPr indent="0" marL="0">
              <a:buNone/>
            </a:pPr>
            <a:r>
              <a:rPr lang="en-US" sz="1150" dirty="0">
                <a:solidFill>
                  <a:srgbClr val="12141C"/>
                </a:solidFill>
                <a:latin typeface="Calibri" pitchFamily="34" charset="0"/>
                <a:ea typeface="Calibri" pitchFamily="34" charset="-122"/>
                <a:cs typeface="Calibri" pitchFamily="34" charset="-120"/>
              </a:rPr>
              <a:t>Weekday peak (4pm–11pm)</a:t>
            </a:r>
            <a:endParaRPr lang="en-US" sz="1150" dirty="0"/>
          </a:p>
        </p:txBody>
      </p:sp>
      <p:sp>
        <p:nvSpPr>
          <p:cNvPr id="9" name="Text 7"/>
          <p:cNvSpPr/>
          <p:nvPr/>
        </p:nvSpPr>
        <p:spPr>
          <a:xfrm>
            <a:off x="4480560" y="2267712"/>
            <a:ext cx="1280160" cy="347472"/>
          </a:xfrm>
          <a:prstGeom prst="rect">
            <a:avLst/>
          </a:prstGeom>
          <a:noFill/>
          <a:ln/>
        </p:spPr>
        <p:txBody>
          <a:bodyPr wrap="square" lIns="0" tIns="0" rIns="0" bIns="0" rtlCol="0" anchor="ctr"/>
          <a:lstStyle/>
          <a:p>
            <a:pPr algn="r" indent="0" marL="0">
              <a:buNone/>
            </a:pPr>
            <a:r>
              <a:rPr lang="en-US" sz="1300" b="1" dirty="0">
                <a:solidFill>
                  <a:srgbClr val="008C79"/>
                </a:solidFill>
                <a:latin typeface="Arial" pitchFamily="34" charset="0"/>
                <a:ea typeface="Arial" pitchFamily="34" charset="-122"/>
                <a:cs typeface="Arial" pitchFamily="34" charset="-120"/>
              </a:rPr>
              <a:t>₹160/hr</a:t>
            </a:r>
            <a:endParaRPr lang="en-US" sz="1300" dirty="0"/>
          </a:p>
        </p:txBody>
      </p:sp>
      <p:sp>
        <p:nvSpPr>
          <p:cNvPr id="10" name="Shape 8"/>
          <p:cNvSpPr/>
          <p:nvPr/>
        </p:nvSpPr>
        <p:spPr>
          <a:xfrm>
            <a:off x="530352" y="2688336"/>
            <a:ext cx="5349240" cy="420624"/>
          </a:xfrm>
          <a:prstGeom prst="roundRect">
            <a:avLst>
              <a:gd name="adj" fmla="val 10870"/>
            </a:avLst>
          </a:prstGeom>
          <a:solidFill>
            <a:srgbClr val="F3F4F7"/>
          </a:solidFill>
          <a:ln/>
        </p:spPr>
      </p:sp>
      <p:sp>
        <p:nvSpPr>
          <p:cNvPr id="11" name="Text 9"/>
          <p:cNvSpPr/>
          <p:nvPr/>
        </p:nvSpPr>
        <p:spPr>
          <a:xfrm>
            <a:off x="640080" y="2724912"/>
            <a:ext cx="3840480" cy="347472"/>
          </a:xfrm>
          <a:prstGeom prst="rect">
            <a:avLst/>
          </a:prstGeom>
          <a:noFill/>
          <a:ln/>
        </p:spPr>
        <p:txBody>
          <a:bodyPr wrap="square" lIns="0" tIns="0" rIns="0" bIns="0" rtlCol="0" anchor="ctr"/>
          <a:lstStyle/>
          <a:p>
            <a:pPr indent="0" marL="0">
              <a:buNone/>
            </a:pPr>
            <a:r>
              <a:rPr lang="en-US" sz="1150" dirty="0">
                <a:solidFill>
                  <a:srgbClr val="12141C"/>
                </a:solidFill>
                <a:latin typeface="Calibri" pitchFamily="34" charset="0"/>
                <a:ea typeface="Calibri" pitchFamily="34" charset="-122"/>
                <a:cs typeface="Calibri" pitchFamily="34" charset="-120"/>
              </a:rPr>
              <a:t>Weekend &amp; holidays</a:t>
            </a:r>
            <a:endParaRPr lang="en-US" sz="1150" dirty="0"/>
          </a:p>
        </p:txBody>
      </p:sp>
      <p:sp>
        <p:nvSpPr>
          <p:cNvPr id="12" name="Text 10"/>
          <p:cNvSpPr/>
          <p:nvPr/>
        </p:nvSpPr>
        <p:spPr>
          <a:xfrm>
            <a:off x="4480560" y="2724912"/>
            <a:ext cx="1280160" cy="347472"/>
          </a:xfrm>
          <a:prstGeom prst="rect">
            <a:avLst/>
          </a:prstGeom>
          <a:noFill/>
          <a:ln/>
        </p:spPr>
        <p:txBody>
          <a:bodyPr wrap="square" lIns="0" tIns="0" rIns="0" bIns="0" rtlCol="0" anchor="ctr"/>
          <a:lstStyle/>
          <a:p>
            <a:pPr algn="r" indent="0" marL="0">
              <a:buNone/>
            </a:pPr>
            <a:r>
              <a:rPr lang="en-US" sz="1300" b="1" dirty="0">
                <a:solidFill>
                  <a:srgbClr val="008C79"/>
                </a:solidFill>
                <a:latin typeface="Arial" pitchFamily="34" charset="0"/>
                <a:ea typeface="Arial" pitchFamily="34" charset="-122"/>
                <a:cs typeface="Arial" pitchFamily="34" charset="-120"/>
              </a:rPr>
              <a:t>₹200/hr</a:t>
            </a:r>
            <a:endParaRPr lang="en-US" sz="1300" dirty="0"/>
          </a:p>
        </p:txBody>
      </p:sp>
      <p:sp>
        <p:nvSpPr>
          <p:cNvPr id="13" name="Text 11"/>
          <p:cNvSpPr/>
          <p:nvPr/>
        </p:nvSpPr>
        <p:spPr>
          <a:xfrm>
            <a:off x="640080" y="3182112"/>
            <a:ext cx="3840480" cy="347472"/>
          </a:xfrm>
          <a:prstGeom prst="rect">
            <a:avLst/>
          </a:prstGeom>
          <a:noFill/>
          <a:ln/>
        </p:spPr>
        <p:txBody>
          <a:bodyPr wrap="square" lIns="0" tIns="0" rIns="0" bIns="0" rtlCol="0" anchor="ctr"/>
          <a:lstStyle/>
          <a:p>
            <a:pPr indent="0" marL="0">
              <a:buNone/>
            </a:pPr>
            <a:r>
              <a:rPr lang="en-US" sz="1150" dirty="0">
                <a:solidFill>
                  <a:srgbClr val="12141C"/>
                </a:solidFill>
                <a:latin typeface="Calibri" pitchFamily="34" charset="0"/>
                <a:ea typeface="Calibri" pitchFamily="34" charset="-122"/>
                <a:cs typeface="Calibri" pitchFamily="34" charset="-120"/>
              </a:rPr>
              <a:t>3rd / 4th controller, each</a:t>
            </a:r>
            <a:endParaRPr lang="en-US" sz="1150" dirty="0"/>
          </a:p>
        </p:txBody>
      </p:sp>
      <p:sp>
        <p:nvSpPr>
          <p:cNvPr id="14" name="Text 12"/>
          <p:cNvSpPr/>
          <p:nvPr/>
        </p:nvSpPr>
        <p:spPr>
          <a:xfrm>
            <a:off x="4480560" y="3182112"/>
            <a:ext cx="1280160" cy="347472"/>
          </a:xfrm>
          <a:prstGeom prst="rect">
            <a:avLst/>
          </a:prstGeom>
          <a:noFill/>
          <a:ln/>
        </p:spPr>
        <p:txBody>
          <a:bodyPr wrap="square" lIns="0" tIns="0" rIns="0" bIns="0" rtlCol="0" anchor="ctr"/>
          <a:lstStyle/>
          <a:p>
            <a:pPr algn="r" indent="0" marL="0">
              <a:buNone/>
            </a:pPr>
            <a:r>
              <a:rPr lang="en-US" sz="1300" b="1" dirty="0">
                <a:solidFill>
                  <a:srgbClr val="008C79"/>
                </a:solidFill>
                <a:latin typeface="Arial" pitchFamily="34" charset="0"/>
                <a:ea typeface="Arial" pitchFamily="34" charset="-122"/>
                <a:cs typeface="Arial" pitchFamily="34" charset="-120"/>
              </a:rPr>
              <a:t>+₹40/hr</a:t>
            </a:r>
            <a:endParaRPr lang="en-US" sz="1300" dirty="0"/>
          </a:p>
        </p:txBody>
      </p:sp>
      <p:sp>
        <p:nvSpPr>
          <p:cNvPr id="15" name="Shape 13"/>
          <p:cNvSpPr/>
          <p:nvPr/>
        </p:nvSpPr>
        <p:spPr>
          <a:xfrm>
            <a:off x="530352" y="3602736"/>
            <a:ext cx="5349240" cy="420624"/>
          </a:xfrm>
          <a:prstGeom prst="roundRect">
            <a:avLst>
              <a:gd name="adj" fmla="val 10870"/>
            </a:avLst>
          </a:prstGeom>
          <a:solidFill>
            <a:srgbClr val="F3F4F7"/>
          </a:solidFill>
          <a:ln/>
        </p:spPr>
      </p:sp>
      <p:sp>
        <p:nvSpPr>
          <p:cNvPr id="16" name="Text 14"/>
          <p:cNvSpPr/>
          <p:nvPr/>
        </p:nvSpPr>
        <p:spPr>
          <a:xfrm>
            <a:off x="640080" y="3639312"/>
            <a:ext cx="3840480" cy="347472"/>
          </a:xfrm>
          <a:prstGeom prst="rect">
            <a:avLst/>
          </a:prstGeom>
          <a:noFill/>
          <a:ln/>
        </p:spPr>
        <p:txBody>
          <a:bodyPr wrap="square" lIns="0" tIns="0" rIns="0" bIns="0" rtlCol="0" anchor="ctr"/>
          <a:lstStyle/>
          <a:p>
            <a:pPr indent="0" marL="0">
              <a:buNone/>
            </a:pPr>
            <a:r>
              <a:rPr lang="en-US" sz="1150" dirty="0">
                <a:solidFill>
                  <a:srgbClr val="12141C"/>
                </a:solidFill>
                <a:latin typeface="Calibri" pitchFamily="34" charset="0"/>
                <a:ea typeface="Calibri" pitchFamily="34" charset="-122"/>
                <a:cs typeface="Calibri" pitchFamily="34" charset="-120"/>
              </a:rPr>
              <a:t>Student rate, weekday off-peak</a:t>
            </a:r>
            <a:endParaRPr lang="en-US" sz="1150" dirty="0"/>
          </a:p>
        </p:txBody>
      </p:sp>
      <p:sp>
        <p:nvSpPr>
          <p:cNvPr id="17" name="Text 15"/>
          <p:cNvSpPr/>
          <p:nvPr/>
        </p:nvSpPr>
        <p:spPr>
          <a:xfrm>
            <a:off x="4480560" y="3639312"/>
            <a:ext cx="1280160" cy="347472"/>
          </a:xfrm>
          <a:prstGeom prst="rect">
            <a:avLst/>
          </a:prstGeom>
          <a:noFill/>
          <a:ln/>
        </p:spPr>
        <p:txBody>
          <a:bodyPr wrap="square" lIns="0" tIns="0" rIns="0" bIns="0" rtlCol="0" anchor="ctr"/>
          <a:lstStyle/>
          <a:p>
            <a:pPr algn="r" indent="0" marL="0">
              <a:buNone/>
            </a:pPr>
            <a:r>
              <a:rPr lang="en-US" sz="1300" b="1" dirty="0">
                <a:solidFill>
                  <a:srgbClr val="008C79"/>
                </a:solidFill>
                <a:latin typeface="Arial" pitchFamily="34" charset="0"/>
                <a:ea typeface="Arial" pitchFamily="34" charset="-122"/>
                <a:cs typeface="Arial" pitchFamily="34" charset="-120"/>
              </a:rPr>
              <a:t>₹90/hr</a:t>
            </a:r>
            <a:endParaRPr lang="en-US" sz="1300" dirty="0"/>
          </a:p>
        </p:txBody>
      </p:sp>
      <p:sp>
        <p:nvSpPr>
          <p:cNvPr id="18" name="Text 16"/>
          <p:cNvSpPr/>
          <p:nvPr/>
        </p:nvSpPr>
        <p:spPr>
          <a:xfrm>
            <a:off x="640080" y="4206240"/>
            <a:ext cx="5120640" cy="256032"/>
          </a:xfrm>
          <a:prstGeom prst="rect">
            <a:avLst/>
          </a:prstGeom>
          <a:noFill/>
          <a:ln/>
        </p:spPr>
        <p:txBody>
          <a:bodyPr wrap="square" lIns="0" tIns="0" rIns="0" bIns="0" rtlCol="0" anchor="ctr"/>
          <a:lstStyle/>
          <a:p>
            <a:pPr indent="0" marL="0">
              <a:buNone/>
            </a:pPr>
            <a:r>
              <a:rPr lang="en-US" sz="1050" b="1" spc="150" kern="0" dirty="0">
                <a:solidFill>
                  <a:srgbClr val="00C2A8"/>
                </a:solidFill>
                <a:latin typeface="Calibri" pitchFamily="34" charset="0"/>
                <a:ea typeface="Calibri" pitchFamily="34" charset="-122"/>
                <a:cs typeface="Calibri" pitchFamily="34" charset="-120"/>
              </a:rPr>
              <a:t>PACKAGES  ·  VOLUME AND CASH FLOW</a:t>
            </a:r>
            <a:endParaRPr lang="en-US" sz="1050" dirty="0"/>
          </a:p>
        </p:txBody>
      </p:sp>
      <p:sp>
        <p:nvSpPr>
          <p:cNvPr id="19" name="Text 17"/>
          <p:cNvSpPr/>
          <p:nvPr/>
        </p:nvSpPr>
        <p:spPr>
          <a:xfrm>
            <a:off x="640080" y="4553712"/>
            <a:ext cx="3840480" cy="347472"/>
          </a:xfrm>
          <a:prstGeom prst="rect">
            <a:avLst/>
          </a:prstGeom>
          <a:noFill/>
          <a:ln/>
        </p:spPr>
        <p:txBody>
          <a:bodyPr wrap="square" lIns="0" tIns="0" rIns="0" bIns="0" rtlCol="0" anchor="ctr"/>
          <a:lstStyle/>
          <a:p>
            <a:pPr indent="0" marL="0">
              <a:buNone/>
            </a:pPr>
            <a:r>
              <a:rPr lang="en-US" sz="1150" dirty="0">
                <a:solidFill>
                  <a:srgbClr val="12141C"/>
                </a:solidFill>
                <a:latin typeface="Calibri" pitchFamily="34" charset="0"/>
                <a:ea typeface="Calibri" pitchFamily="34" charset="-122"/>
                <a:cs typeface="Calibri" pitchFamily="34" charset="-120"/>
              </a:rPr>
              <a:t>10-hour prepaid wallet</a:t>
            </a:r>
            <a:endParaRPr lang="en-US" sz="1150" dirty="0"/>
          </a:p>
        </p:txBody>
      </p:sp>
      <p:sp>
        <p:nvSpPr>
          <p:cNvPr id="20" name="Text 18"/>
          <p:cNvSpPr/>
          <p:nvPr/>
        </p:nvSpPr>
        <p:spPr>
          <a:xfrm>
            <a:off x="4480560" y="4553712"/>
            <a:ext cx="1280160" cy="347472"/>
          </a:xfrm>
          <a:prstGeom prst="rect">
            <a:avLst/>
          </a:prstGeom>
          <a:noFill/>
          <a:ln/>
        </p:spPr>
        <p:txBody>
          <a:bodyPr wrap="square" lIns="0" tIns="0" rIns="0" bIns="0" rtlCol="0" anchor="ctr"/>
          <a:lstStyle/>
          <a:p>
            <a:pPr algn="r" indent="0" marL="0">
              <a:buNone/>
            </a:pPr>
            <a:r>
              <a:rPr lang="en-US" sz="1300" b="1" dirty="0">
                <a:solidFill>
                  <a:srgbClr val="FF8A3D"/>
                </a:solidFill>
                <a:latin typeface="Arial" pitchFamily="34" charset="0"/>
                <a:ea typeface="Arial" pitchFamily="34" charset="-122"/>
                <a:cs typeface="Arial" pitchFamily="34" charset="-120"/>
              </a:rPr>
              <a:t>₹1,300</a:t>
            </a:r>
            <a:endParaRPr lang="en-US" sz="1300" dirty="0"/>
          </a:p>
        </p:txBody>
      </p:sp>
      <p:sp>
        <p:nvSpPr>
          <p:cNvPr id="21" name="Text 19"/>
          <p:cNvSpPr/>
          <p:nvPr/>
        </p:nvSpPr>
        <p:spPr>
          <a:xfrm>
            <a:off x="640080" y="5010912"/>
            <a:ext cx="3840480" cy="347472"/>
          </a:xfrm>
          <a:prstGeom prst="rect">
            <a:avLst/>
          </a:prstGeom>
          <a:noFill/>
          <a:ln/>
        </p:spPr>
        <p:txBody>
          <a:bodyPr wrap="square" lIns="0" tIns="0" rIns="0" bIns="0" rtlCol="0" anchor="ctr"/>
          <a:lstStyle/>
          <a:p>
            <a:pPr indent="0" marL="0">
              <a:buNone/>
            </a:pPr>
            <a:r>
              <a:rPr lang="en-US" sz="1150" dirty="0">
                <a:solidFill>
                  <a:srgbClr val="12141C"/>
                </a:solidFill>
                <a:latin typeface="Calibri" pitchFamily="34" charset="0"/>
                <a:ea typeface="Calibri" pitchFamily="34" charset="-122"/>
                <a:cs typeface="Calibri" pitchFamily="34" charset="-120"/>
              </a:rPr>
              <a:t>Off-peak monthly pass</a:t>
            </a:r>
            <a:endParaRPr lang="en-US" sz="1150" dirty="0"/>
          </a:p>
        </p:txBody>
      </p:sp>
      <p:sp>
        <p:nvSpPr>
          <p:cNvPr id="22" name="Text 20"/>
          <p:cNvSpPr/>
          <p:nvPr/>
        </p:nvSpPr>
        <p:spPr>
          <a:xfrm>
            <a:off x="4480560" y="5010912"/>
            <a:ext cx="1280160" cy="347472"/>
          </a:xfrm>
          <a:prstGeom prst="rect">
            <a:avLst/>
          </a:prstGeom>
          <a:noFill/>
          <a:ln/>
        </p:spPr>
        <p:txBody>
          <a:bodyPr wrap="square" lIns="0" tIns="0" rIns="0" bIns="0" rtlCol="0" anchor="ctr"/>
          <a:lstStyle/>
          <a:p>
            <a:pPr algn="r" indent="0" marL="0">
              <a:buNone/>
            </a:pPr>
            <a:r>
              <a:rPr lang="en-US" sz="1300" b="1" dirty="0">
                <a:solidFill>
                  <a:srgbClr val="FF8A3D"/>
                </a:solidFill>
                <a:latin typeface="Arial" pitchFamily="34" charset="0"/>
                <a:ea typeface="Arial" pitchFamily="34" charset="-122"/>
                <a:cs typeface="Arial" pitchFamily="34" charset="-120"/>
              </a:rPr>
              <a:t>₹1,800</a:t>
            </a:r>
            <a:endParaRPr lang="en-US" sz="1300" dirty="0"/>
          </a:p>
        </p:txBody>
      </p:sp>
      <p:sp>
        <p:nvSpPr>
          <p:cNvPr id="23" name="Text 21"/>
          <p:cNvSpPr/>
          <p:nvPr/>
        </p:nvSpPr>
        <p:spPr>
          <a:xfrm>
            <a:off x="640080" y="5468112"/>
            <a:ext cx="3840480" cy="347472"/>
          </a:xfrm>
          <a:prstGeom prst="rect">
            <a:avLst/>
          </a:prstGeom>
          <a:noFill/>
          <a:ln/>
        </p:spPr>
        <p:txBody>
          <a:bodyPr wrap="square" lIns="0" tIns="0" rIns="0" bIns="0" rtlCol="0" anchor="ctr"/>
          <a:lstStyle/>
          <a:p>
            <a:pPr indent="0" marL="0">
              <a:buNone/>
            </a:pPr>
            <a:r>
              <a:rPr lang="en-US" sz="1150" dirty="0">
                <a:solidFill>
                  <a:srgbClr val="12141C"/>
                </a:solidFill>
                <a:latin typeface="Calibri" pitchFamily="34" charset="0"/>
                <a:ea typeface="Calibri" pitchFamily="34" charset="-122"/>
                <a:cs typeface="Calibri" pitchFamily="34" charset="-120"/>
              </a:rPr>
              <a:t>Birthday party — 3 hrs, all bays, food</a:t>
            </a:r>
            <a:endParaRPr lang="en-US" sz="1150" dirty="0"/>
          </a:p>
        </p:txBody>
      </p:sp>
      <p:sp>
        <p:nvSpPr>
          <p:cNvPr id="24" name="Text 22"/>
          <p:cNvSpPr/>
          <p:nvPr/>
        </p:nvSpPr>
        <p:spPr>
          <a:xfrm>
            <a:off x="4480560" y="5468112"/>
            <a:ext cx="1280160" cy="347472"/>
          </a:xfrm>
          <a:prstGeom prst="rect">
            <a:avLst/>
          </a:prstGeom>
          <a:noFill/>
          <a:ln/>
        </p:spPr>
        <p:txBody>
          <a:bodyPr wrap="square" lIns="0" tIns="0" rIns="0" bIns="0" rtlCol="0" anchor="ctr"/>
          <a:lstStyle/>
          <a:p>
            <a:pPr algn="r" indent="0" marL="0">
              <a:buNone/>
            </a:pPr>
            <a:r>
              <a:rPr lang="en-US" sz="1300" b="1" dirty="0">
                <a:solidFill>
                  <a:srgbClr val="FF8A3D"/>
                </a:solidFill>
                <a:latin typeface="Arial" pitchFamily="34" charset="0"/>
                <a:ea typeface="Arial" pitchFamily="34" charset="-122"/>
                <a:cs typeface="Arial" pitchFamily="34" charset="-120"/>
              </a:rPr>
              <a:t>₹4,500</a:t>
            </a:r>
            <a:endParaRPr lang="en-US" sz="1300" dirty="0"/>
          </a:p>
        </p:txBody>
      </p:sp>
      <p:sp>
        <p:nvSpPr>
          <p:cNvPr id="25" name="Shape 23"/>
          <p:cNvSpPr/>
          <p:nvPr/>
        </p:nvSpPr>
        <p:spPr>
          <a:xfrm>
            <a:off x="6309360" y="1463040"/>
            <a:ext cx="5239512" cy="4480560"/>
          </a:xfrm>
          <a:prstGeom prst="roundRect">
            <a:avLst>
              <a:gd name="adj" fmla="val 2041"/>
            </a:avLst>
          </a:prstGeom>
          <a:solidFill>
            <a:srgbClr val="12141C"/>
          </a:solidFill>
          <a:ln/>
        </p:spPr>
      </p:sp>
      <p:sp>
        <p:nvSpPr>
          <p:cNvPr id="26" name="Text 24"/>
          <p:cNvSpPr/>
          <p:nvPr/>
        </p:nvSpPr>
        <p:spPr>
          <a:xfrm>
            <a:off x="6656832" y="1737360"/>
            <a:ext cx="4572000" cy="256032"/>
          </a:xfrm>
          <a:prstGeom prst="rect">
            <a:avLst/>
          </a:prstGeom>
          <a:noFill/>
          <a:ln/>
        </p:spPr>
        <p:txBody>
          <a:bodyPr wrap="square" lIns="0" tIns="0" rIns="0" bIns="0" rtlCol="0" anchor="ctr"/>
          <a:lstStyle/>
          <a:p>
            <a:pPr indent="0" marL="0">
              <a:buNone/>
            </a:pPr>
            <a:r>
              <a:rPr lang="en-US" sz="1050" b="1" spc="150" kern="0" dirty="0">
                <a:solidFill>
                  <a:srgbClr val="FF8A3D"/>
                </a:solidFill>
                <a:latin typeface="Calibri" pitchFamily="34" charset="0"/>
                <a:ea typeface="Calibri" pitchFamily="34" charset="-122"/>
                <a:cs typeface="Calibri" pitchFamily="34" charset="-120"/>
              </a:rPr>
              <a:t>FOOD &amp; BEVERAGE</a:t>
            </a:r>
            <a:endParaRPr lang="en-US" sz="1050" dirty="0"/>
          </a:p>
        </p:txBody>
      </p:sp>
      <p:sp>
        <p:nvSpPr>
          <p:cNvPr id="27" name="Text 25"/>
          <p:cNvSpPr/>
          <p:nvPr/>
        </p:nvSpPr>
        <p:spPr>
          <a:xfrm>
            <a:off x="6656832" y="2029968"/>
            <a:ext cx="4572000" cy="6400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60–65%</a:t>
            </a:r>
            <a:endParaRPr lang="en-US" sz="3800" dirty="0"/>
          </a:p>
        </p:txBody>
      </p:sp>
      <p:sp>
        <p:nvSpPr>
          <p:cNvPr id="28" name="Text 26"/>
          <p:cNvSpPr/>
          <p:nvPr/>
        </p:nvSpPr>
        <p:spPr>
          <a:xfrm>
            <a:off x="6656832" y="2697480"/>
            <a:ext cx="4572000" cy="27432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target gross margin, at 25–30% of total revenue</a:t>
            </a:r>
            <a:endParaRPr lang="en-US" sz="1100" dirty="0"/>
          </a:p>
        </p:txBody>
      </p:sp>
      <p:sp>
        <p:nvSpPr>
          <p:cNvPr id="29" name="Text 27"/>
          <p:cNvSpPr/>
          <p:nvPr/>
        </p:nvSpPr>
        <p:spPr>
          <a:xfrm>
            <a:off x="6766560" y="3154680"/>
            <a:ext cx="4434840" cy="1691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Tea &amp; coffee — ₹30–50</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Cold and energy drinks — ₹40–90</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Maggi &amp; noodles — ₹60–80</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Grilled sandwich — ₹80–120</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Momos — ₹80–120</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Gaming combo — ₹200–250</a:t>
            </a:r>
            <a:endParaRPr lang="en-US" sz="1150" dirty="0"/>
          </a:p>
        </p:txBody>
      </p:sp>
      <p:sp>
        <p:nvSpPr>
          <p:cNvPr id="30" name="Text 28"/>
          <p:cNvSpPr/>
          <p:nvPr/>
        </p:nvSpPr>
        <p:spPr>
          <a:xfrm>
            <a:off x="6656832" y="5029200"/>
            <a:ext cx="4544568" cy="594360"/>
          </a:xfrm>
          <a:prstGeom prst="rect">
            <a:avLst/>
          </a:prstGeom>
          <a:noFill/>
          <a:ln/>
        </p:spPr>
        <p:txBody>
          <a:bodyPr wrap="square" lIns="0" tIns="0" rIns="0" bIns="0" rtlCol="0" anchor="ctr"/>
          <a:lstStyle/>
          <a:p>
            <a:pPr indent="0" marL="0">
              <a:lnSpc>
                <a:spcPts val="1400"/>
              </a:lnSpc>
              <a:buNone/>
            </a:pPr>
            <a:r>
              <a:rPr lang="en-US" sz="1100" i="1" dirty="0">
                <a:solidFill>
                  <a:srgbClr val="00C2A8"/>
                </a:solidFill>
                <a:latin typeface="Calibri" pitchFamily="34" charset="0"/>
                <a:ea typeface="Calibri" pitchFamily="34" charset="-122"/>
                <a:cs typeface="Calibri" pitchFamily="34" charset="-120"/>
              </a:rPr>
              <a:t>A customer seated for three hours orders twice. Food is not a side business — it is the margin engine.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UNIT ECONOMICS</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Breakeven sits at 37% bay utilisation</a:t>
            </a:r>
            <a:endParaRPr lang="en-US" sz="3200" dirty="0"/>
          </a:p>
        </p:txBody>
      </p:sp>
      <p:sp>
        <p:nvSpPr>
          <p:cNvPr id="4" name="Text 2"/>
          <p:cNvSpPr/>
          <p:nvPr/>
        </p:nvSpPr>
        <p:spPr>
          <a:xfrm>
            <a:off x="640080" y="1481328"/>
            <a:ext cx="10515600" cy="32004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Four bays × 12 hours = 1,440 saleable bay-hours per month, at a blended ₹160 per hour across the peak and off-peak mix.</a:t>
            </a:r>
            <a:endParaRPr lang="en-US" sz="1250" dirty="0"/>
          </a:p>
        </p:txBody>
      </p:sp>
      <p:graphicFrame>
        <p:nvGraphicFramePr>
          <p:cNvPr id="5" name="Chart 0" descr=""/>
          <p:cNvGraphicFramePr/>
          <p:nvPr/>
        </p:nvGraphicFramePr>
        <p:xfrm>
          <a:off x="640080" y="1965960"/>
          <a:ext cx="6675120" cy="3246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 y="5230368"/>
            <a:ext cx="6675120" cy="256032"/>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Bay utilisation →</a:t>
            </a:r>
            <a:endParaRPr lang="en-US" sz="1000" dirty="0"/>
          </a:p>
        </p:txBody>
      </p:sp>
      <p:sp>
        <p:nvSpPr>
          <p:cNvPr id="7" name="Shape 4"/>
          <p:cNvSpPr/>
          <p:nvPr/>
        </p:nvSpPr>
        <p:spPr>
          <a:xfrm>
            <a:off x="7772400" y="1965960"/>
            <a:ext cx="3776472" cy="960120"/>
          </a:xfrm>
          <a:prstGeom prst="roundRect">
            <a:avLst>
              <a:gd name="adj" fmla="val 9524"/>
            </a:avLst>
          </a:prstGeom>
          <a:solidFill>
            <a:srgbClr val="F3F4F7"/>
          </a:solidFill>
          <a:ln/>
        </p:spPr>
      </p:sp>
      <p:sp>
        <p:nvSpPr>
          <p:cNvPr id="8" name="Text 5"/>
          <p:cNvSpPr/>
          <p:nvPr/>
        </p:nvSpPr>
        <p:spPr>
          <a:xfrm>
            <a:off x="8065008" y="2084832"/>
            <a:ext cx="3200400" cy="475488"/>
          </a:xfrm>
          <a:prstGeom prst="rect">
            <a:avLst/>
          </a:prstGeom>
          <a:noFill/>
          <a:ln/>
        </p:spPr>
        <p:txBody>
          <a:bodyPr wrap="square" lIns="0" tIns="0" rIns="0" bIns="0" rtlCol="0" anchor="ctr"/>
          <a:lstStyle/>
          <a:p>
            <a:pPr indent="0" marL="0">
              <a:buNone/>
            </a:pPr>
            <a:r>
              <a:rPr lang="en-US" sz="2600" b="1" dirty="0">
                <a:solidFill>
                  <a:srgbClr val="12141C"/>
                </a:solidFill>
                <a:latin typeface="Arial" pitchFamily="34" charset="0"/>
                <a:ea typeface="Arial" pitchFamily="34" charset="-122"/>
                <a:cs typeface="Arial" pitchFamily="34" charset="-120"/>
              </a:rPr>
              <a:t>₹1,10,750</a:t>
            </a:r>
            <a:endParaRPr lang="en-US" sz="2600" dirty="0"/>
          </a:p>
        </p:txBody>
      </p:sp>
      <p:sp>
        <p:nvSpPr>
          <p:cNvPr id="9" name="Text 6"/>
          <p:cNvSpPr/>
          <p:nvPr/>
        </p:nvSpPr>
        <p:spPr>
          <a:xfrm>
            <a:off x="8065008" y="2578608"/>
            <a:ext cx="3200400" cy="256032"/>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Monthly operating cost</a:t>
            </a:r>
            <a:endParaRPr lang="en-US" sz="1100" dirty="0"/>
          </a:p>
        </p:txBody>
      </p:sp>
      <p:sp>
        <p:nvSpPr>
          <p:cNvPr id="10" name="Shape 7"/>
          <p:cNvSpPr/>
          <p:nvPr/>
        </p:nvSpPr>
        <p:spPr>
          <a:xfrm>
            <a:off x="7772400" y="3081528"/>
            <a:ext cx="3776472" cy="960120"/>
          </a:xfrm>
          <a:prstGeom prst="roundRect">
            <a:avLst>
              <a:gd name="adj" fmla="val 9524"/>
            </a:avLst>
          </a:prstGeom>
          <a:solidFill>
            <a:srgbClr val="F3F4F7"/>
          </a:solidFill>
          <a:ln/>
        </p:spPr>
      </p:sp>
      <p:sp>
        <p:nvSpPr>
          <p:cNvPr id="11" name="Text 8"/>
          <p:cNvSpPr/>
          <p:nvPr/>
        </p:nvSpPr>
        <p:spPr>
          <a:xfrm>
            <a:off x="8065008" y="3200400"/>
            <a:ext cx="3200400" cy="475488"/>
          </a:xfrm>
          <a:prstGeom prst="rect">
            <a:avLst/>
          </a:prstGeom>
          <a:noFill/>
          <a:ln/>
        </p:spPr>
        <p:txBody>
          <a:bodyPr wrap="square" lIns="0" tIns="0" rIns="0" bIns="0" rtlCol="0" anchor="ctr"/>
          <a:lstStyle/>
          <a:p>
            <a:pPr indent="0" marL="0">
              <a:buNone/>
            </a:pPr>
            <a:r>
              <a:rPr lang="en-US" sz="2600" b="1" dirty="0">
                <a:solidFill>
                  <a:srgbClr val="008C79"/>
                </a:solidFill>
                <a:latin typeface="Arial" pitchFamily="34" charset="0"/>
                <a:ea typeface="Arial" pitchFamily="34" charset="-122"/>
                <a:cs typeface="Arial" pitchFamily="34" charset="-120"/>
              </a:rPr>
              <a:t>37%</a:t>
            </a:r>
            <a:endParaRPr lang="en-US" sz="2600" dirty="0"/>
          </a:p>
        </p:txBody>
      </p:sp>
      <p:sp>
        <p:nvSpPr>
          <p:cNvPr id="12" name="Text 9"/>
          <p:cNvSpPr/>
          <p:nvPr/>
        </p:nvSpPr>
        <p:spPr>
          <a:xfrm>
            <a:off x="8065008" y="3694176"/>
            <a:ext cx="3200400" cy="256032"/>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Breakeven utilisation</a:t>
            </a:r>
            <a:endParaRPr lang="en-US" sz="1100" dirty="0"/>
          </a:p>
        </p:txBody>
      </p:sp>
      <p:sp>
        <p:nvSpPr>
          <p:cNvPr id="13" name="Shape 10"/>
          <p:cNvSpPr/>
          <p:nvPr/>
        </p:nvSpPr>
        <p:spPr>
          <a:xfrm>
            <a:off x="7772400" y="4197096"/>
            <a:ext cx="3776472" cy="960120"/>
          </a:xfrm>
          <a:prstGeom prst="roundRect">
            <a:avLst>
              <a:gd name="adj" fmla="val 9524"/>
            </a:avLst>
          </a:prstGeom>
          <a:solidFill>
            <a:srgbClr val="F3F4F7"/>
          </a:solidFill>
          <a:ln/>
        </p:spPr>
      </p:sp>
      <p:sp>
        <p:nvSpPr>
          <p:cNvPr id="14" name="Text 11"/>
          <p:cNvSpPr/>
          <p:nvPr/>
        </p:nvSpPr>
        <p:spPr>
          <a:xfrm>
            <a:off x="8065008" y="4315968"/>
            <a:ext cx="3200400" cy="475488"/>
          </a:xfrm>
          <a:prstGeom prst="rect">
            <a:avLst/>
          </a:prstGeom>
          <a:noFill/>
          <a:ln/>
        </p:spPr>
        <p:txBody>
          <a:bodyPr wrap="square" lIns="0" tIns="0" rIns="0" bIns="0" rtlCol="0" anchor="ctr"/>
          <a:lstStyle/>
          <a:p>
            <a:pPr indent="0" marL="0">
              <a:buNone/>
            </a:pPr>
            <a:r>
              <a:rPr lang="en-US" sz="2600" b="1" dirty="0">
                <a:solidFill>
                  <a:srgbClr val="FF8A3D"/>
                </a:solidFill>
                <a:latin typeface="Arial" pitchFamily="34" charset="0"/>
                <a:ea typeface="Arial" pitchFamily="34" charset="-122"/>
                <a:cs typeface="Arial" pitchFamily="34" charset="-120"/>
              </a:rPr>
              <a:t>9–11 mo</a:t>
            </a:r>
            <a:endParaRPr lang="en-US" sz="2600" dirty="0"/>
          </a:p>
        </p:txBody>
      </p:sp>
      <p:sp>
        <p:nvSpPr>
          <p:cNvPr id="15" name="Text 12"/>
          <p:cNvSpPr/>
          <p:nvPr/>
        </p:nvSpPr>
        <p:spPr>
          <a:xfrm>
            <a:off x="8065008" y="4809744"/>
            <a:ext cx="3200400" cy="256032"/>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Capital payback at 55%</a:t>
            </a:r>
            <a:endParaRPr lang="en-US" sz="1100" dirty="0"/>
          </a:p>
        </p:txBody>
      </p:sp>
      <p:sp>
        <p:nvSpPr>
          <p:cNvPr id="16" name="Shape 13"/>
          <p:cNvSpPr/>
          <p:nvPr/>
        </p:nvSpPr>
        <p:spPr>
          <a:xfrm>
            <a:off x="7772400" y="5312664"/>
            <a:ext cx="3776472" cy="822960"/>
          </a:xfrm>
          <a:prstGeom prst="roundRect">
            <a:avLst>
              <a:gd name="adj" fmla="val 11111"/>
            </a:avLst>
          </a:prstGeom>
          <a:solidFill>
            <a:srgbClr val="12141C"/>
          </a:solidFill>
          <a:ln/>
        </p:spPr>
      </p:sp>
      <p:sp>
        <p:nvSpPr>
          <p:cNvPr id="17" name="Text 14"/>
          <p:cNvSpPr/>
          <p:nvPr/>
        </p:nvSpPr>
        <p:spPr>
          <a:xfrm>
            <a:off x="8065008" y="5431536"/>
            <a:ext cx="3246120" cy="621792"/>
          </a:xfrm>
          <a:prstGeom prst="rect">
            <a:avLst/>
          </a:prstGeom>
          <a:noFill/>
          <a:ln/>
        </p:spPr>
        <p:txBody>
          <a:bodyPr wrap="square" lIns="0" tIns="0" rIns="0" bIns="0" rtlCol="0" anchor="ctr"/>
          <a:lstStyle/>
          <a:p>
            <a:pPr indent="0" marL="0">
              <a:lnSpc>
                <a:spcPts val="1300"/>
              </a:lnSpc>
              <a:buNone/>
            </a:pPr>
            <a:r>
              <a:rPr lang="en-US" sz="1000" dirty="0">
                <a:solidFill>
                  <a:srgbClr val="FFFFFF"/>
                </a:solidFill>
                <a:latin typeface="Calibri" pitchFamily="34" charset="0"/>
                <a:ea typeface="Calibri" pitchFamily="34" charset="-122"/>
                <a:cs typeface="Calibri" pitchFamily="34" charset="-120"/>
              </a:rPr>
              <a:t>Below 30% we lose money. The entire operating playbook — off-peak pricing, student passes, weekly tournaments — exists to move this one number.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INVESTMENT REQUIRED</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Where the capital goes</a:t>
            </a:r>
            <a:endParaRPr lang="en-US" sz="3200" dirty="0"/>
          </a:p>
        </p:txBody>
      </p:sp>
      <p:graphicFrame>
        <p:nvGraphicFramePr>
          <p:cNvPr id="4" name="Chart 0" descr=""/>
          <p:cNvGraphicFramePr/>
          <p:nvPr/>
        </p:nvGraphicFramePr>
        <p:xfrm>
          <a:off x="457200" y="1600200"/>
          <a:ext cx="5486400" cy="4069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537960" y="1600200"/>
            <a:ext cx="4937760" cy="256032"/>
          </a:xfrm>
          <a:prstGeom prst="rect">
            <a:avLst/>
          </a:prstGeom>
          <a:noFill/>
          <a:ln/>
        </p:spPr>
        <p:txBody>
          <a:bodyPr wrap="square" lIns="0" tIns="0" rIns="0" bIns="0" rtlCol="0" anchor="ctr"/>
          <a:lstStyle/>
          <a:p>
            <a:pPr indent="0" marL="0">
              <a:buNone/>
            </a:pPr>
            <a:r>
              <a:rPr lang="en-US" sz="1050" b="1" spc="150" kern="0" dirty="0">
                <a:solidFill>
                  <a:srgbClr val="00C2A8"/>
                </a:solidFill>
                <a:latin typeface="Calibri" pitchFamily="34" charset="0"/>
                <a:ea typeface="Calibri" pitchFamily="34" charset="-122"/>
                <a:cs typeface="Calibri" pitchFamily="34" charset="-120"/>
              </a:rPr>
              <a:t>TOTAL CAPITAL EXPENDITURE</a:t>
            </a:r>
            <a:endParaRPr lang="en-US" sz="1050" dirty="0"/>
          </a:p>
        </p:txBody>
      </p:sp>
      <p:sp>
        <p:nvSpPr>
          <p:cNvPr id="6" name="Text 3"/>
          <p:cNvSpPr/>
          <p:nvPr/>
        </p:nvSpPr>
        <p:spPr>
          <a:xfrm>
            <a:off x="6537960" y="1874520"/>
            <a:ext cx="4937760" cy="777240"/>
          </a:xfrm>
          <a:prstGeom prst="rect">
            <a:avLst/>
          </a:prstGeom>
          <a:noFill/>
          <a:ln/>
        </p:spPr>
        <p:txBody>
          <a:bodyPr wrap="square" lIns="0" tIns="0" rIns="0" bIns="0" rtlCol="0" anchor="ctr"/>
          <a:lstStyle/>
          <a:p>
            <a:pPr indent="0" marL="0">
              <a:buNone/>
            </a:pPr>
            <a:r>
              <a:rPr lang="en-US" sz="4400" b="1" dirty="0">
                <a:solidFill>
                  <a:srgbClr val="12141C"/>
                </a:solidFill>
                <a:latin typeface="Arial" pitchFamily="34" charset="0"/>
                <a:ea typeface="Arial" pitchFamily="34" charset="-122"/>
                <a:cs typeface="Arial" pitchFamily="34" charset="-120"/>
              </a:rPr>
              <a:t>₹4,68,600</a:t>
            </a:r>
            <a:endParaRPr lang="en-US" sz="4400" dirty="0"/>
          </a:p>
        </p:txBody>
      </p:sp>
      <p:sp>
        <p:nvSpPr>
          <p:cNvPr id="7" name="Shape 4"/>
          <p:cNvSpPr/>
          <p:nvPr/>
        </p:nvSpPr>
        <p:spPr>
          <a:xfrm>
            <a:off x="6537960" y="2788920"/>
            <a:ext cx="5010912" cy="1371600"/>
          </a:xfrm>
          <a:prstGeom prst="roundRect">
            <a:avLst>
              <a:gd name="adj" fmla="val 6667"/>
            </a:avLst>
          </a:prstGeom>
          <a:solidFill>
            <a:srgbClr val="FFE8D6"/>
          </a:solidFill>
          <a:ln/>
        </p:spPr>
      </p:sp>
      <p:sp>
        <p:nvSpPr>
          <p:cNvPr id="8" name="Text 5"/>
          <p:cNvSpPr/>
          <p:nvPr/>
        </p:nvSpPr>
        <p:spPr>
          <a:xfrm>
            <a:off x="6858000" y="2944368"/>
            <a:ext cx="4389120" cy="274320"/>
          </a:xfrm>
          <a:prstGeom prst="rect">
            <a:avLst/>
          </a:prstGeom>
          <a:noFill/>
          <a:ln/>
        </p:spPr>
        <p:txBody>
          <a:bodyPr wrap="square" lIns="0" tIns="0" rIns="0" bIns="0" rtlCol="0" anchor="ctr"/>
          <a:lstStyle/>
          <a:p>
            <a:pPr indent="0" marL="0">
              <a:buNone/>
            </a:pPr>
            <a:r>
              <a:rPr lang="en-US" sz="1300" b="1" dirty="0">
                <a:solidFill>
                  <a:srgbClr val="8A4A15"/>
                </a:solidFill>
                <a:latin typeface="Arial" pitchFamily="34" charset="0"/>
                <a:ea typeface="Arial" pitchFamily="34" charset="-122"/>
                <a:cs typeface="Arial" pitchFamily="34" charset="-120"/>
              </a:rPr>
              <a:t>A note on candour</a:t>
            </a:r>
            <a:endParaRPr lang="en-US" sz="1300" dirty="0"/>
          </a:p>
        </p:txBody>
      </p:sp>
      <p:sp>
        <p:nvSpPr>
          <p:cNvPr id="9" name="Text 6"/>
          <p:cNvSpPr/>
          <p:nvPr/>
        </p:nvSpPr>
        <p:spPr>
          <a:xfrm>
            <a:off x="6858000" y="3236976"/>
            <a:ext cx="4389120" cy="841248"/>
          </a:xfrm>
          <a:prstGeom prst="rect">
            <a:avLst/>
          </a:prstGeom>
          <a:noFill/>
          <a:ln/>
        </p:spPr>
        <p:txBody>
          <a:bodyPr wrap="square" lIns="0" tIns="0" rIns="0" bIns="0" rtlCol="0" anchor="ctr"/>
          <a:lstStyle/>
          <a:p>
            <a:pPr indent="0" marL="0">
              <a:lnSpc>
                <a:spcPts val="1350"/>
              </a:lnSpc>
              <a:buNone/>
            </a:pPr>
            <a:r>
              <a:rPr lang="en-US" sz="1050" dirty="0">
                <a:solidFill>
                  <a:srgbClr val="6B4318"/>
                </a:solidFill>
                <a:latin typeface="Calibri" pitchFamily="34" charset="0"/>
                <a:ea typeface="Calibri" pitchFamily="34" charset="-122"/>
                <a:cs typeface="Calibri" pitchFamily="34" charset="-120"/>
              </a:rPr>
              <a:t>Fully costed — including insurance, acoustic treatment and networking — capital expenditure exceeds an initial ₹4.5 lakh estimate by ₹18,600, and leaves no cash buffer at all. We are presenting the real number rather than the convenient one.</a:t>
            </a:r>
            <a:endParaRPr lang="en-US" sz="1050" dirty="0"/>
          </a:p>
        </p:txBody>
      </p:sp>
      <p:sp>
        <p:nvSpPr>
          <p:cNvPr id="10" name="Text 7"/>
          <p:cNvSpPr/>
          <p:nvPr/>
        </p:nvSpPr>
        <p:spPr>
          <a:xfrm>
            <a:off x="6537960" y="4315968"/>
            <a:ext cx="1051560" cy="365760"/>
          </a:xfrm>
          <a:prstGeom prst="rect">
            <a:avLst/>
          </a:prstGeom>
          <a:noFill/>
          <a:ln/>
        </p:spPr>
        <p:txBody>
          <a:bodyPr wrap="square" lIns="0" tIns="0" rIns="0" bIns="0" rtlCol="0" anchor="ctr"/>
          <a:lstStyle/>
          <a:p>
            <a:pPr indent="0" marL="0">
              <a:buNone/>
            </a:pPr>
            <a:r>
              <a:rPr lang="en-US" sz="1600" b="1" dirty="0">
                <a:solidFill>
                  <a:srgbClr val="D64550"/>
                </a:solidFill>
                <a:latin typeface="Arial" pitchFamily="34" charset="0"/>
                <a:ea typeface="Arial" pitchFamily="34" charset="-122"/>
                <a:cs typeface="Arial" pitchFamily="34" charset="-120"/>
              </a:rPr>
              <a:t>₹4.5L</a:t>
            </a:r>
            <a:endParaRPr lang="en-US" sz="1600" dirty="0"/>
          </a:p>
        </p:txBody>
      </p:sp>
      <p:sp>
        <p:nvSpPr>
          <p:cNvPr id="11" name="Text 8"/>
          <p:cNvSpPr/>
          <p:nvPr/>
        </p:nvSpPr>
        <p:spPr>
          <a:xfrm>
            <a:off x="7680960" y="4315968"/>
            <a:ext cx="384048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3 bays only. Breakeven rises to ~50%.</a:t>
            </a:r>
            <a:endParaRPr lang="en-US" sz="1100" dirty="0"/>
          </a:p>
        </p:txBody>
      </p:sp>
      <p:sp>
        <p:nvSpPr>
          <p:cNvPr id="12" name="Text 9"/>
          <p:cNvSpPr/>
          <p:nvPr/>
        </p:nvSpPr>
        <p:spPr>
          <a:xfrm>
            <a:off x="6537960" y="4864608"/>
            <a:ext cx="1051560" cy="365760"/>
          </a:xfrm>
          <a:prstGeom prst="rect">
            <a:avLst/>
          </a:prstGeom>
          <a:noFill/>
          <a:ln/>
        </p:spPr>
        <p:txBody>
          <a:bodyPr wrap="square" lIns="0" tIns="0" rIns="0" bIns="0" rtlCol="0" anchor="ctr"/>
          <a:lstStyle/>
          <a:p>
            <a:pPr indent="0" marL="0">
              <a:buNone/>
            </a:pPr>
            <a:r>
              <a:rPr lang="en-US" sz="1600" b="1" dirty="0">
                <a:solidFill>
                  <a:srgbClr val="008C79"/>
                </a:solidFill>
                <a:latin typeface="Arial" pitchFamily="34" charset="0"/>
                <a:ea typeface="Arial" pitchFamily="34" charset="-122"/>
                <a:cs typeface="Arial" pitchFamily="34" charset="-120"/>
              </a:rPr>
              <a:t>₹5.5L</a:t>
            </a:r>
            <a:endParaRPr lang="en-US" sz="1600" dirty="0"/>
          </a:p>
        </p:txBody>
      </p:sp>
      <p:sp>
        <p:nvSpPr>
          <p:cNvPr id="13" name="Text 10"/>
          <p:cNvSpPr/>
          <p:nvPr/>
        </p:nvSpPr>
        <p:spPr>
          <a:xfrm>
            <a:off x="7680960" y="4864608"/>
            <a:ext cx="384048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 bays + 3-week buffer. Minimum viable.</a:t>
            </a:r>
            <a:endParaRPr lang="en-US" sz="1100" dirty="0"/>
          </a:p>
        </p:txBody>
      </p:sp>
      <p:sp>
        <p:nvSpPr>
          <p:cNvPr id="14" name="Text 11"/>
          <p:cNvSpPr/>
          <p:nvPr/>
        </p:nvSpPr>
        <p:spPr>
          <a:xfrm>
            <a:off x="6537960" y="5413248"/>
            <a:ext cx="1051560" cy="365760"/>
          </a:xfrm>
          <a:prstGeom prst="rect">
            <a:avLst/>
          </a:prstGeom>
          <a:noFill/>
          <a:ln/>
        </p:spPr>
        <p:txBody>
          <a:bodyPr wrap="square" lIns="0" tIns="0" rIns="0" bIns="0" rtlCol="0" anchor="ctr"/>
          <a:lstStyle/>
          <a:p>
            <a:pPr indent="0" marL="0">
              <a:buNone/>
            </a:pPr>
            <a:r>
              <a:rPr lang="en-US" sz="1600" b="1" dirty="0">
                <a:solidFill>
                  <a:srgbClr val="00C2A8"/>
                </a:solidFill>
                <a:latin typeface="Arial" pitchFamily="34" charset="0"/>
                <a:ea typeface="Arial" pitchFamily="34" charset="-122"/>
                <a:cs typeface="Arial" pitchFamily="34" charset="-120"/>
              </a:rPr>
              <a:t>₹6.5L</a:t>
            </a:r>
            <a:endParaRPr lang="en-US" sz="1600" dirty="0"/>
          </a:p>
        </p:txBody>
      </p:sp>
      <p:sp>
        <p:nvSpPr>
          <p:cNvPr id="15" name="Text 12"/>
          <p:cNvSpPr/>
          <p:nvPr/>
        </p:nvSpPr>
        <p:spPr>
          <a:xfrm>
            <a:off x="7680960" y="5413248"/>
            <a:ext cx="384048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4 bays + 7-week buffer. Recommended.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COST STRUCTURE</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₹1,10,750 per month to keep the doors open</a:t>
            </a:r>
            <a:endParaRPr lang="en-US" sz="3200" dirty="0"/>
          </a:p>
        </p:txBody>
      </p:sp>
      <p:graphicFrame>
        <p:nvGraphicFramePr>
          <p:cNvPr id="4" name="Chart 0" descr=""/>
          <p:cNvGraphicFramePr/>
          <p:nvPr/>
        </p:nvGraphicFramePr>
        <p:xfrm>
          <a:off x="640080" y="1554480"/>
          <a:ext cx="685800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554480"/>
            <a:ext cx="3776472" cy="1920240"/>
          </a:xfrm>
          <a:prstGeom prst="roundRect">
            <a:avLst>
              <a:gd name="adj" fmla="val 4762"/>
            </a:avLst>
          </a:prstGeom>
          <a:solidFill>
            <a:srgbClr val="12141C"/>
          </a:solidFill>
          <a:ln/>
        </p:spPr>
      </p:sp>
      <p:sp>
        <p:nvSpPr>
          <p:cNvPr id="6" name="Text 3"/>
          <p:cNvSpPr/>
          <p:nvPr/>
        </p:nvSpPr>
        <p:spPr>
          <a:xfrm>
            <a:off x="8065008" y="1783080"/>
            <a:ext cx="3200400" cy="256032"/>
          </a:xfrm>
          <a:prstGeom prst="rect">
            <a:avLst/>
          </a:prstGeom>
          <a:noFill/>
          <a:ln/>
        </p:spPr>
        <p:txBody>
          <a:bodyPr wrap="square" lIns="0" tIns="0" rIns="0" bIns="0" rtlCol="0" anchor="ctr"/>
          <a:lstStyle/>
          <a:p>
            <a:pPr indent="0" marL="0">
              <a:buNone/>
            </a:pPr>
            <a:r>
              <a:rPr lang="en-US" sz="1000" b="1" spc="150" kern="0" dirty="0">
                <a:solidFill>
                  <a:srgbClr val="FF8A3D"/>
                </a:solidFill>
                <a:latin typeface="Calibri" pitchFamily="34" charset="0"/>
                <a:ea typeface="Calibri" pitchFamily="34" charset="-122"/>
                <a:cs typeface="Calibri" pitchFamily="34" charset="-120"/>
              </a:rPr>
              <a:t>THE RENTAL LINE</a:t>
            </a:r>
            <a:endParaRPr lang="en-US" sz="1000" dirty="0"/>
          </a:p>
        </p:txBody>
      </p:sp>
      <p:sp>
        <p:nvSpPr>
          <p:cNvPr id="7" name="Text 4"/>
          <p:cNvSpPr/>
          <p:nvPr/>
        </p:nvSpPr>
        <p:spPr>
          <a:xfrm>
            <a:off x="8065008" y="2057400"/>
            <a:ext cx="320040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₹32,100</a:t>
            </a:r>
            <a:endParaRPr lang="en-US" sz="2800" dirty="0"/>
          </a:p>
        </p:txBody>
      </p:sp>
      <p:sp>
        <p:nvSpPr>
          <p:cNvPr id="8" name="Text 5"/>
          <p:cNvSpPr/>
          <p:nvPr/>
        </p:nvSpPr>
        <p:spPr>
          <a:xfrm>
            <a:off x="8065008" y="2651760"/>
            <a:ext cx="3200400" cy="713232"/>
          </a:xfrm>
          <a:prstGeom prst="rect">
            <a:avLst/>
          </a:prstGeom>
          <a:noFill/>
          <a:ln/>
        </p:spPr>
        <p:txBody>
          <a:bodyPr wrap="square" lIns="0" tIns="0" rIns="0" bIns="0" rtlCol="0" anchor="ctr"/>
          <a:lstStyle/>
          <a:p>
            <a:pPr indent="0" marL="0">
              <a:lnSpc>
                <a:spcPts val="1300"/>
              </a:lnSpc>
              <a:buNone/>
            </a:pPr>
            <a:r>
              <a:rPr lang="en-US" sz="1000" dirty="0">
                <a:solidFill>
                  <a:srgbClr val="9CA3AF"/>
                </a:solidFill>
                <a:latin typeface="Calibri" pitchFamily="34" charset="0"/>
                <a:ea typeface="Calibri" pitchFamily="34" charset="-122"/>
                <a:cs typeface="Calibri" pitchFamily="34" charset="-120"/>
              </a:rPr>
              <a:t>Our largest single cost, and the one that falls away. Converting three leased consoles to owned units from Month 6 removes roughly ₹20,000 per month.</a:t>
            </a:r>
            <a:endParaRPr lang="en-US" sz="1000" dirty="0"/>
          </a:p>
        </p:txBody>
      </p:sp>
      <p:sp>
        <p:nvSpPr>
          <p:cNvPr id="9" name="Shape 6"/>
          <p:cNvSpPr/>
          <p:nvPr/>
        </p:nvSpPr>
        <p:spPr>
          <a:xfrm>
            <a:off x="7772400" y="3611880"/>
            <a:ext cx="3776472" cy="1920240"/>
          </a:xfrm>
          <a:prstGeom prst="roundRect">
            <a:avLst>
              <a:gd name="adj" fmla="val 4762"/>
            </a:avLst>
          </a:prstGeom>
          <a:solidFill>
            <a:srgbClr val="D9F5F0"/>
          </a:solidFill>
          <a:ln/>
        </p:spPr>
      </p:sp>
      <p:sp>
        <p:nvSpPr>
          <p:cNvPr id="10" name="Text 7"/>
          <p:cNvSpPr/>
          <p:nvPr/>
        </p:nvSpPr>
        <p:spPr>
          <a:xfrm>
            <a:off x="8065008" y="3840480"/>
            <a:ext cx="3200400" cy="256032"/>
          </a:xfrm>
          <a:prstGeom prst="rect">
            <a:avLst/>
          </a:prstGeom>
          <a:noFill/>
          <a:ln/>
        </p:spPr>
        <p:txBody>
          <a:bodyPr wrap="square" lIns="0" tIns="0" rIns="0" bIns="0" rtlCol="0" anchor="ctr"/>
          <a:lstStyle/>
          <a:p>
            <a:pPr indent="0" marL="0">
              <a:buNone/>
            </a:pPr>
            <a:r>
              <a:rPr lang="en-US" sz="1000" b="1" spc="150" kern="0" dirty="0">
                <a:solidFill>
                  <a:srgbClr val="008C79"/>
                </a:solidFill>
                <a:latin typeface="Calibri" pitchFamily="34" charset="0"/>
                <a:ea typeface="Calibri" pitchFamily="34" charset="-122"/>
                <a:cs typeface="Calibri" pitchFamily="34" charset="-120"/>
              </a:rPr>
              <a:t>COST ADVANTAGE</a:t>
            </a:r>
            <a:endParaRPr lang="en-US" sz="1000" dirty="0"/>
          </a:p>
        </p:txBody>
      </p:sp>
      <p:sp>
        <p:nvSpPr>
          <p:cNvPr id="11" name="Text 8"/>
          <p:cNvSpPr/>
          <p:nvPr/>
        </p:nvSpPr>
        <p:spPr>
          <a:xfrm>
            <a:off x="8065008" y="4114800"/>
            <a:ext cx="3200400" cy="548640"/>
          </a:xfrm>
          <a:prstGeom prst="rect">
            <a:avLst/>
          </a:prstGeom>
          <a:noFill/>
          <a:ln/>
        </p:spPr>
        <p:txBody>
          <a:bodyPr wrap="square" lIns="0" tIns="0" rIns="0" bIns="0" rtlCol="0" anchor="ctr"/>
          <a:lstStyle/>
          <a:p>
            <a:pPr indent="0" marL="0">
              <a:buNone/>
            </a:pPr>
            <a:r>
              <a:rPr lang="en-US" sz="2800" b="1" dirty="0">
                <a:solidFill>
                  <a:srgbClr val="12141C"/>
                </a:solidFill>
                <a:latin typeface="Arial" pitchFamily="34" charset="0"/>
                <a:ea typeface="Arial" pitchFamily="34" charset="-122"/>
                <a:cs typeface="Arial" pitchFamily="34" charset="-120"/>
              </a:rPr>
              <a:t>₹14,000</a:t>
            </a:r>
            <a:endParaRPr lang="en-US" sz="2800" dirty="0"/>
          </a:p>
        </p:txBody>
      </p:sp>
      <p:sp>
        <p:nvSpPr>
          <p:cNvPr id="12" name="Text 9"/>
          <p:cNvSpPr/>
          <p:nvPr/>
        </p:nvSpPr>
        <p:spPr>
          <a:xfrm>
            <a:off x="8065008" y="4709160"/>
            <a:ext cx="3200400" cy="713232"/>
          </a:xfrm>
          <a:prstGeom prst="rect">
            <a:avLst/>
          </a:prstGeom>
          <a:noFill/>
          <a:ln/>
        </p:spPr>
        <p:txBody>
          <a:bodyPr wrap="square" lIns="0" tIns="0" rIns="0" bIns="0" rtlCol="0" anchor="ctr"/>
          <a:lstStyle/>
          <a:p>
            <a:pPr indent="0" marL="0">
              <a:lnSpc>
                <a:spcPts val="1300"/>
              </a:lnSpc>
              <a:buNone/>
            </a:pPr>
            <a:r>
              <a:rPr lang="en-US" sz="1000" dirty="0">
                <a:solidFill>
                  <a:srgbClr val="4A5160"/>
                </a:solidFill>
                <a:latin typeface="Calibri" pitchFamily="34" charset="0"/>
                <a:ea typeface="Calibri" pitchFamily="34" charset="-122"/>
                <a:cs typeface="Calibri" pitchFamily="34" charset="-120"/>
              </a:rPr>
              <a:t>Monthly electricity. Four consoles draw roughly a third of what ten gaming PCs would — a structural saving from choosing console over PC.</a:t>
            </a:r>
            <a:endParaRPr lang="en-US" sz="1000" dirty="0"/>
          </a:p>
        </p:txBody>
      </p:sp>
      <p:sp>
        <p:nvSpPr>
          <p:cNvPr id="13" name="Text 10"/>
          <p:cNvSpPr/>
          <p:nvPr/>
        </p:nvSpPr>
        <p:spPr>
          <a:xfrm>
            <a:off x="640080" y="5715000"/>
            <a:ext cx="10911535" cy="320040"/>
          </a:xfrm>
          <a:prstGeom prst="rect">
            <a:avLst/>
          </a:prstGeom>
          <a:noFill/>
          <a:ln/>
        </p:spPr>
        <p:txBody>
          <a:bodyPr wrap="square" lIns="0" tIns="0" rIns="0" bIns="0" rtlCol="0" anchor="ctr"/>
          <a:lstStyle/>
          <a:p>
            <a:pPr indent="0" marL="0">
              <a:buNone/>
            </a:pPr>
            <a:r>
              <a:rPr lang="en-US" sz="1150" i="1" dirty="0">
                <a:solidFill>
                  <a:srgbClr val="008C79"/>
                </a:solidFill>
                <a:latin typeface="Calibri" pitchFamily="34" charset="0"/>
                <a:ea typeface="Calibri" pitchFamily="34" charset="-122"/>
                <a:cs typeface="Calibri" pitchFamily="34" charset="-120"/>
              </a:rPr>
              <a:t>Fixed costs are ₹67,600. Every rupee of revenue above that contributes at very high margin — which is why utilisation, not pricing, is the lever we manage.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FINANCIAL PROJECTION</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The path to profitability</a:t>
            </a:r>
            <a:endParaRPr lang="en-US" sz="3200" dirty="0"/>
          </a:p>
        </p:txBody>
      </p:sp>
      <p:graphicFrame>
        <p:nvGraphicFramePr>
          <p:cNvPr id="4" name="Chart 0" descr=""/>
          <p:cNvGraphicFramePr/>
          <p:nvPr/>
        </p:nvGraphicFramePr>
        <p:xfrm>
          <a:off x="640080" y="1536192"/>
          <a:ext cx="7360920" cy="37947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275320" y="1600200"/>
            <a:ext cx="3246120" cy="274320"/>
          </a:xfrm>
          <a:prstGeom prst="rect">
            <a:avLst/>
          </a:prstGeom>
          <a:noFill/>
          <a:ln/>
        </p:spPr>
        <p:txBody>
          <a:bodyPr wrap="square" lIns="0" tIns="0" rIns="0" bIns="0" rtlCol="0" anchor="ctr"/>
          <a:lstStyle/>
          <a:p>
            <a:pPr indent="0" marL="0">
              <a:buNone/>
            </a:pPr>
            <a:r>
              <a:rPr lang="en-US" sz="1300" b="1" dirty="0">
                <a:solidFill>
                  <a:srgbClr val="D64550"/>
                </a:solidFill>
                <a:latin typeface="Arial" pitchFamily="34" charset="0"/>
                <a:ea typeface="Arial" pitchFamily="34" charset="-122"/>
                <a:cs typeface="Arial" pitchFamily="34" charset="-120"/>
              </a:rPr>
              <a:t>Months 1–2</a:t>
            </a:r>
            <a:endParaRPr lang="en-US" sz="1300" dirty="0"/>
          </a:p>
        </p:txBody>
      </p:sp>
      <p:sp>
        <p:nvSpPr>
          <p:cNvPr id="6" name="Text 3"/>
          <p:cNvSpPr/>
          <p:nvPr/>
        </p:nvSpPr>
        <p:spPr>
          <a:xfrm>
            <a:off x="8275320" y="1874520"/>
            <a:ext cx="3246120" cy="960120"/>
          </a:xfrm>
          <a:prstGeom prst="rect">
            <a:avLst/>
          </a:prstGeom>
          <a:noFill/>
          <a:ln/>
        </p:spPr>
        <p:txBody>
          <a:bodyPr wrap="square" lIns="0" tIns="0" rIns="0" bIns="0" rtlCol="0" anchor="t"/>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Loss-making by design. Opening-week discounting buys reviews and word of mouth, not margin.</a:t>
            </a:r>
            <a:endParaRPr lang="en-US" sz="1100" dirty="0"/>
          </a:p>
        </p:txBody>
      </p:sp>
      <p:sp>
        <p:nvSpPr>
          <p:cNvPr id="7" name="Text 4"/>
          <p:cNvSpPr/>
          <p:nvPr/>
        </p:nvSpPr>
        <p:spPr>
          <a:xfrm>
            <a:off x="8275320" y="2971800"/>
            <a:ext cx="3246120" cy="274320"/>
          </a:xfrm>
          <a:prstGeom prst="rect">
            <a:avLst/>
          </a:prstGeom>
          <a:noFill/>
          <a:ln/>
        </p:spPr>
        <p:txBody>
          <a:bodyPr wrap="square" lIns="0" tIns="0" rIns="0" bIns="0" rtlCol="0" anchor="ctr"/>
          <a:lstStyle/>
          <a:p>
            <a:pPr indent="0" marL="0">
              <a:buNone/>
            </a:pPr>
            <a:r>
              <a:rPr lang="en-US" sz="1300" b="1" dirty="0">
                <a:solidFill>
                  <a:srgbClr val="FF8A3D"/>
                </a:solidFill>
                <a:latin typeface="Arial" pitchFamily="34" charset="0"/>
                <a:ea typeface="Arial" pitchFamily="34" charset="-122"/>
                <a:cs typeface="Arial" pitchFamily="34" charset="-120"/>
              </a:rPr>
              <a:t>Month 3–4</a:t>
            </a:r>
            <a:endParaRPr lang="en-US" sz="1300" dirty="0"/>
          </a:p>
        </p:txBody>
      </p:sp>
      <p:sp>
        <p:nvSpPr>
          <p:cNvPr id="8" name="Text 5"/>
          <p:cNvSpPr/>
          <p:nvPr/>
        </p:nvSpPr>
        <p:spPr>
          <a:xfrm>
            <a:off x="8275320" y="3246120"/>
            <a:ext cx="3246120" cy="960120"/>
          </a:xfrm>
          <a:prstGeom prst="rect">
            <a:avLst/>
          </a:prstGeom>
          <a:noFill/>
          <a:ln/>
        </p:spPr>
        <p:txBody>
          <a:bodyPr wrap="square" lIns="0" tIns="0" rIns="0" bIns="0" rtlCol="0" anchor="t"/>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Crossover. Breakeven reached as the tournament programme and off-peak passes build a regular base.</a:t>
            </a:r>
            <a:endParaRPr lang="en-US" sz="1100" dirty="0"/>
          </a:p>
        </p:txBody>
      </p:sp>
      <p:sp>
        <p:nvSpPr>
          <p:cNvPr id="9" name="Text 6"/>
          <p:cNvSpPr/>
          <p:nvPr/>
        </p:nvSpPr>
        <p:spPr>
          <a:xfrm>
            <a:off x="8275320" y="4343400"/>
            <a:ext cx="3246120" cy="274320"/>
          </a:xfrm>
          <a:prstGeom prst="rect">
            <a:avLst/>
          </a:prstGeom>
          <a:noFill/>
          <a:ln/>
        </p:spPr>
        <p:txBody>
          <a:bodyPr wrap="square" lIns="0" tIns="0" rIns="0" bIns="0" rtlCol="0" anchor="ctr"/>
          <a:lstStyle/>
          <a:p>
            <a:pPr indent="0" marL="0">
              <a:buNone/>
            </a:pPr>
            <a:r>
              <a:rPr lang="en-US" sz="1300" b="1" dirty="0">
                <a:solidFill>
                  <a:srgbClr val="008C79"/>
                </a:solidFill>
                <a:latin typeface="Arial" pitchFamily="34" charset="0"/>
                <a:ea typeface="Arial" pitchFamily="34" charset="-122"/>
                <a:cs typeface="Arial" pitchFamily="34" charset="-120"/>
              </a:rPr>
              <a:t>Month 6+</a:t>
            </a:r>
            <a:endParaRPr lang="en-US" sz="1300" dirty="0"/>
          </a:p>
        </p:txBody>
      </p:sp>
      <p:sp>
        <p:nvSpPr>
          <p:cNvPr id="10" name="Text 7"/>
          <p:cNvSpPr/>
          <p:nvPr/>
        </p:nvSpPr>
        <p:spPr>
          <a:xfrm>
            <a:off x="8275320" y="4617720"/>
            <a:ext cx="3246120" cy="960120"/>
          </a:xfrm>
          <a:prstGeom prst="rect">
            <a:avLst/>
          </a:prstGeom>
          <a:noFill/>
          <a:ln/>
        </p:spPr>
        <p:txBody>
          <a:bodyPr wrap="square" lIns="0" tIns="0" rIns="0" bIns="0" rtlCol="0" anchor="t"/>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Cost base falls as leased consoles convert to owned. Margin expands without new revenue.</a:t>
            </a:r>
            <a:endParaRPr lang="en-US" sz="1100" dirty="0"/>
          </a:p>
        </p:txBody>
      </p:sp>
      <p:sp>
        <p:nvSpPr>
          <p:cNvPr id="11" name="Text 8"/>
          <p:cNvSpPr/>
          <p:nvPr/>
        </p:nvSpPr>
        <p:spPr>
          <a:xfrm>
            <a:off x="640080" y="5623560"/>
            <a:ext cx="10911535" cy="457200"/>
          </a:xfrm>
          <a:prstGeom prst="rect">
            <a:avLst/>
          </a:prstGeom>
          <a:noFill/>
          <a:ln/>
        </p:spPr>
        <p:txBody>
          <a:bodyPr wrap="square" lIns="0" tIns="0" rIns="0" bIns="0" rtlCol="0" anchor="ctr"/>
          <a:lstStyle/>
          <a:p>
            <a:pPr indent="0" marL="0">
              <a:lnSpc>
                <a:spcPts val="1400"/>
              </a:lnSpc>
              <a:buNone/>
            </a:pPr>
            <a:r>
              <a:rPr lang="en-US" sz="1100" i="1" dirty="0">
                <a:solidFill>
                  <a:srgbClr val="6B7280"/>
                </a:solidFill>
                <a:latin typeface="Calibri" pitchFamily="34" charset="0"/>
                <a:ea typeface="Calibri" pitchFamily="34" charset="-122"/>
                <a:cs typeface="Calibri" pitchFamily="34" charset="-120"/>
              </a:rPr>
              <a:t>Projection assumes utilisation rising from roughly 27% in Month 1 to 55% by Month 6 — the operating plan is what delivers that curve. It is an assumption to be tested, not a promise.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OPERATIONS &amp; TECHNOLOGY</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Built to run on systems, not memory</a:t>
            </a:r>
            <a:endParaRPr lang="en-US" sz="3200" dirty="0"/>
          </a:p>
        </p:txBody>
      </p:sp>
      <p:sp>
        <p:nvSpPr>
          <p:cNvPr id="4" name="Shape 2"/>
          <p:cNvSpPr/>
          <p:nvPr/>
        </p:nvSpPr>
        <p:spPr>
          <a:xfrm>
            <a:off x="640080" y="1572768"/>
            <a:ext cx="5330952" cy="1920240"/>
          </a:xfrm>
          <a:prstGeom prst="roundRect">
            <a:avLst>
              <a:gd name="adj" fmla="val 4762"/>
            </a:avLst>
          </a:prstGeom>
          <a:solidFill>
            <a:srgbClr val="F3F4F7"/>
          </a:solidFill>
          <a:ln/>
        </p:spPr>
      </p:sp>
      <p:sp>
        <p:nvSpPr>
          <p:cNvPr id="5" name="Text 3"/>
          <p:cNvSpPr/>
          <p:nvPr/>
        </p:nvSpPr>
        <p:spPr>
          <a:xfrm>
            <a:off x="987552" y="1773936"/>
            <a:ext cx="4617720" cy="457200"/>
          </a:xfrm>
          <a:prstGeom prst="rect">
            <a:avLst/>
          </a:prstGeom>
          <a:noFill/>
          <a:ln/>
        </p:spPr>
        <p:txBody>
          <a:bodyPr wrap="square" lIns="0" tIns="0" rIns="0" bIns="0" rtlCol="0" anchor="ctr"/>
          <a:lstStyle/>
          <a:p>
            <a:pPr indent="0" marL="0">
              <a:buNone/>
            </a:pPr>
            <a:r>
              <a:rPr lang="en-US" sz="2400" b="1" dirty="0">
                <a:solidFill>
                  <a:srgbClr val="008C79"/>
                </a:solidFill>
                <a:latin typeface="Arial" pitchFamily="34" charset="0"/>
                <a:ea typeface="Arial" pitchFamily="34" charset="-122"/>
                <a:cs typeface="Arial" pitchFamily="34" charset="-120"/>
              </a:rPr>
              <a:t>300 Mbps</a:t>
            </a:r>
            <a:endParaRPr lang="en-US" sz="2400" dirty="0"/>
          </a:p>
        </p:txBody>
      </p:sp>
      <p:sp>
        <p:nvSpPr>
          <p:cNvPr id="6" name="Text 4"/>
          <p:cNvSpPr/>
          <p:nvPr/>
        </p:nvSpPr>
        <p:spPr>
          <a:xfrm>
            <a:off x="987552" y="2231136"/>
            <a:ext cx="4617720" cy="256032"/>
          </a:xfrm>
          <a:prstGeom prst="rect">
            <a:avLst/>
          </a:prstGeom>
          <a:noFill/>
          <a:ln/>
        </p:spPr>
        <p:txBody>
          <a:bodyPr wrap="square" lIns="0" tIns="0" rIns="0" bIns="0" rtlCol="0" anchor="ctr"/>
          <a:lstStyle/>
          <a:p>
            <a:pPr indent="0" marL="0">
              <a:buNone/>
            </a:pPr>
            <a:r>
              <a:rPr lang="en-US" sz="1000" b="1" spc="150" kern="0" dirty="0">
                <a:solidFill>
                  <a:srgbClr val="6B7280"/>
                </a:solidFill>
                <a:latin typeface="Calibri" pitchFamily="34" charset="0"/>
                <a:ea typeface="Calibri" pitchFamily="34" charset="-122"/>
                <a:cs typeface="Calibri" pitchFamily="34" charset="-120"/>
              </a:rPr>
              <a:t>FIBRE CONNECTION</a:t>
            </a:r>
            <a:endParaRPr lang="en-US" sz="1000" dirty="0"/>
          </a:p>
        </p:txBody>
      </p:sp>
      <p:sp>
        <p:nvSpPr>
          <p:cNvPr id="7" name="Text 5"/>
          <p:cNvSpPr/>
          <p:nvPr/>
        </p:nvSpPr>
        <p:spPr>
          <a:xfrm>
            <a:off x="987552" y="2505456"/>
            <a:ext cx="4617720" cy="841248"/>
          </a:xfrm>
          <a:prstGeom prst="rect">
            <a:avLst/>
          </a:prstGeom>
          <a:noFill/>
          <a:ln/>
        </p:spPr>
        <p:txBody>
          <a:bodyPr wrap="square" lIns="0" tIns="0" rIns="0" bIns="0" rtlCol="0" anchor="t"/>
          <a:lstStyle/>
          <a:p>
            <a:pPr indent="0" marL="0">
              <a:lnSpc>
                <a:spcPts val="1450"/>
              </a:lnSpc>
              <a:buNone/>
            </a:pPr>
            <a:r>
              <a:rPr lang="en-US" sz="1100" dirty="0">
                <a:solidFill>
                  <a:srgbClr val="4A5160"/>
                </a:solidFill>
                <a:latin typeface="Calibri" pitchFamily="34" charset="0"/>
                <a:ea typeface="Calibri" pitchFamily="34" charset="-122"/>
                <a:cs typeface="Calibri" pitchFamily="34" charset="-120"/>
              </a:rPr>
              <a:t>Gameplay itself needs only 3–8 Mbps per console. The capacity is for game downloads — modern titles run 50–150 GB, and a patch across four consoles must not consume an evening.</a:t>
            </a:r>
            <a:endParaRPr lang="en-US" sz="1100" dirty="0"/>
          </a:p>
        </p:txBody>
      </p:sp>
      <p:sp>
        <p:nvSpPr>
          <p:cNvPr id="8" name="Shape 6"/>
          <p:cNvSpPr/>
          <p:nvPr/>
        </p:nvSpPr>
        <p:spPr>
          <a:xfrm>
            <a:off x="6217920" y="1572768"/>
            <a:ext cx="5330952" cy="1920240"/>
          </a:xfrm>
          <a:prstGeom prst="roundRect">
            <a:avLst>
              <a:gd name="adj" fmla="val 4762"/>
            </a:avLst>
          </a:prstGeom>
          <a:solidFill>
            <a:srgbClr val="F3F4F7"/>
          </a:solidFill>
          <a:ln/>
        </p:spPr>
      </p:sp>
      <p:sp>
        <p:nvSpPr>
          <p:cNvPr id="9" name="Text 7"/>
          <p:cNvSpPr/>
          <p:nvPr/>
        </p:nvSpPr>
        <p:spPr>
          <a:xfrm>
            <a:off x="6565392" y="1773936"/>
            <a:ext cx="4617720" cy="457200"/>
          </a:xfrm>
          <a:prstGeom prst="rect">
            <a:avLst/>
          </a:prstGeom>
          <a:noFill/>
          <a:ln/>
        </p:spPr>
        <p:txBody>
          <a:bodyPr wrap="square" lIns="0" tIns="0" rIns="0" bIns="0" rtlCol="0" anchor="ctr"/>
          <a:lstStyle/>
          <a:p>
            <a:pPr indent="0" marL="0">
              <a:buNone/>
            </a:pPr>
            <a:r>
              <a:rPr lang="en-US" sz="2400" b="1" dirty="0">
                <a:solidFill>
                  <a:srgbClr val="008C79"/>
                </a:solidFill>
                <a:latin typeface="Arial" pitchFamily="34" charset="0"/>
                <a:ea typeface="Arial" pitchFamily="34" charset="-122"/>
                <a:cs typeface="Arial" pitchFamily="34" charset="-120"/>
              </a:rPr>
              <a:t>Cat6</a:t>
            </a:r>
            <a:endParaRPr lang="en-US" sz="2400" dirty="0"/>
          </a:p>
        </p:txBody>
      </p:sp>
      <p:sp>
        <p:nvSpPr>
          <p:cNvPr id="10" name="Text 8"/>
          <p:cNvSpPr/>
          <p:nvPr/>
        </p:nvSpPr>
        <p:spPr>
          <a:xfrm>
            <a:off x="6565392" y="2231136"/>
            <a:ext cx="4617720" cy="256032"/>
          </a:xfrm>
          <a:prstGeom prst="rect">
            <a:avLst/>
          </a:prstGeom>
          <a:noFill/>
          <a:ln/>
        </p:spPr>
        <p:txBody>
          <a:bodyPr wrap="square" lIns="0" tIns="0" rIns="0" bIns="0" rtlCol="0" anchor="ctr"/>
          <a:lstStyle/>
          <a:p>
            <a:pPr indent="0" marL="0">
              <a:buNone/>
            </a:pPr>
            <a:r>
              <a:rPr lang="en-US" sz="1000" b="1" spc="150" kern="0" dirty="0">
                <a:solidFill>
                  <a:srgbClr val="6B7280"/>
                </a:solidFill>
                <a:latin typeface="Calibri" pitchFamily="34" charset="0"/>
                <a:ea typeface="Calibri" pitchFamily="34" charset="-122"/>
                <a:cs typeface="Calibri" pitchFamily="34" charset="-120"/>
              </a:rPr>
              <a:t>WIRED TO EVERY BAY</a:t>
            </a:r>
            <a:endParaRPr lang="en-US" sz="1000" dirty="0"/>
          </a:p>
        </p:txBody>
      </p:sp>
      <p:sp>
        <p:nvSpPr>
          <p:cNvPr id="11" name="Text 9"/>
          <p:cNvSpPr/>
          <p:nvPr/>
        </p:nvSpPr>
        <p:spPr>
          <a:xfrm>
            <a:off x="6565392" y="2505456"/>
            <a:ext cx="4617720" cy="841248"/>
          </a:xfrm>
          <a:prstGeom prst="rect">
            <a:avLst/>
          </a:prstGeom>
          <a:noFill/>
          <a:ln/>
        </p:spPr>
        <p:txBody>
          <a:bodyPr wrap="square" lIns="0" tIns="0" rIns="0" bIns="0" rtlCol="0" anchor="t"/>
          <a:lstStyle/>
          <a:p>
            <a:pPr indent="0" marL="0">
              <a:lnSpc>
                <a:spcPts val="1450"/>
              </a:lnSpc>
              <a:buNone/>
            </a:pPr>
            <a:r>
              <a:rPr lang="en-US" sz="1100" dirty="0">
                <a:solidFill>
                  <a:srgbClr val="4A5160"/>
                </a:solidFill>
                <a:latin typeface="Calibri" pitchFamily="34" charset="0"/>
                <a:ea typeface="Calibri" pitchFamily="34" charset="-122"/>
                <a:cs typeface="Calibri" pitchFamily="34" charset="-120"/>
              </a:rPr>
              <a:t>No bay runs on Wi-Fi. Roughly ₹10,000 in cable and hardware, and the cheapest quality upgrade available to us. Latency under 30 ms is the target, not raw throughput.</a:t>
            </a:r>
            <a:endParaRPr lang="en-US" sz="1100" dirty="0"/>
          </a:p>
        </p:txBody>
      </p:sp>
      <p:sp>
        <p:nvSpPr>
          <p:cNvPr id="12" name="Shape 10"/>
          <p:cNvSpPr/>
          <p:nvPr/>
        </p:nvSpPr>
        <p:spPr>
          <a:xfrm>
            <a:off x="640080" y="3721608"/>
            <a:ext cx="5330952" cy="1920240"/>
          </a:xfrm>
          <a:prstGeom prst="roundRect">
            <a:avLst>
              <a:gd name="adj" fmla="val 4762"/>
            </a:avLst>
          </a:prstGeom>
          <a:solidFill>
            <a:srgbClr val="F3F4F7"/>
          </a:solidFill>
          <a:ln/>
        </p:spPr>
      </p:sp>
      <p:sp>
        <p:nvSpPr>
          <p:cNvPr id="13" name="Text 11"/>
          <p:cNvSpPr/>
          <p:nvPr/>
        </p:nvSpPr>
        <p:spPr>
          <a:xfrm>
            <a:off x="987552" y="3922776"/>
            <a:ext cx="4617720" cy="457200"/>
          </a:xfrm>
          <a:prstGeom prst="rect">
            <a:avLst/>
          </a:prstGeom>
          <a:noFill/>
          <a:ln/>
        </p:spPr>
        <p:txBody>
          <a:bodyPr wrap="square" lIns="0" tIns="0" rIns="0" bIns="0" rtlCol="0" anchor="ctr"/>
          <a:lstStyle/>
          <a:p>
            <a:pPr indent="0" marL="0">
              <a:buNone/>
            </a:pPr>
            <a:r>
              <a:rPr lang="en-US" sz="2400" b="1" dirty="0">
                <a:solidFill>
                  <a:srgbClr val="008C79"/>
                </a:solidFill>
                <a:latin typeface="Arial" pitchFamily="34" charset="0"/>
                <a:ea typeface="Arial" pitchFamily="34" charset="-122"/>
                <a:cs typeface="Arial" pitchFamily="34" charset="-120"/>
              </a:rPr>
              <a:t>CafeSynk</a:t>
            </a:r>
            <a:endParaRPr lang="en-US" sz="2400" dirty="0"/>
          </a:p>
        </p:txBody>
      </p:sp>
      <p:sp>
        <p:nvSpPr>
          <p:cNvPr id="14" name="Text 12"/>
          <p:cNvSpPr/>
          <p:nvPr/>
        </p:nvSpPr>
        <p:spPr>
          <a:xfrm>
            <a:off x="987552" y="4379976"/>
            <a:ext cx="4617720" cy="256032"/>
          </a:xfrm>
          <a:prstGeom prst="rect">
            <a:avLst/>
          </a:prstGeom>
          <a:noFill/>
          <a:ln/>
        </p:spPr>
        <p:txBody>
          <a:bodyPr wrap="square" lIns="0" tIns="0" rIns="0" bIns="0" rtlCol="0" anchor="ctr"/>
          <a:lstStyle/>
          <a:p>
            <a:pPr indent="0" marL="0">
              <a:buNone/>
            </a:pPr>
            <a:r>
              <a:rPr lang="en-US" sz="1000" b="1" spc="150" kern="0" dirty="0">
                <a:solidFill>
                  <a:srgbClr val="6B7280"/>
                </a:solidFill>
                <a:latin typeface="Calibri" pitchFamily="34" charset="0"/>
                <a:ea typeface="Calibri" pitchFamily="34" charset="-122"/>
                <a:cs typeface="Calibri" pitchFamily="34" charset="-120"/>
              </a:rPr>
              <a:t>BILLING &amp; POINT OF SALE</a:t>
            </a:r>
            <a:endParaRPr lang="en-US" sz="1000" dirty="0"/>
          </a:p>
        </p:txBody>
      </p:sp>
      <p:sp>
        <p:nvSpPr>
          <p:cNvPr id="15" name="Text 13"/>
          <p:cNvSpPr/>
          <p:nvPr/>
        </p:nvSpPr>
        <p:spPr>
          <a:xfrm>
            <a:off x="987552" y="4654296"/>
            <a:ext cx="4617720" cy="841248"/>
          </a:xfrm>
          <a:prstGeom prst="rect">
            <a:avLst/>
          </a:prstGeom>
          <a:noFill/>
          <a:ln/>
        </p:spPr>
        <p:txBody>
          <a:bodyPr wrap="square" lIns="0" tIns="0" rIns="0" bIns="0" rtlCol="0" anchor="t"/>
          <a:lstStyle/>
          <a:p>
            <a:pPr indent="0" marL="0">
              <a:lnSpc>
                <a:spcPts val="1450"/>
              </a:lnSpc>
              <a:buNone/>
            </a:pPr>
            <a:r>
              <a:rPr lang="en-US" sz="1100" dirty="0">
                <a:solidFill>
                  <a:srgbClr val="4A5160"/>
                </a:solidFill>
                <a:latin typeface="Calibri" pitchFamily="34" charset="0"/>
                <a:ea typeface="Calibri" pitchFamily="34" charset="-122"/>
                <a:cs typeface="Calibri" pitchFamily="34" charset="-120"/>
              </a:rPr>
              <a:t>Per-minute bay billing, food on the same ticket, GST invoicing, UPI, prepaid wallets, loyalty and tournament brackets. Free for Indian gaming cafés.</a:t>
            </a:r>
            <a:endParaRPr lang="en-US" sz="1100" dirty="0"/>
          </a:p>
        </p:txBody>
      </p:sp>
      <p:sp>
        <p:nvSpPr>
          <p:cNvPr id="16" name="Shape 14"/>
          <p:cNvSpPr/>
          <p:nvPr/>
        </p:nvSpPr>
        <p:spPr>
          <a:xfrm>
            <a:off x="6217920" y="3721608"/>
            <a:ext cx="5330952" cy="1920240"/>
          </a:xfrm>
          <a:prstGeom prst="roundRect">
            <a:avLst>
              <a:gd name="adj" fmla="val 4762"/>
            </a:avLst>
          </a:prstGeom>
          <a:solidFill>
            <a:srgbClr val="F3F4F7"/>
          </a:solidFill>
          <a:ln/>
        </p:spPr>
      </p:sp>
      <p:sp>
        <p:nvSpPr>
          <p:cNvPr id="17" name="Text 15"/>
          <p:cNvSpPr/>
          <p:nvPr/>
        </p:nvSpPr>
        <p:spPr>
          <a:xfrm>
            <a:off x="6565392" y="3922776"/>
            <a:ext cx="4617720" cy="457200"/>
          </a:xfrm>
          <a:prstGeom prst="rect">
            <a:avLst/>
          </a:prstGeom>
          <a:noFill/>
          <a:ln/>
        </p:spPr>
        <p:txBody>
          <a:bodyPr wrap="square" lIns="0" tIns="0" rIns="0" bIns="0" rtlCol="0" anchor="ctr"/>
          <a:lstStyle/>
          <a:p>
            <a:pPr indent="0" marL="0">
              <a:buNone/>
            </a:pPr>
            <a:r>
              <a:rPr lang="en-US" sz="2400" b="1" dirty="0">
                <a:solidFill>
                  <a:srgbClr val="008C79"/>
                </a:solidFill>
                <a:latin typeface="Arial" pitchFamily="34" charset="0"/>
                <a:ea typeface="Arial" pitchFamily="34" charset="-122"/>
                <a:cs typeface="Arial" pitchFamily="34" charset="-120"/>
              </a:rPr>
              <a:t>SOPs</a:t>
            </a:r>
            <a:endParaRPr lang="en-US" sz="2400" dirty="0"/>
          </a:p>
        </p:txBody>
      </p:sp>
      <p:sp>
        <p:nvSpPr>
          <p:cNvPr id="18" name="Text 16"/>
          <p:cNvSpPr/>
          <p:nvPr/>
        </p:nvSpPr>
        <p:spPr>
          <a:xfrm>
            <a:off x="6565392" y="4379976"/>
            <a:ext cx="4617720" cy="256032"/>
          </a:xfrm>
          <a:prstGeom prst="rect">
            <a:avLst/>
          </a:prstGeom>
          <a:noFill/>
          <a:ln/>
        </p:spPr>
        <p:txBody>
          <a:bodyPr wrap="square" lIns="0" tIns="0" rIns="0" bIns="0" rtlCol="0" anchor="ctr"/>
          <a:lstStyle/>
          <a:p>
            <a:pPr indent="0" marL="0">
              <a:buNone/>
            </a:pPr>
            <a:r>
              <a:rPr lang="en-US" sz="1000" b="1" spc="150" kern="0" dirty="0">
                <a:solidFill>
                  <a:srgbClr val="6B7280"/>
                </a:solidFill>
                <a:latin typeface="Calibri" pitchFamily="34" charset="0"/>
                <a:ea typeface="Calibri" pitchFamily="34" charset="-122"/>
                <a:cs typeface="Calibri" pitchFamily="34" charset="-120"/>
              </a:rPr>
              <a:t>WRITTEN, NOT REMEMBERED</a:t>
            </a:r>
            <a:endParaRPr lang="en-US" sz="1000" dirty="0"/>
          </a:p>
        </p:txBody>
      </p:sp>
      <p:sp>
        <p:nvSpPr>
          <p:cNvPr id="19" name="Text 17"/>
          <p:cNvSpPr/>
          <p:nvPr/>
        </p:nvSpPr>
        <p:spPr>
          <a:xfrm>
            <a:off x="6565392" y="4654296"/>
            <a:ext cx="4617720" cy="841248"/>
          </a:xfrm>
          <a:prstGeom prst="rect">
            <a:avLst/>
          </a:prstGeom>
          <a:noFill/>
          <a:ln/>
        </p:spPr>
        <p:txBody>
          <a:bodyPr wrap="square" lIns="0" tIns="0" rIns="0" bIns="0" rtlCol="0" anchor="t"/>
          <a:lstStyle/>
          <a:p>
            <a:pPr indent="0" marL="0">
              <a:lnSpc>
                <a:spcPts val="1450"/>
              </a:lnSpc>
              <a:buNone/>
            </a:pPr>
            <a:r>
              <a:rPr lang="en-US" sz="1100" dirty="0">
                <a:solidFill>
                  <a:srgbClr val="4A5160"/>
                </a:solidFill>
                <a:latin typeface="Calibri" pitchFamily="34" charset="0"/>
                <a:ea typeface="Calibri" pitchFamily="34" charset="-122"/>
                <a:cs typeface="Calibri" pitchFamily="34" charset="-120"/>
              </a:rPr>
              <a:t>Opening and closing checklists, damage policy with named amounts on the wall, cash reconciled against the system every night, hourly utilisation logged from day one.</a:t>
            </a:r>
            <a:endParaRPr lang="en-US" sz="1100" dirty="0"/>
          </a:p>
        </p:txBody>
      </p:sp>
      <p:sp>
        <p:nvSpPr>
          <p:cNvPr id="20" name="Text 18"/>
          <p:cNvSpPr/>
          <p:nvPr/>
        </p:nvSpPr>
        <p:spPr>
          <a:xfrm>
            <a:off x="640080" y="5852160"/>
            <a:ext cx="10911535" cy="320040"/>
          </a:xfrm>
          <a:prstGeom prst="rect">
            <a:avLst/>
          </a:prstGeom>
          <a:noFill/>
          <a:ln/>
        </p:spPr>
        <p:txBody>
          <a:bodyPr wrap="square" lIns="0" tIns="0" rIns="0" bIns="0" rtlCol="0" anchor="ctr"/>
          <a:lstStyle/>
          <a:p>
            <a:pPr indent="0" marL="0">
              <a:buNone/>
            </a:pPr>
            <a:r>
              <a:rPr lang="en-US" sz="1150" i="1" dirty="0">
                <a:solidFill>
                  <a:srgbClr val="008C79"/>
                </a:solidFill>
                <a:latin typeface="Calibri" pitchFamily="34" charset="0"/>
                <a:ea typeface="Calibri" pitchFamily="34" charset="-122"/>
                <a:cs typeface="Calibri" pitchFamily="34" charset="-120"/>
              </a:rPr>
              <a:t>The counter is where console cafés leak revenue — phone timers, food on paper, discounts from memory. Systems from day one, not once it hurts.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CUSTOMER ACQUISITION</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How the first thousand customers arrive</a:t>
            </a:r>
            <a:endParaRPr lang="en-US" sz="3200" dirty="0"/>
          </a:p>
        </p:txBody>
      </p:sp>
      <p:sp>
        <p:nvSpPr>
          <p:cNvPr id="4" name="Shape 2"/>
          <p:cNvSpPr/>
          <p:nvPr/>
        </p:nvSpPr>
        <p:spPr>
          <a:xfrm>
            <a:off x="640080" y="1536192"/>
            <a:ext cx="3429000" cy="3611880"/>
          </a:xfrm>
          <a:prstGeom prst="roundRect">
            <a:avLst>
              <a:gd name="adj" fmla="val 2667"/>
            </a:avLst>
          </a:prstGeom>
          <a:solidFill>
            <a:srgbClr val="FFFFFF"/>
          </a:solidFill>
          <a:ln/>
        </p:spPr>
      </p:sp>
      <p:sp>
        <p:nvSpPr>
          <p:cNvPr id="5" name="Shape 3"/>
          <p:cNvSpPr/>
          <p:nvPr/>
        </p:nvSpPr>
        <p:spPr>
          <a:xfrm>
            <a:off x="640080" y="1536192"/>
            <a:ext cx="3429000" cy="3611880"/>
          </a:xfrm>
          <a:prstGeom prst="roundRect">
            <a:avLst>
              <a:gd name="adj" fmla="val 2667"/>
            </a:avLst>
          </a:prstGeom>
          <a:solidFill>
            <a:srgbClr val="FFFFFF"/>
          </a:solidFill>
          <a:ln w="12700">
            <a:solidFill>
              <a:srgbClr val="D6D9E0"/>
            </a:solidFill>
            <a:prstDash val="solid"/>
          </a:ln>
        </p:spPr>
      </p:sp>
      <p:sp>
        <p:nvSpPr>
          <p:cNvPr id="6" name="Shape 4"/>
          <p:cNvSpPr/>
          <p:nvPr/>
        </p:nvSpPr>
        <p:spPr>
          <a:xfrm>
            <a:off x="932688" y="1783080"/>
            <a:ext cx="384048" cy="384048"/>
          </a:xfrm>
          <a:prstGeom prst="ellipse">
            <a:avLst/>
          </a:prstGeom>
          <a:solidFill>
            <a:srgbClr val="00C2A8"/>
          </a:solidFill>
          <a:ln/>
        </p:spPr>
      </p:sp>
      <p:sp>
        <p:nvSpPr>
          <p:cNvPr id="7" name="Text 5"/>
          <p:cNvSpPr/>
          <p:nvPr/>
        </p:nvSpPr>
        <p:spPr>
          <a:xfrm>
            <a:off x="932688" y="1783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444752" y="1783080"/>
            <a:ext cx="2377440" cy="274320"/>
          </a:xfrm>
          <a:prstGeom prst="rect">
            <a:avLst/>
          </a:prstGeom>
          <a:noFill/>
          <a:ln/>
        </p:spPr>
        <p:txBody>
          <a:bodyPr wrap="square" lIns="0" tIns="0" rIns="0" bIns="0" rtlCol="0" anchor="ctr"/>
          <a:lstStyle/>
          <a:p>
            <a:pPr indent="0" marL="0">
              <a:buNone/>
            </a:pPr>
            <a:r>
              <a:rPr lang="en-US" sz="1500" b="1" dirty="0">
                <a:solidFill>
                  <a:srgbClr val="12141C"/>
                </a:solidFill>
                <a:latin typeface="Arial" pitchFamily="34" charset="0"/>
                <a:ea typeface="Arial" pitchFamily="34" charset="-122"/>
                <a:cs typeface="Arial" pitchFamily="34" charset="-120"/>
              </a:rPr>
              <a:t>Pre-launch</a:t>
            </a:r>
            <a:endParaRPr lang="en-US" sz="1500" dirty="0"/>
          </a:p>
        </p:txBody>
      </p:sp>
      <p:sp>
        <p:nvSpPr>
          <p:cNvPr id="9" name="Text 7"/>
          <p:cNvSpPr/>
          <p:nvPr/>
        </p:nvSpPr>
        <p:spPr>
          <a:xfrm>
            <a:off x="1444752" y="2048256"/>
            <a:ext cx="2377440" cy="237744"/>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4 weeks out</a:t>
            </a:r>
            <a:endParaRPr lang="en-US" sz="1050" dirty="0"/>
          </a:p>
        </p:txBody>
      </p:sp>
      <p:sp>
        <p:nvSpPr>
          <p:cNvPr id="10" name="Text 8"/>
          <p:cNvSpPr/>
          <p:nvPr/>
        </p:nvSpPr>
        <p:spPr>
          <a:xfrm>
            <a:off x="960120" y="2395728"/>
            <a:ext cx="2834640" cy="260604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Google Business Profile live with photographs — free, and the primary discovery channel for local search</a:t>
            </a:r>
            <a:endParaRPr lang="en-US" sz="1050" dirty="0"/>
          </a:p>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Instagram build-out content three times weekly</a:t>
            </a:r>
            <a:endParaRPr lang="en-US" sz="1050" dirty="0"/>
          </a:p>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Flyers across colleges, coaching centres and hostels within 2 km</a:t>
            </a:r>
            <a:endParaRPr lang="en-US" sz="1050" dirty="0"/>
          </a:p>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Seeding in Kolkata gaming communities on Reddit, Discord and WhatsApp</a:t>
            </a:r>
            <a:endParaRPr lang="en-US" sz="1050" dirty="0"/>
          </a:p>
        </p:txBody>
      </p:sp>
      <p:sp>
        <p:nvSpPr>
          <p:cNvPr id="11" name="Shape 9"/>
          <p:cNvSpPr/>
          <p:nvPr/>
        </p:nvSpPr>
        <p:spPr>
          <a:xfrm>
            <a:off x="4352544" y="1536192"/>
            <a:ext cx="3429000" cy="3611880"/>
          </a:xfrm>
          <a:prstGeom prst="roundRect">
            <a:avLst>
              <a:gd name="adj" fmla="val 2667"/>
            </a:avLst>
          </a:prstGeom>
          <a:solidFill>
            <a:srgbClr val="FFFFFF"/>
          </a:solidFill>
          <a:ln/>
        </p:spPr>
      </p:sp>
      <p:sp>
        <p:nvSpPr>
          <p:cNvPr id="12" name="Shape 10"/>
          <p:cNvSpPr/>
          <p:nvPr/>
        </p:nvSpPr>
        <p:spPr>
          <a:xfrm>
            <a:off x="4352544" y="1536192"/>
            <a:ext cx="3429000" cy="3611880"/>
          </a:xfrm>
          <a:prstGeom prst="roundRect">
            <a:avLst>
              <a:gd name="adj" fmla="val 2667"/>
            </a:avLst>
          </a:prstGeom>
          <a:solidFill>
            <a:srgbClr val="FFFFFF"/>
          </a:solidFill>
          <a:ln w="12700">
            <a:solidFill>
              <a:srgbClr val="D6D9E0"/>
            </a:solidFill>
            <a:prstDash val="solid"/>
          </a:ln>
        </p:spPr>
      </p:sp>
      <p:sp>
        <p:nvSpPr>
          <p:cNvPr id="13" name="Shape 11"/>
          <p:cNvSpPr/>
          <p:nvPr/>
        </p:nvSpPr>
        <p:spPr>
          <a:xfrm>
            <a:off x="4645152" y="1783080"/>
            <a:ext cx="384048" cy="384048"/>
          </a:xfrm>
          <a:prstGeom prst="ellipse">
            <a:avLst/>
          </a:prstGeom>
          <a:solidFill>
            <a:srgbClr val="FF8A3D"/>
          </a:solidFill>
          <a:ln/>
        </p:spPr>
      </p:sp>
      <p:sp>
        <p:nvSpPr>
          <p:cNvPr id="14" name="Text 12"/>
          <p:cNvSpPr/>
          <p:nvPr/>
        </p:nvSpPr>
        <p:spPr>
          <a:xfrm>
            <a:off x="4645152" y="1783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5157216" y="1783080"/>
            <a:ext cx="2377440" cy="274320"/>
          </a:xfrm>
          <a:prstGeom prst="rect">
            <a:avLst/>
          </a:prstGeom>
          <a:noFill/>
          <a:ln/>
        </p:spPr>
        <p:txBody>
          <a:bodyPr wrap="square" lIns="0" tIns="0" rIns="0" bIns="0" rtlCol="0" anchor="ctr"/>
          <a:lstStyle/>
          <a:p>
            <a:pPr indent="0" marL="0">
              <a:buNone/>
            </a:pPr>
            <a:r>
              <a:rPr lang="en-US" sz="1500" b="1" dirty="0">
                <a:solidFill>
                  <a:srgbClr val="12141C"/>
                </a:solidFill>
                <a:latin typeface="Arial" pitchFamily="34" charset="0"/>
                <a:ea typeface="Arial" pitchFamily="34" charset="-122"/>
                <a:cs typeface="Arial" pitchFamily="34" charset="-120"/>
              </a:rPr>
              <a:t>Launch month</a:t>
            </a:r>
            <a:endParaRPr lang="en-US" sz="1500" dirty="0"/>
          </a:p>
        </p:txBody>
      </p:sp>
      <p:sp>
        <p:nvSpPr>
          <p:cNvPr id="16" name="Text 14"/>
          <p:cNvSpPr/>
          <p:nvPr/>
        </p:nvSpPr>
        <p:spPr>
          <a:xfrm>
            <a:off x="5157216" y="2048256"/>
            <a:ext cx="2377440" cy="237744"/>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Weeks 1–4</a:t>
            </a:r>
            <a:endParaRPr lang="en-US" sz="1050" dirty="0"/>
          </a:p>
        </p:txBody>
      </p:sp>
      <p:sp>
        <p:nvSpPr>
          <p:cNvPr id="17" name="Text 15"/>
          <p:cNvSpPr/>
          <p:nvPr/>
        </p:nvSpPr>
        <p:spPr>
          <a:xfrm>
            <a:off x="4672584" y="2395728"/>
            <a:ext cx="2834640" cy="260604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Opening week at ₹99/hr — buying reviews and word of mouth, not margin</a:t>
            </a:r>
            <a:endParaRPr lang="en-US" sz="1050" dirty="0"/>
          </a:p>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Launch tournament with a ₹3,000 prize pool</a:t>
            </a:r>
            <a:endParaRPr lang="en-US" sz="1050" dirty="0"/>
          </a:p>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Five to eight micro-influencers paid in bay hours, not cash</a:t>
            </a:r>
            <a:endParaRPr lang="en-US" sz="1050" dirty="0"/>
          </a:p>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Target: 30 Google reviews in month one</a:t>
            </a:r>
            <a:endParaRPr lang="en-US" sz="1050" dirty="0"/>
          </a:p>
        </p:txBody>
      </p:sp>
      <p:sp>
        <p:nvSpPr>
          <p:cNvPr id="18" name="Shape 16"/>
          <p:cNvSpPr/>
          <p:nvPr/>
        </p:nvSpPr>
        <p:spPr>
          <a:xfrm>
            <a:off x="8065008" y="1536192"/>
            <a:ext cx="3429000" cy="3611880"/>
          </a:xfrm>
          <a:prstGeom prst="roundRect">
            <a:avLst>
              <a:gd name="adj" fmla="val 2667"/>
            </a:avLst>
          </a:prstGeom>
          <a:solidFill>
            <a:srgbClr val="FFFFFF"/>
          </a:solidFill>
          <a:ln/>
        </p:spPr>
      </p:sp>
      <p:sp>
        <p:nvSpPr>
          <p:cNvPr id="19" name="Shape 17"/>
          <p:cNvSpPr/>
          <p:nvPr/>
        </p:nvSpPr>
        <p:spPr>
          <a:xfrm>
            <a:off x="8065008" y="1536192"/>
            <a:ext cx="3429000" cy="3611880"/>
          </a:xfrm>
          <a:prstGeom prst="roundRect">
            <a:avLst>
              <a:gd name="adj" fmla="val 2667"/>
            </a:avLst>
          </a:prstGeom>
          <a:solidFill>
            <a:srgbClr val="FFFFFF"/>
          </a:solidFill>
          <a:ln w="12700">
            <a:solidFill>
              <a:srgbClr val="D6D9E0"/>
            </a:solidFill>
            <a:prstDash val="solid"/>
          </a:ln>
        </p:spPr>
      </p:sp>
      <p:sp>
        <p:nvSpPr>
          <p:cNvPr id="20" name="Shape 18"/>
          <p:cNvSpPr/>
          <p:nvPr/>
        </p:nvSpPr>
        <p:spPr>
          <a:xfrm>
            <a:off x="8357616" y="1783080"/>
            <a:ext cx="384048" cy="384048"/>
          </a:xfrm>
          <a:prstGeom prst="ellipse">
            <a:avLst/>
          </a:prstGeom>
          <a:solidFill>
            <a:srgbClr val="008C79"/>
          </a:solidFill>
          <a:ln/>
        </p:spPr>
      </p:sp>
      <p:sp>
        <p:nvSpPr>
          <p:cNvPr id="21" name="Text 19"/>
          <p:cNvSpPr/>
          <p:nvPr/>
        </p:nvSpPr>
        <p:spPr>
          <a:xfrm>
            <a:off x="8357616" y="1783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8869680" y="1783080"/>
            <a:ext cx="2377440" cy="274320"/>
          </a:xfrm>
          <a:prstGeom prst="rect">
            <a:avLst/>
          </a:prstGeom>
          <a:noFill/>
          <a:ln/>
        </p:spPr>
        <p:txBody>
          <a:bodyPr wrap="square" lIns="0" tIns="0" rIns="0" bIns="0" rtlCol="0" anchor="ctr"/>
          <a:lstStyle/>
          <a:p>
            <a:pPr indent="0" marL="0">
              <a:buNone/>
            </a:pPr>
            <a:r>
              <a:rPr lang="en-US" sz="1500" b="1" dirty="0">
                <a:solidFill>
                  <a:srgbClr val="12141C"/>
                </a:solidFill>
                <a:latin typeface="Arial" pitchFamily="34" charset="0"/>
                <a:ea typeface="Arial" pitchFamily="34" charset="-122"/>
                <a:cs typeface="Arial" pitchFamily="34" charset="-120"/>
              </a:rPr>
              <a:t>Ongoing</a:t>
            </a:r>
            <a:endParaRPr lang="en-US" sz="1500" dirty="0"/>
          </a:p>
        </p:txBody>
      </p:sp>
      <p:sp>
        <p:nvSpPr>
          <p:cNvPr id="23" name="Text 21"/>
          <p:cNvSpPr/>
          <p:nvPr/>
        </p:nvSpPr>
        <p:spPr>
          <a:xfrm>
            <a:off x="8869680" y="2048256"/>
            <a:ext cx="2377440" cy="237744"/>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Month 2+</a:t>
            </a:r>
            <a:endParaRPr lang="en-US" sz="1050" dirty="0"/>
          </a:p>
        </p:txBody>
      </p:sp>
      <p:sp>
        <p:nvSpPr>
          <p:cNvPr id="24" name="Text 22"/>
          <p:cNvSpPr/>
          <p:nvPr/>
        </p:nvSpPr>
        <p:spPr>
          <a:xfrm>
            <a:off x="8385048" y="2395728"/>
            <a:ext cx="2834640" cy="260604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Weekly tournament night — the strongest repeat-traffic driver available</a:t>
            </a:r>
            <a:endParaRPr lang="en-US" sz="1050" dirty="0"/>
          </a:p>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Off-peak monthly pass sold directly into nearby colleges</a:t>
            </a:r>
            <a:endParaRPr lang="en-US" sz="1050" dirty="0"/>
          </a:p>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Referral: bring a friend, both receive a free hour</a:t>
            </a:r>
            <a:endParaRPr lang="en-US" sz="1050" dirty="0"/>
          </a:p>
          <a:p>
            <a:pPr marL="342900" indent="-342900">
              <a:lnSpc>
                <a:spcPts val="1400"/>
              </a:lnSpc>
              <a:spcAft>
                <a:spcPts val="800"/>
              </a:spcAft>
              <a:buSzPct val="100000"/>
              <a:buChar char="•"/>
            </a:pPr>
            <a:r>
              <a:rPr lang="en-US" sz="1050" dirty="0">
                <a:solidFill>
                  <a:srgbClr val="4A5160"/>
                </a:solidFill>
                <a:latin typeface="Calibri" pitchFamily="34" charset="0"/>
                <a:ea typeface="Calibri" pitchFamily="34" charset="-122"/>
                <a:cs typeface="Calibri" pitchFamily="34" charset="-120"/>
              </a:rPr>
              <a:t>Weekday-daytime group bookings for college societies and small offices</a:t>
            </a:r>
            <a:endParaRPr lang="en-US" sz="1050" dirty="0"/>
          </a:p>
        </p:txBody>
      </p:sp>
      <p:sp>
        <p:nvSpPr>
          <p:cNvPr id="25" name="Text 23"/>
          <p:cNvSpPr/>
          <p:nvPr/>
        </p:nvSpPr>
        <p:spPr>
          <a:xfrm>
            <a:off x="640080" y="5394960"/>
            <a:ext cx="10911535" cy="320040"/>
          </a:xfrm>
          <a:prstGeom prst="rect">
            <a:avLst/>
          </a:prstGeom>
          <a:noFill/>
          <a:ln/>
        </p:spPr>
        <p:txBody>
          <a:bodyPr wrap="square" lIns="0" tIns="0" rIns="0" bIns="0" rtlCol="0" anchor="ctr"/>
          <a:lstStyle/>
          <a:p>
            <a:pPr indent="0" marL="0">
              <a:buNone/>
            </a:pPr>
            <a:r>
              <a:rPr lang="en-US" sz="1150" b="1" i="1" dirty="0">
                <a:solidFill>
                  <a:srgbClr val="008C79"/>
                </a:solidFill>
                <a:latin typeface="Calibri" pitchFamily="34" charset="0"/>
                <a:ea typeface="Calibri" pitchFamily="34" charset="-122"/>
                <a:cs typeface="Calibri" pitchFamily="34" charset="-120"/>
              </a:rPr>
              <a:t>Marketing budget: ₹30,000 pre-launch and launch, then ₹6,000 per month.</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COMMUNITY &amp; RETENTION</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Retention is the metric that predicts survival</a:t>
            </a:r>
            <a:endParaRPr lang="en-US" sz="3200" dirty="0"/>
          </a:p>
        </p:txBody>
      </p:sp>
      <p:sp>
        <p:nvSpPr>
          <p:cNvPr id="4" name="Shape 2"/>
          <p:cNvSpPr/>
          <p:nvPr/>
        </p:nvSpPr>
        <p:spPr>
          <a:xfrm>
            <a:off x="640080" y="1508760"/>
            <a:ext cx="5029200" cy="1371600"/>
          </a:xfrm>
          <a:prstGeom prst="roundRect">
            <a:avLst>
              <a:gd name="adj" fmla="val 6667"/>
            </a:avLst>
          </a:prstGeom>
          <a:solidFill>
            <a:srgbClr val="12141C"/>
          </a:solidFill>
          <a:ln/>
        </p:spPr>
      </p:sp>
      <p:sp>
        <p:nvSpPr>
          <p:cNvPr id="5" name="Text 3"/>
          <p:cNvSpPr/>
          <p:nvPr/>
        </p:nvSpPr>
        <p:spPr>
          <a:xfrm>
            <a:off x="1005840" y="1691640"/>
            <a:ext cx="2011680" cy="658368"/>
          </a:xfrm>
          <a:prstGeom prst="rect">
            <a:avLst/>
          </a:prstGeom>
          <a:noFill/>
          <a:ln/>
        </p:spPr>
        <p:txBody>
          <a:bodyPr wrap="square" lIns="0" tIns="0" rIns="0" bIns="0" rtlCol="0" anchor="ctr"/>
          <a:lstStyle/>
          <a:p>
            <a:pPr indent="0" marL="0">
              <a:buNone/>
            </a:pPr>
            <a:r>
              <a:rPr lang="en-US" sz="4000" b="1" dirty="0">
                <a:solidFill>
                  <a:srgbClr val="00C2A8"/>
                </a:solidFill>
                <a:latin typeface="Arial" pitchFamily="34" charset="0"/>
                <a:ea typeface="Arial" pitchFamily="34" charset="-122"/>
                <a:cs typeface="Arial" pitchFamily="34" charset="-120"/>
              </a:rPr>
              <a:t>35%+</a:t>
            </a:r>
            <a:endParaRPr lang="en-US" sz="4000" dirty="0"/>
          </a:p>
        </p:txBody>
      </p:sp>
      <p:sp>
        <p:nvSpPr>
          <p:cNvPr id="6" name="Text 4"/>
          <p:cNvSpPr/>
          <p:nvPr/>
        </p:nvSpPr>
        <p:spPr>
          <a:xfrm>
            <a:off x="1005840" y="2359152"/>
            <a:ext cx="4297680" cy="274320"/>
          </a:xfrm>
          <a:prstGeom prst="rect">
            <a:avLst/>
          </a:prstGeom>
          <a:noFill/>
          <a:ln/>
        </p:spPr>
        <p:txBody>
          <a:bodyPr wrap="square" lIns="0" tIns="0" rIns="0" bIns="0" rtlCol="0" anchor="ctr"/>
          <a:lstStyle/>
          <a:p>
            <a:pPr indent="0" marL="0">
              <a:buNone/>
            </a:pPr>
            <a:r>
              <a:rPr lang="en-US" sz="1150" dirty="0">
                <a:solidFill>
                  <a:srgbClr val="9CA3AF"/>
                </a:solidFill>
                <a:latin typeface="Calibri" pitchFamily="34" charset="0"/>
                <a:ea typeface="Calibri" pitchFamily="34" charset="-122"/>
                <a:cs typeface="Calibri" pitchFamily="34" charset="-120"/>
              </a:rPr>
              <a:t>Target repeat-customer rate by Month 3</a:t>
            </a:r>
            <a:endParaRPr lang="en-US" sz="1150" dirty="0"/>
          </a:p>
        </p:txBody>
      </p:sp>
      <p:sp>
        <p:nvSpPr>
          <p:cNvPr id="7" name="Text 5"/>
          <p:cNvSpPr/>
          <p:nvPr/>
        </p:nvSpPr>
        <p:spPr>
          <a:xfrm>
            <a:off x="5989320" y="1572768"/>
            <a:ext cx="5559552" cy="12344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A venue running at 60% first-time visitors pays for acquisition forever. A venue with 50% regulars compounds. Everything below exists to shift that ratio.</a:t>
            </a:r>
            <a:endParaRPr lang="en-US" sz="1300" dirty="0"/>
          </a:p>
        </p:txBody>
      </p:sp>
      <p:sp>
        <p:nvSpPr>
          <p:cNvPr id="8" name="Shape 6"/>
          <p:cNvSpPr/>
          <p:nvPr/>
        </p:nvSpPr>
        <p:spPr>
          <a:xfrm>
            <a:off x="640080" y="3108960"/>
            <a:ext cx="3429000" cy="1325880"/>
          </a:xfrm>
          <a:prstGeom prst="roundRect">
            <a:avLst>
              <a:gd name="adj" fmla="val 6897"/>
            </a:avLst>
          </a:prstGeom>
          <a:solidFill>
            <a:srgbClr val="F3F4F7"/>
          </a:solidFill>
          <a:ln/>
        </p:spPr>
      </p:sp>
      <p:sp>
        <p:nvSpPr>
          <p:cNvPr id="9" name="Text 7"/>
          <p:cNvSpPr/>
          <p:nvPr/>
        </p:nvSpPr>
        <p:spPr>
          <a:xfrm>
            <a:off x="932688" y="3255264"/>
            <a:ext cx="2834640" cy="274320"/>
          </a:xfrm>
          <a:prstGeom prst="rect">
            <a:avLst/>
          </a:prstGeom>
          <a:noFill/>
          <a:ln/>
        </p:spPr>
        <p:txBody>
          <a:bodyPr wrap="square" lIns="0" tIns="0" rIns="0" bIns="0" rtlCol="0" anchor="ctr"/>
          <a:lstStyle/>
          <a:p>
            <a:pPr indent="0" marL="0">
              <a:buNone/>
            </a:pPr>
            <a:r>
              <a:rPr lang="en-US" sz="1250" b="1" dirty="0">
                <a:solidFill>
                  <a:srgbClr val="12141C"/>
                </a:solidFill>
                <a:latin typeface="Arial" pitchFamily="34" charset="0"/>
                <a:ea typeface="Arial" pitchFamily="34" charset="-122"/>
                <a:cs typeface="Arial" pitchFamily="34" charset="-120"/>
              </a:rPr>
              <a:t>Weekly tournaments</a:t>
            </a:r>
            <a:endParaRPr lang="en-US" sz="1250" dirty="0"/>
          </a:p>
        </p:txBody>
      </p:sp>
      <p:sp>
        <p:nvSpPr>
          <p:cNvPr id="10" name="Text 8"/>
          <p:cNvSpPr/>
          <p:nvPr/>
        </p:nvSpPr>
        <p:spPr>
          <a:xfrm>
            <a:off x="932688" y="3529584"/>
            <a:ext cx="2834640" cy="822960"/>
          </a:xfrm>
          <a:prstGeom prst="rect">
            <a:avLst/>
          </a:prstGeom>
          <a:noFill/>
          <a:ln/>
        </p:spPr>
        <p:txBody>
          <a:bodyPr wrap="square" lIns="0" tIns="0" rIns="0" bIns="0" rtlCol="0" anchor="t"/>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A standing Friday or Saturday fixture with a rotating title and a leaderboard. Converts casual visits into a calendar habit.</a:t>
            </a:r>
            <a:endParaRPr lang="en-US" sz="1050" dirty="0"/>
          </a:p>
        </p:txBody>
      </p:sp>
      <p:sp>
        <p:nvSpPr>
          <p:cNvPr id="11" name="Shape 9"/>
          <p:cNvSpPr/>
          <p:nvPr/>
        </p:nvSpPr>
        <p:spPr>
          <a:xfrm>
            <a:off x="4352544" y="3108960"/>
            <a:ext cx="3429000" cy="1325880"/>
          </a:xfrm>
          <a:prstGeom prst="roundRect">
            <a:avLst>
              <a:gd name="adj" fmla="val 6897"/>
            </a:avLst>
          </a:prstGeom>
          <a:solidFill>
            <a:srgbClr val="F3F4F7"/>
          </a:solidFill>
          <a:ln/>
        </p:spPr>
      </p:sp>
      <p:sp>
        <p:nvSpPr>
          <p:cNvPr id="12" name="Text 10"/>
          <p:cNvSpPr/>
          <p:nvPr/>
        </p:nvSpPr>
        <p:spPr>
          <a:xfrm>
            <a:off x="4645152" y="3255264"/>
            <a:ext cx="2834640" cy="274320"/>
          </a:xfrm>
          <a:prstGeom prst="rect">
            <a:avLst/>
          </a:prstGeom>
          <a:noFill/>
          <a:ln/>
        </p:spPr>
        <p:txBody>
          <a:bodyPr wrap="square" lIns="0" tIns="0" rIns="0" bIns="0" rtlCol="0" anchor="ctr"/>
          <a:lstStyle/>
          <a:p>
            <a:pPr indent="0" marL="0">
              <a:buNone/>
            </a:pPr>
            <a:r>
              <a:rPr lang="en-US" sz="1250" b="1" dirty="0">
                <a:solidFill>
                  <a:srgbClr val="12141C"/>
                </a:solidFill>
                <a:latin typeface="Arial" pitchFamily="34" charset="0"/>
                <a:ea typeface="Arial" pitchFamily="34" charset="-122"/>
                <a:cs typeface="Arial" pitchFamily="34" charset="-120"/>
              </a:rPr>
              <a:t>Prepaid wallets &amp; loyalty</a:t>
            </a:r>
            <a:endParaRPr lang="en-US" sz="1250" dirty="0"/>
          </a:p>
        </p:txBody>
      </p:sp>
      <p:sp>
        <p:nvSpPr>
          <p:cNvPr id="13" name="Text 11"/>
          <p:cNvSpPr/>
          <p:nvPr/>
        </p:nvSpPr>
        <p:spPr>
          <a:xfrm>
            <a:off x="4645152" y="3529584"/>
            <a:ext cx="2834640" cy="822960"/>
          </a:xfrm>
          <a:prstGeom prst="rect">
            <a:avLst/>
          </a:prstGeom>
          <a:noFill/>
          <a:ln/>
        </p:spPr>
        <p:txBody>
          <a:bodyPr wrap="square" lIns="0" tIns="0" rIns="0" bIns="0" rtlCol="0" anchor="t"/>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Ten hours for ₹1,300 brings cash forward and locks the customer in. Ten hours logged earns a free hour.</a:t>
            </a:r>
            <a:endParaRPr lang="en-US" sz="1050" dirty="0"/>
          </a:p>
        </p:txBody>
      </p:sp>
      <p:sp>
        <p:nvSpPr>
          <p:cNvPr id="14" name="Shape 12"/>
          <p:cNvSpPr/>
          <p:nvPr/>
        </p:nvSpPr>
        <p:spPr>
          <a:xfrm>
            <a:off x="8065008" y="3108960"/>
            <a:ext cx="3429000" cy="1325880"/>
          </a:xfrm>
          <a:prstGeom prst="roundRect">
            <a:avLst>
              <a:gd name="adj" fmla="val 6897"/>
            </a:avLst>
          </a:prstGeom>
          <a:solidFill>
            <a:srgbClr val="F3F4F7"/>
          </a:solidFill>
          <a:ln/>
        </p:spPr>
      </p:sp>
      <p:sp>
        <p:nvSpPr>
          <p:cNvPr id="15" name="Text 13"/>
          <p:cNvSpPr/>
          <p:nvPr/>
        </p:nvSpPr>
        <p:spPr>
          <a:xfrm>
            <a:off x="8357616" y="3255264"/>
            <a:ext cx="2834640" cy="274320"/>
          </a:xfrm>
          <a:prstGeom prst="rect">
            <a:avLst/>
          </a:prstGeom>
          <a:noFill/>
          <a:ln/>
        </p:spPr>
        <p:txBody>
          <a:bodyPr wrap="square" lIns="0" tIns="0" rIns="0" bIns="0" rtlCol="0" anchor="ctr"/>
          <a:lstStyle/>
          <a:p>
            <a:pPr indent="0" marL="0">
              <a:buNone/>
            </a:pPr>
            <a:r>
              <a:rPr lang="en-US" sz="1250" b="1" dirty="0">
                <a:solidFill>
                  <a:srgbClr val="12141C"/>
                </a:solidFill>
                <a:latin typeface="Arial" pitchFamily="34" charset="0"/>
                <a:ea typeface="Arial" pitchFamily="34" charset="-122"/>
                <a:cs typeface="Arial" pitchFamily="34" charset="-120"/>
              </a:rPr>
              <a:t>A Discord community</a:t>
            </a:r>
            <a:endParaRPr lang="en-US" sz="1250" dirty="0"/>
          </a:p>
        </p:txBody>
      </p:sp>
      <p:sp>
        <p:nvSpPr>
          <p:cNvPr id="16" name="Text 14"/>
          <p:cNvSpPr/>
          <p:nvPr/>
        </p:nvSpPr>
        <p:spPr>
          <a:xfrm>
            <a:off x="8357616" y="3529584"/>
            <a:ext cx="2834640" cy="822960"/>
          </a:xfrm>
          <a:prstGeom prst="rect">
            <a:avLst/>
          </a:prstGeom>
          <a:noFill/>
          <a:ln/>
        </p:spPr>
        <p:txBody>
          <a:bodyPr wrap="square" lIns="0" tIns="0" rIns="0" bIns="0" rtlCol="0" anchor="t"/>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Regulars self-organise matches between visits. The venue becomes the meeting point rather than just the venue.</a:t>
            </a:r>
            <a:endParaRPr lang="en-US" sz="1050" dirty="0"/>
          </a:p>
        </p:txBody>
      </p:sp>
      <p:sp>
        <p:nvSpPr>
          <p:cNvPr id="17" name="Shape 15"/>
          <p:cNvSpPr/>
          <p:nvPr/>
        </p:nvSpPr>
        <p:spPr>
          <a:xfrm>
            <a:off x="640080" y="4617720"/>
            <a:ext cx="3429000" cy="1325880"/>
          </a:xfrm>
          <a:prstGeom prst="roundRect">
            <a:avLst>
              <a:gd name="adj" fmla="val 6897"/>
            </a:avLst>
          </a:prstGeom>
          <a:solidFill>
            <a:srgbClr val="F3F4F7"/>
          </a:solidFill>
          <a:ln/>
        </p:spPr>
      </p:sp>
      <p:sp>
        <p:nvSpPr>
          <p:cNvPr id="18" name="Text 16"/>
          <p:cNvSpPr/>
          <p:nvPr/>
        </p:nvSpPr>
        <p:spPr>
          <a:xfrm>
            <a:off x="932688" y="4764024"/>
            <a:ext cx="2834640" cy="274320"/>
          </a:xfrm>
          <a:prstGeom prst="rect">
            <a:avLst/>
          </a:prstGeom>
          <a:noFill/>
          <a:ln/>
        </p:spPr>
        <p:txBody>
          <a:bodyPr wrap="square" lIns="0" tIns="0" rIns="0" bIns="0" rtlCol="0" anchor="ctr"/>
          <a:lstStyle/>
          <a:p>
            <a:pPr indent="0" marL="0">
              <a:buNone/>
            </a:pPr>
            <a:r>
              <a:rPr lang="en-US" sz="1250" b="1" dirty="0">
                <a:solidFill>
                  <a:srgbClr val="12141C"/>
                </a:solidFill>
                <a:latin typeface="Arial" pitchFamily="34" charset="0"/>
                <a:ea typeface="Arial" pitchFamily="34" charset="-122"/>
                <a:cs typeface="Arial" pitchFamily="34" charset="-120"/>
              </a:rPr>
              <a:t>Hardware discipline</a:t>
            </a:r>
            <a:endParaRPr lang="en-US" sz="1250" dirty="0"/>
          </a:p>
        </p:txBody>
      </p:sp>
      <p:sp>
        <p:nvSpPr>
          <p:cNvPr id="19" name="Text 17"/>
          <p:cNvSpPr/>
          <p:nvPr/>
        </p:nvSpPr>
        <p:spPr>
          <a:xfrm>
            <a:off x="932688" y="5038344"/>
            <a:ext cx="2834640" cy="822960"/>
          </a:xfrm>
          <a:prstGeom prst="rect">
            <a:avLst/>
          </a:prstGeom>
          <a:noFill/>
          <a:ln/>
        </p:spPr>
        <p:txBody>
          <a:bodyPr wrap="square" lIns="0" tIns="0" rIns="0" bIns="0" rtlCol="0" anchor="t"/>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Failed controller sticks are the leading cause of non-return. Weekly testing and a ₹2,000 monthly replacement budget.</a:t>
            </a:r>
            <a:endParaRPr lang="en-US" sz="1050" dirty="0"/>
          </a:p>
        </p:txBody>
      </p:sp>
      <p:sp>
        <p:nvSpPr>
          <p:cNvPr id="20" name="Shape 18"/>
          <p:cNvSpPr/>
          <p:nvPr/>
        </p:nvSpPr>
        <p:spPr>
          <a:xfrm>
            <a:off x="4352544" y="4617720"/>
            <a:ext cx="3429000" cy="1325880"/>
          </a:xfrm>
          <a:prstGeom prst="roundRect">
            <a:avLst>
              <a:gd name="adj" fmla="val 6897"/>
            </a:avLst>
          </a:prstGeom>
          <a:solidFill>
            <a:srgbClr val="F3F4F7"/>
          </a:solidFill>
          <a:ln/>
        </p:spPr>
      </p:sp>
      <p:sp>
        <p:nvSpPr>
          <p:cNvPr id="21" name="Text 19"/>
          <p:cNvSpPr/>
          <p:nvPr/>
        </p:nvSpPr>
        <p:spPr>
          <a:xfrm>
            <a:off x="4645152" y="4764024"/>
            <a:ext cx="2834640" cy="274320"/>
          </a:xfrm>
          <a:prstGeom prst="rect">
            <a:avLst/>
          </a:prstGeom>
          <a:noFill/>
          <a:ln/>
        </p:spPr>
        <p:txBody>
          <a:bodyPr wrap="square" lIns="0" tIns="0" rIns="0" bIns="0" rtlCol="0" anchor="ctr"/>
          <a:lstStyle/>
          <a:p>
            <a:pPr indent="0" marL="0">
              <a:buNone/>
            </a:pPr>
            <a:r>
              <a:rPr lang="en-US" sz="1250" b="1" dirty="0">
                <a:solidFill>
                  <a:srgbClr val="12141C"/>
                </a:solidFill>
                <a:latin typeface="Arial" pitchFamily="34" charset="0"/>
                <a:ea typeface="Arial" pitchFamily="34" charset="-122"/>
                <a:cs typeface="Arial" pitchFamily="34" charset="-120"/>
              </a:rPr>
              <a:t>Fresh titles monthly</a:t>
            </a:r>
            <a:endParaRPr lang="en-US" sz="1250" dirty="0"/>
          </a:p>
        </p:txBody>
      </p:sp>
      <p:sp>
        <p:nvSpPr>
          <p:cNvPr id="22" name="Text 20"/>
          <p:cNvSpPr/>
          <p:nvPr/>
        </p:nvSpPr>
        <p:spPr>
          <a:xfrm>
            <a:off x="4645152" y="5038344"/>
            <a:ext cx="2834640" cy="822960"/>
          </a:xfrm>
          <a:prstGeom prst="rect">
            <a:avLst/>
          </a:prstGeom>
          <a:noFill/>
          <a:ln/>
        </p:spPr>
        <p:txBody>
          <a:bodyPr wrap="square" lIns="0" tIns="0" rIns="0" bIns="0" rtlCol="0" anchor="t"/>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One new game added per month from revenue, announced on Instagram. Gives regulars a reason to return this week.</a:t>
            </a:r>
            <a:endParaRPr lang="en-US" sz="1050" dirty="0"/>
          </a:p>
        </p:txBody>
      </p:sp>
      <p:sp>
        <p:nvSpPr>
          <p:cNvPr id="23" name="Shape 21"/>
          <p:cNvSpPr/>
          <p:nvPr/>
        </p:nvSpPr>
        <p:spPr>
          <a:xfrm>
            <a:off x="8065008" y="4617720"/>
            <a:ext cx="3429000" cy="1325880"/>
          </a:xfrm>
          <a:prstGeom prst="roundRect">
            <a:avLst>
              <a:gd name="adj" fmla="val 6897"/>
            </a:avLst>
          </a:prstGeom>
          <a:solidFill>
            <a:srgbClr val="F3F4F7"/>
          </a:solidFill>
          <a:ln/>
        </p:spPr>
      </p:sp>
      <p:sp>
        <p:nvSpPr>
          <p:cNvPr id="24" name="Text 22"/>
          <p:cNvSpPr/>
          <p:nvPr/>
        </p:nvSpPr>
        <p:spPr>
          <a:xfrm>
            <a:off x="8357616" y="4764024"/>
            <a:ext cx="2834640" cy="274320"/>
          </a:xfrm>
          <a:prstGeom prst="rect">
            <a:avLst/>
          </a:prstGeom>
          <a:noFill/>
          <a:ln/>
        </p:spPr>
        <p:txBody>
          <a:bodyPr wrap="square" lIns="0" tIns="0" rIns="0" bIns="0" rtlCol="0" anchor="ctr"/>
          <a:lstStyle/>
          <a:p>
            <a:pPr indent="0" marL="0">
              <a:buNone/>
            </a:pPr>
            <a:r>
              <a:rPr lang="en-US" sz="1250" b="1" dirty="0">
                <a:solidFill>
                  <a:srgbClr val="12141C"/>
                </a:solidFill>
                <a:latin typeface="Arial" pitchFamily="34" charset="0"/>
                <a:ea typeface="Arial" pitchFamily="34" charset="-122"/>
                <a:cs typeface="Arial" pitchFamily="34" charset="-120"/>
              </a:rPr>
              <a:t>Seasonal programming</a:t>
            </a:r>
            <a:endParaRPr lang="en-US" sz="1250" dirty="0"/>
          </a:p>
        </p:txBody>
      </p:sp>
      <p:sp>
        <p:nvSpPr>
          <p:cNvPr id="25" name="Text 23"/>
          <p:cNvSpPr/>
          <p:nvPr/>
        </p:nvSpPr>
        <p:spPr>
          <a:xfrm>
            <a:off x="8357616" y="5038344"/>
            <a:ext cx="2834640" cy="822960"/>
          </a:xfrm>
          <a:prstGeom prst="rect">
            <a:avLst/>
          </a:prstGeom>
          <a:noFill/>
          <a:ln/>
        </p:spPr>
        <p:txBody>
          <a:bodyPr wrap="square" lIns="0" tIns="0" rIns="0" bIns="0" rtlCol="0" anchor="t"/>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Durga Puja week is Kolkata's largest footfall opportunity of the year. Exam-season promotions follow the student calendar.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ROADMAP</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Ten weeks from decision to opening</a:t>
            </a:r>
            <a:endParaRPr lang="en-US" sz="3200" dirty="0"/>
          </a:p>
        </p:txBody>
      </p:sp>
      <p:sp>
        <p:nvSpPr>
          <p:cNvPr id="4" name="Shape 2"/>
          <p:cNvSpPr/>
          <p:nvPr/>
        </p:nvSpPr>
        <p:spPr>
          <a:xfrm>
            <a:off x="502920" y="1499616"/>
            <a:ext cx="11185855" cy="530352"/>
          </a:xfrm>
          <a:prstGeom prst="roundRect">
            <a:avLst>
              <a:gd name="adj" fmla="val 8621"/>
            </a:avLst>
          </a:prstGeom>
          <a:solidFill>
            <a:srgbClr val="F3F4F7"/>
          </a:solidFill>
          <a:ln/>
        </p:spPr>
      </p:sp>
      <p:sp>
        <p:nvSpPr>
          <p:cNvPr id="5" name="Shape 3"/>
          <p:cNvSpPr/>
          <p:nvPr/>
        </p:nvSpPr>
        <p:spPr>
          <a:xfrm>
            <a:off x="640080" y="1581912"/>
            <a:ext cx="841248" cy="365760"/>
          </a:xfrm>
          <a:prstGeom prst="roundRect">
            <a:avLst>
              <a:gd name="adj" fmla="val 12500"/>
            </a:avLst>
          </a:prstGeom>
          <a:solidFill>
            <a:srgbClr val="00C2A8"/>
          </a:solidFill>
          <a:ln/>
        </p:spPr>
      </p:sp>
      <p:sp>
        <p:nvSpPr>
          <p:cNvPr id="6" name="Text 4"/>
          <p:cNvSpPr/>
          <p:nvPr/>
        </p:nvSpPr>
        <p:spPr>
          <a:xfrm>
            <a:off x="640080" y="1581912"/>
            <a:ext cx="841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W1–2</a:t>
            </a:r>
            <a:endParaRPr lang="en-US" sz="1100" dirty="0"/>
          </a:p>
        </p:txBody>
      </p:sp>
      <p:sp>
        <p:nvSpPr>
          <p:cNvPr id="7" name="Text 5"/>
          <p:cNvSpPr/>
          <p:nvPr/>
        </p:nvSpPr>
        <p:spPr>
          <a:xfrm>
            <a:off x="1691640" y="1581912"/>
            <a:ext cx="2194560" cy="365760"/>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Validation</a:t>
            </a:r>
            <a:endParaRPr lang="en-US" sz="1300" dirty="0"/>
          </a:p>
        </p:txBody>
      </p:sp>
      <p:sp>
        <p:nvSpPr>
          <p:cNvPr id="8" name="Text 6"/>
          <p:cNvSpPr/>
          <p:nvPr/>
        </p:nvSpPr>
        <p:spPr>
          <a:xfrm>
            <a:off x="4023360" y="1581912"/>
            <a:ext cx="73152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Competitor visits, catchment mapping, 15 customer interviews</a:t>
            </a:r>
            <a:endParaRPr lang="en-US" sz="1100" dirty="0"/>
          </a:p>
        </p:txBody>
      </p:sp>
      <p:sp>
        <p:nvSpPr>
          <p:cNvPr id="9" name="Shape 7"/>
          <p:cNvSpPr/>
          <p:nvPr/>
        </p:nvSpPr>
        <p:spPr>
          <a:xfrm>
            <a:off x="640080" y="2148840"/>
            <a:ext cx="841248" cy="365760"/>
          </a:xfrm>
          <a:prstGeom prst="roundRect">
            <a:avLst>
              <a:gd name="adj" fmla="val 12500"/>
            </a:avLst>
          </a:prstGeom>
          <a:solidFill>
            <a:srgbClr val="D64550"/>
          </a:solidFill>
          <a:ln/>
        </p:spPr>
      </p:sp>
      <p:sp>
        <p:nvSpPr>
          <p:cNvPr id="10" name="Text 8"/>
          <p:cNvSpPr/>
          <p:nvPr/>
        </p:nvSpPr>
        <p:spPr>
          <a:xfrm>
            <a:off x="640080" y="2148840"/>
            <a:ext cx="841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W3</a:t>
            </a:r>
            <a:endParaRPr lang="en-US" sz="1100" dirty="0"/>
          </a:p>
        </p:txBody>
      </p:sp>
      <p:sp>
        <p:nvSpPr>
          <p:cNvPr id="11" name="Text 9"/>
          <p:cNvSpPr/>
          <p:nvPr/>
        </p:nvSpPr>
        <p:spPr>
          <a:xfrm>
            <a:off x="1691640" y="2148840"/>
            <a:ext cx="2194560" cy="365760"/>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Legal feasibility</a:t>
            </a:r>
            <a:endParaRPr lang="en-US" sz="1300" dirty="0"/>
          </a:p>
        </p:txBody>
      </p:sp>
      <p:sp>
        <p:nvSpPr>
          <p:cNvPr id="12" name="Text 10"/>
          <p:cNvSpPr/>
          <p:nvPr/>
        </p:nvSpPr>
        <p:spPr>
          <a:xfrm>
            <a:off x="4023360" y="2148840"/>
            <a:ext cx="73152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Landlord and society NOCs, zoning check, exit-route and load verification</a:t>
            </a:r>
            <a:endParaRPr lang="en-US" sz="1100" dirty="0"/>
          </a:p>
        </p:txBody>
      </p:sp>
      <p:sp>
        <p:nvSpPr>
          <p:cNvPr id="13" name="Shape 11"/>
          <p:cNvSpPr/>
          <p:nvPr/>
        </p:nvSpPr>
        <p:spPr>
          <a:xfrm>
            <a:off x="502920" y="2633472"/>
            <a:ext cx="11185855" cy="530352"/>
          </a:xfrm>
          <a:prstGeom prst="roundRect">
            <a:avLst>
              <a:gd name="adj" fmla="val 8621"/>
            </a:avLst>
          </a:prstGeom>
          <a:solidFill>
            <a:srgbClr val="F3F4F7"/>
          </a:solidFill>
          <a:ln/>
        </p:spPr>
      </p:sp>
      <p:sp>
        <p:nvSpPr>
          <p:cNvPr id="14" name="Shape 12"/>
          <p:cNvSpPr/>
          <p:nvPr/>
        </p:nvSpPr>
        <p:spPr>
          <a:xfrm>
            <a:off x="640080" y="2715768"/>
            <a:ext cx="841248" cy="365760"/>
          </a:xfrm>
          <a:prstGeom prst="roundRect">
            <a:avLst>
              <a:gd name="adj" fmla="val 12500"/>
            </a:avLst>
          </a:prstGeom>
          <a:solidFill>
            <a:srgbClr val="FF8A3D"/>
          </a:solidFill>
          <a:ln/>
        </p:spPr>
      </p:sp>
      <p:sp>
        <p:nvSpPr>
          <p:cNvPr id="15" name="Text 13"/>
          <p:cNvSpPr/>
          <p:nvPr/>
        </p:nvSpPr>
        <p:spPr>
          <a:xfrm>
            <a:off x="640080" y="2715768"/>
            <a:ext cx="841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W4–6</a:t>
            </a:r>
            <a:endParaRPr lang="en-US" sz="1100" dirty="0"/>
          </a:p>
        </p:txBody>
      </p:sp>
      <p:sp>
        <p:nvSpPr>
          <p:cNvPr id="16" name="Text 14"/>
          <p:cNvSpPr/>
          <p:nvPr/>
        </p:nvSpPr>
        <p:spPr>
          <a:xfrm>
            <a:off x="1691640" y="2715768"/>
            <a:ext cx="2194560" cy="365760"/>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Registrations</a:t>
            </a:r>
            <a:endParaRPr lang="en-US" sz="1300" dirty="0"/>
          </a:p>
        </p:txBody>
      </p:sp>
      <p:sp>
        <p:nvSpPr>
          <p:cNvPr id="17" name="Text 15"/>
          <p:cNvSpPr/>
          <p:nvPr/>
        </p:nvSpPr>
        <p:spPr>
          <a:xfrm>
            <a:off x="4023360" y="2715768"/>
            <a:ext cx="73152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Fire NOC, trade licence, FSSAI, GST, Shop Act filed in parallel</a:t>
            </a:r>
            <a:endParaRPr lang="en-US" sz="1100" dirty="0"/>
          </a:p>
        </p:txBody>
      </p:sp>
      <p:sp>
        <p:nvSpPr>
          <p:cNvPr id="18" name="Shape 16"/>
          <p:cNvSpPr/>
          <p:nvPr/>
        </p:nvSpPr>
        <p:spPr>
          <a:xfrm>
            <a:off x="640080" y="3282696"/>
            <a:ext cx="841248" cy="365760"/>
          </a:xfrm>
          <a:prstGeom prst="roundRect">
            <a:avLst>
              <a:gd name="adj" fmla="val 12500"/>
            </a:avLst>
          </a:prstGeom>
          <a:solidFill>
            <a:srgbClr val="00C2A8"/>
          </a:solidFill>
          <a:ln/>
        </p:spPr>
      </p:sp>
      <p:sp>
        <p:nvSpPr>
          <p:cNvPr id="19" name="Text 17"/>
          <p:cNvSpPr/>
          <p:nvPr/>
        </p:nvSpPr>
        <p:spPr>
          <a:xfrm>
            <a:off x="640080" y="3282696"/>
            <a:ext cx="841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W5–7</a:t>
            </a:r>
            <a:endParaRPr lang="en-US" sz="1100" dirty="0"/>
          </a:p>
        </p:txBody>
      </p:sp>
      <p:sp>
        <p:nvSpPr>
          <p:cNvPr id="20" name="Text 18"/>
          <p:cNvSpPr/>
          <p:nvPr/>
        </p:nvSpPr>
        <p:spPr>
          <a:xfrm>
            <a:off x="1691640" y="3282696"/>
            <a:ext cx="2194560" cy="365760"/>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Procurement</a:t>
            </a:r>
            <a:endParaRPr lang="en-US" sz="1300" dirty="0"/>
          </a:p>
        </p:txBody>
      </p:sp>
      <p:sp>
        <p:nvSpPr>
          <p:cNvPr id="21" name="Text 19"/>
          <p:cNvSpPr/>
          <p:nvPr/>
        </p:nvSpPr>
        <p:spPr>
          <a:xfrm>
            <a:off x="4023360" y="3282696"/>
            <a:ext cx="73152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Rental contract negotiated, console purchased, internet applied for</a:t>
            </a:r>
            <a:endParaRPr lang="en-US" sz="1100" dirty="0"/>
          </a:p>
        </p:txBody>
      </p:sp>
      <p:sp>
        <p:nvSpPr>
          <p:cNvPr id="22" name="Shape 20"/>
          <p:cNvSpPr/>
          <p:nvPr/>
        </p:nvSpPr>
        <p:spPr>
          <a:xfrm>
            <a:off x="502920" y="3767328"/>
            <a:ext cx="11185855" cy="530352"/>
          </a:xfrm>
          <a:prstGeom prst="roundRect">
            <a:avLst>
              <a:gd name="adj" fmla="val 8621"/>
            </a:avLst>
          </a:prstGeom>
          <a:solidFill>
            <a:srgbClr val="F3F4F7"/>
          </a:solidFill>
          <a:ln/>
        </p:spPr>
      </p:sp>
      <p:sp>
        <p:nvSpPr>
          <p:cNvPr id="23" name="Shape 21"/>
          <p:cNvSpPr/>
          <p:nvPr/>
        </p:nvSpPr>
        <p:spPr>
          <a:xfrm>
            <a:off x="640080" y="3849624"/>
            <a:ext cx="841248" cy="365760"/>
          </a:xfrm>
          <a:prstGeom prst="roundRect">
            <a:avLst>
              <a:gd name="adj" fmla="val 12500"/>
            </a:avLst>
          </a:prstGeom>
          <a:solidFill>
            <a:srgbClr val="00C2A8"/>
          </a:solidFill>
          <a:ln/>
        </p:spPr>
      </p:sp>
      <p:sp>
        <p:nvSpPr>
          <p:cNvPr id="24" name="Text 22"/>
          <p:cNvSpPr/>
          <p:nvPr/>
        </p:nvSpPr>
        <p:spPr>
          <a:xfrm>
            <a:off x="640080" y="3849624"/>
            <a:ext cx="841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W6–8</a:t>
            </a:r>
            <a:endParaRPr lang="en-US" sz="1100" dirty="0"/>
          </a:p>
        </p:txBody>
      </p:sp>
      <p:sp>
        <p:nvSpPr>
          <p:cNvPr id="25" name="Text 23"/>
          <p:cNvSpPr/>
          <p:nvPr/>
        </p:nvSpPr>
        <p:spPr>
          <a:xfrm>
            <a:off x="1691640" y="3849624"/>
            <a:ext cx="2194560" cy="365760"/>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Build-out</a:t>
            </a:r>
            <a:endParaRPr lang="en-US" sz="1300" dirty="0"/>
          </a:p>
        </p:txBody>
      </p:sp>
      <p:sp>
        <p:nvSpPr>
          <p:cNvPr id="26" name="Text 24"/>
          <p:cNvSpPr/>
          <p:nvPr/>
        </p:nvSpPr>
        <p:spPr>
          <a:xfrm>
            <a:off x="4023360" y="3849624"/>
            <a:ext cx="73152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Electrical upgrade, acoustics, lighting, signage, café counter</a:t>
            </a:r>
            <a:endParaRPr lang="en-US" sz="1100" dirty="0"/>
          </a:p>
        </p:txBody>
      </p:sp>
      <p:sp>
        <p:nvSpPr>
          <p:cNvPr id="27" name="Shape 25"/>
          <p:cNvSpPr/>
          <p:nvPr/>
        </p:nvSpPr>
        <p:spPr>
          <a:xfrm>
            <a:off x="640080" y="4416552"/>
            <a:ext cx="841248" cy="365760"/>
          </a:xfrm>
          <a:prstGeom prst="roundRect">
            <a:avLst>
              <a:gd name="adj" fmla="val 12500"/>
            </a:avLst>
          </a:prstGeom>
          <a:solidFill>
            <a:srgbClr val="00C2A8"/>
          </a:solidFill>
          <a:ln/>
        </p:spPr>
      </p:sp>
      <p:sp>
        <p:nvSpPr>
          <p:cNvPr id="28" name="Text 26"/>
          <p:cNvSpPr/>
          <p:nvPr/>
        </p:nvSpPr>
        <p:spPr>
          <a:xfrm>
            <a:off x="640080" y="4416552"/>
            <a:ext cx="841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W8–9</a:t>
            </a:r>
            <a:endParaRPr lang="en-US" sz="1100" dirty="0"/>
          </a:p>
        </p:txBody>
      </p:sp>
      <p:sp>
        <p:nvSpPr>
          <p:cNvPr id="29" name="Text 27"/>
          <p:cNvSpPr/>
          <p:nvPr/>
        </p:nvSpPr>
        <p:spPr>
          <a:xfrm>
            <a:off x="1691640" y="4416552"/>
            <a:ext cx="2194560" cy="365760"/>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Systems &amp; staff</a:t>
            </a:r>
            <a:endParaRPr lang="en-US" sz="1300" dirty="0"/>
          </a:p>
        </p:txBody>
      </p:sp>
      <p:sp>
        <p:nvSpPr>
          <p:cNvPr id="30" name="Text 28"/>
          <p:cNvSpPr/>
          <p:nvPr/>
        </p:nvSpPr>
        <p:spPr>
          <a:xfrm>
            <a:off x="4023360" y="4416552"/>
            <a:ext cx="73152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Billing configured, attendant hired and trained, SOPs written</a:t>
            </a:r>
            <a:endParaRPr lang="en-US" sz="1100" dirty="0"/>
          </a:p>
        </p:txBody>
      </p:sp>
      <p:sp>
        <p:nvSpPr>
          <p:cNvPr id="31" name="Shape 29"/>
          <p:cNvSpPr/>
          <p:nvPr/>
        </p:nvSpPr>
        <p:spPr>
          <a:xfrm>
            <a:off x="502920" y="4901184"/>
            <a:ext cx="11185855" cy="530352"/>
          </a:xfrm>
          <a:prstGeom prst="roundRect">
            <a:avLst>
              <a:gd name="adj" fmla="val 8621"/>
            </a:avLst>
          </a:prstGeom>
          <a:solidFill>
            <a:srgbClr val="F3F4F7"/>
          </a:solidFill>
          <a:ln/>
        </p:spPr>
      </p:sp>
      <p:sp>
        <p:nvSpPr>
          <p:cNvPr id="32" name="Shape 30"/>
          <p:cNvSpPr/>
          <p:nvPr/>
        </p:nvSpPr>
        <p:spPr>
          <a:xfrm>
            <a:off x="640080" y="4983480"/>
            <a:ext cx="841248" cy="365760"/>
          </a:xfrm>
          <a:prstGeom prst="roundRect">
            <a:avLst>
              <a:gd name="adj" fmla="val 12500"/>
            </a:avLst>
          </a:prstGeom>
          <a:solidFill>
            <a:srgbClr val="FF8A3D"/>
          </a:solidFill>
          <a:ln/>
        </p:spPr>
      </p:sp>
      <p:sp>
        <p:nvSpPr>
          <p:cNvPr id="33" name="Text 31"/>
          <p:cNvSpPr/>
          <p:nvPr/>
        </p:nvSpPr>
        <p:spPr>
          <a:xfrm>
            <a:off x="640080" y="4983480"/>
            <a:ext cx="841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W10</a:t>
            </a:r>
            <a:endParaRPr lang="en-US" sz="1100" dirty="0"/>
          </a:p>
        </p:txBody>
      </p:sp>
      <p:sp>
        <p:nvSpPr>
          <p:cNvPr id="34" name="Text 32"/>
          <p:cNvSpPr/>
          <p:nvPr/>
        </p:nvSpPr>
        <p:spPr>
          <a:xfrm>
            <a:off x="1691640" y="4983480"/>
            <a:ext cx="2194560" cy="365760"/>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Soft launch</a:t>
            </a:r>
            <a:endParaRPr lang="en-US" sz="1300" dirty="0"/>
          </a:p>
        </p:txBody>
      </p:sp>
      <p:sp>
        <p:nvSpPr>
          <p:cNvPr id="35" name="Text 33"/>
          <p:cNvSpPr/>
          <p:nvPr/>
        </p:nvSpPr>
        <p:spPr>
          <a:xfrm>
            <a:off x="4023360" y="4983480"/>
            <a:ext cx="73152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All four bays stress-tested with 15–20 invited guests</a:t>
            </a:r>
            <a:endParaRPr lang="en-US" sz="1100" dirty="0"/>
          </a:p>
        </p:txBody>
      </p:sp>
      <p:sp>
        <p:nvSpPr>
          <p:cNvPr id="36" name="Shape 34"/>
          <p:cNvSpPr/>
          <p:nvPr/>
        </p:nvSpPr>
        <p:spPr>
          <a:xfrm>
            <a:off x="640080" y="5550408"/>
            <a:ext cx="841248" cy="365760"/>
          </a:xfrm>
          <a:prstGeom prst="roundRect">
            <a:avLst>
              <a:gd name="adj" fmla="val 12500"/>
            </a:avLst>
          </a:prstGeom>
          <a:solidFill>
            <a:srgbClr val="008C79"/>
          </a:solidFill>
          <a:ln/>
        </p:spPr>
      </p:sp>
      <p:sp>
        <p:nvSpPr>
          <p:cNvPr id="37" name="Text 35"/>
          <p:cNvSpPr/>
          <p:nvPr/>
        </p:nvSpPr>
        <p:spPr>
          <a:xfrm>
            <a:off x="640080" y="5550408"/>
            <a:ext cx="841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W10–11</a:t>
            </a:r>
            <a:endParaRPr lang="en-US" sz="1100" dirty="0"/>
          </a:p>
        </p:txBody>
      </p:sp>
      <p:sp>
        <p:nvSpPr>
          <p:cNvPr id="38" name="Text 36"/>
          <p:cNvSpPr/>
          <p:nvPr/>
        </p:nvSpPr>
        <p:spPr>
          <a:xfrm>
            <a:off x="1691640" y="5550408"/>
            <a:ext cx="2194560" cy="365760"/>
          </a:xfrm>
          <a:prstGeom prst="rect">
            <a:avLst/>
          </a:prstGeom>
          <a:noFill/>
          <a:ln/>
        </p:spPr>
        <p:txBody>
          <a:bodyPr wrap="square" lIns="0" tIns="0" rIns="0" bIns="0" rtlCol="0" anchor="ctr"/>
          <a:lstStyle/>
          <a:p>
            <a:pPr indent="0" marL="0">
              <a:buNone/>
            </a:pPr>
            <a:r>
              <a:rPr lang="en-US" sz="1300" b="1" dirty="0">
                <a:solidFill>
                  <a:srgbClr val="12141C"/>
                </a:solidFill>
                <a:latin typeface="Arial" pitchFamily="34" charset="0"/>
                <a:ea typeface="Arial" pitchFamily="34" charset="-122"/>
                <a:cs typeface="Arial" pitchFamily="34" charset="-120"/>
              </a:rPr>
              <a:t>Public launch</a:t>
            </a:r>
            <a:endParaRPr lang="en-US" sz="1300" dirty="0"/>
          </a:p>
        </p:txBody>
      </p:sp>
      <p:sp>
        <p:nvSpPr>
          <p:cNvPr id="39" name="Text 37"/>
          <p:cNvSpPr/>
          <p:nvPr/>
        </p:nvSpPr>
        <p:spPr>
          <a:xfrm>
            <a:off x="4023360" y="5550408"/>
            <a:ext cx="7315200" cy="36576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Opening-week pricing, launch tournament, all channels live</a:t>
            </a:r>
            <a:endParaRPr lang="en-US" sz="1100" dirty="0"/>
          </a:p>
        </p:txBody>
      </p:sp>
      <p:sp>
        <p:nvSpPr>
          <p:cNvPr id="40" name="Shape 38"/>
          <p:cNvSpPr/>
          <p:nvPr/>
        </p:nvSpPr>
        <p:spPr>
          <a:xfrm>
            <a:off x="640080" y="6144768"/>
            <a:ext cx="10911535" cy="457200"/>
          </a:xfrm>
          <a:prstGeom prst="roundRect">
            <a:avLst>
              <a:gd name="adj" fmla="val 20000"/>
            </a:avLst>
          </a:prstGeom>
          <a:solidFill>
            <a:srgbClr val="12141C"/>
          </a:solidFill>
          <a:ln/>
        </p:spPr>
      </p:sp>
      <p:sp>
        <p:nvSpPr>
          <p:cNvPr id="41" name="Text 39"/>
          <p:cNvSpPr/>
          <p:nvPr/>
        </p:nvSpPr>
        <p:spPr>
          <a:xfrm>
            <a:off x="960120" y="6217920"/>
            <a:ext cx="10241280" cy="3200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Critical path: fire NOC, CESC load enhancement, trade licence and internet installation each run 3–5 weeks. All are filed in the same week; everything else parallelises around them.</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GOVERNANCE</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Three gates where we stop and decide</a:t>
            </a:r>
            <a:endParaRPr lang="en-US" sz="3200" dirty="0"/>
          </a:p>
        </p:txBody>
      </p:sp>
      <p:sp>
        <p:nvSpPr>
          <p:cNvPr id="4" name="Text 2"/>
          <p:cNvSpPr/>
          <p:nvPr/>
        </p:nvSpPr>
        <p:spPr>
          <a:xfrm>
            <a:off x="640080" y="1463040"/>
            <a:ext cx="10515600" cy="32004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Capital is released in stages against evidence. Each gate is a genuine stop — if the criteria are not met, we do not proceed on optimism.</a:t>
            </a:r>
            <a:endParaRPr lang="en-US" sz="1250" dirty="0"/>
          </a:p>
        </p:txBody>
      </p:sp>
      <p:sp>
        <p:nvSpPr>
          <p:cNvPr id="5" name="Shape 3"/>
          <p:cNvSpPr/>
          <p:nvPr/>
        </p:nvSpPr>
        <p:spPr>
          <a:xfrm>
            <a:off x="640080" y="1965960"/>
            <a:ext cx="3429000" cy="3749040"/>
          </a:xfrm>
          <a:prstGeom prst="roundRect">
            <a:avLst>
              <a:gd name="adj" fmla="val 2667"/>
            </a:avLst>
          </a:prstGeom>
          <a:solidFill>
            <a:srgbClr val="F3F4F7"/>
          </a:solidFill>
          <a:ln/>
        </p:spPr>
      </p:sp>
      <p:sp>
        <p:nvSpPr>
          <p:cNvPr id="6" name="Shape 4"/>
          <p:cNvSpPr/>
          <p:nvPr/>
        </p:nvSpPr>
        <p:spPr>
          <a:xfrm>
            <a:off x="932688" y="2212848"/>
            <a:ext cx="457200" cy="457200"/>
          </a:xfrm>
          <a:prstGeom prst="ellipse">
            <a:avLst/>
          </a:prstGeom>
          <a:solidFill>
            <a:srgbClr val="00C2A8"/>
          </a:solidFill>
          <a:ln/>
        </p:spPr>
      </p:sp>
      <p:sp>
        <p:nvSpPr>
          <p:cNvPr id="7" name="Text 5"/>
          <p:cNvSpPr/>
          <p:nvPr/>
        </p:nvSpPr>
        <p:spPr>
          <a:xfrm>
            <a:off x="932688" y="22128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536192" y="2212848"/>
            <a:ext cx="2331720" cy="274320"/>
          </a:xfrm>
          <a:prstGeom prst="rect">
            <a:avLst/>
          </a:prstGeom>
          <a:noFill/>
          <a:ln/>
        </p:spPr>
        <p:txBody>
          <a:bodyPr wrap="square" lIns="0" tIns="0" rIns="0" bIns="0" rtlCol="0" anchor="ctr"/>
          <a:lstStyle/>
          <a:p>
            <a:pPr indent="0" marL="0">
              <a:buNone/>
            </a:pPr>
            <a:r>
              <a:rPr lang="en-US" sz="1400" b="1" dirty="0">
                <a:solidFill>
                  <a:srgbClr val="12141C"/>
                </a:solidFill>
                <a:latin typeface="Arial" pitchFamily="34" charset="0"/>
                <a:ea typeface="Arial" pitchFamily="34" charset="-122"/>
                <a:cs typeface="Arial" pitchFamily="34" charset="-120"/>
              </a:rPr>
              <a:t>Demand check</a:t>
            </a:r>
            <a:endParaRPr lang="en-US" sz="1400" dirty="0"/>
          </a:p>
        </p:txBody>
      </p:sp>
      <p:sp>
        <p:nvSpPr>
          <p:cNvPr id="9" name="Text 7"/>
          <p:cNvSpPr/>
          <p:nvPr/>
        </p:nvSpPr>
        <p:spPr>
          <a:xfrm>
            <a:off x="1536192" y="2487168"/>
            <a:ext cx="2331720" cy="23774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Week 2  ·  ₹2,000 spent</a:t>
            </a:r>
            <a:endParaRPr lang="en-US" sz="1000" dirty="0"/>
          </a:p>
        </p:txBody>
      </p:sp>
      <p:sp>
        <p:nvSpPr>
          <p:cNvPr id="10" name="Text 8"/>
          <p:cNvSpPr/>
          <p:nvPr/>
        </p:nvSpPr>
        <p:spPr>
          <a:xfrm>
            <a:off x="960120" y="2907792"/>
            <a:ext cx="2834640" cy="1353312"/>
          </a:xfrm>
          <a:prstGeom prst="rect">
            <a:avLst/>
          </a:prstGeom>
          <a:noFill/>
          <a:ln/>
        </p:spPr>
        <p:txBody>
          <a:bodyPr wrap="square" lIns="0" tIns="0" rIns="0" bIns="0" rtlCol="0" anchor="t"/>
          <a:lstStyle/>
          <a:p>
            <a:pPr indent="0" marL="0">
              <a:lnSpc>
                <a:spcPts val="1400"/>
              </a:lnSpc>
              <a:buNone/>
            </a:pPr>
            <a:r>
              <a:rPr lang="en-US" sz="1050" dirty="0">
                <a:solidFill>
                  <a:srgbClr val="4A5160"/>
                </a:solidFill>
                <a:latin typeface="Calibri" pitchFamily="34" charset="0"/>
                <a:ea typeface="Calibri" pitchFamily="34" charset="-122"/>
                <a:cs typeface="Calibri" pitchFamily="34" charset="-120"/>
              </a:rPr>
              <a:t>Are competitor bays occupied on weekday evenings? Are there three or more colleges within 2 km? Did eight of fifteen interviewees accept ₹150 an hour?</a:t>
            </a:r>
            <a:endParaRPr lang="en-US" sz="1050" dirty="0"/>
          </a:p>
        </p:txBody>
      </p:sp>
      <p:sp>
        <p:nvSpPr>
          <p:cNvPr id="11" name="Shape 9"/>
          <p:cNvSpPr/>
          <p:nvPr/>
        </p:nvSpPr>
        <p:spPr>
          <a:xfrm>
            <a:off x="960120" y="4343400"/>
            <a:ext cx="2834640" cy="1188720"/>
          </a:xfrm>
          <a:prstGeom prst="roundRect">
            <a:avLst>
              <a:gd name="adj" fmla="val 7692"/>
            </a:avLst>
          </a:prstGeom>
          <a:solidFill>
            <a:srgbClr val="FFFFFF"/>
          </a:solidFill>
          <a:ln/>
        </p:spPr>
      </p:sp>
      <p:sp>
        <p:nvSpPr>
          <p:cNvPr id="12" name="Text 10"/>
          <p:cNvSpPr/>
          <p:nvPr/>
        </p:nvSpPr>
        <p:spPr>
          <a:xfrm>
            <a:off x="1143000" y="4526280"/>
            <a:ext cx="2468880" cy="868680"/>
          </a:xfrm>
          <a:prstGeom prst="rect">
            <a:avLst/>
          </a:prstGeom>
          <a:noFill/>
          <a:ln/>
        </p:spPr>
        <p:txBody>
          <a:bodyPr wrap="square" lIns="0" tIns="0" rIns="0" bIns="0" rtlCol="0" anchor="t"/>
          <a:lstStyle/>
          <a:p>
            <a:pPr indent="0" marL="0">
              <a:lnSpc>
                <a:spcPts val="1350"/>
              </a:lnSpc>
              <a:buNone/>
            </a:pPr>
            <a:r>
              <a:rPr lang="en-US" sz="1000" b="1" dirty="0">
                <a:solidFill>
                  <a:srgbClr val="00C2A8"/>
                </a:solidFill>
                <a:latin typeface="Calibri" pitchFamily="34" charset="0"/>
                <a:ea typeface="Calibri" pitchFamily="34" charset="-122"/>
                <a:cs typeface="Calibri" pitchFamily="34" charset="-120"/>
              </a:rPr>
              <a:t>Fewer than four of five criteria met → we stop, having learned it for ₹2,000.</a:t>
            </a:r>
            <a:endParaRPr lang="en-US" sz="1000" dirty="0"/>
          </a:p>
        </p:txBody>
      </p:sp>
      <p:sp>
        <p:nvSpPr>
          <p:cNvPr id="13" name="Shape 11"/>
          <p:cNvSpPr/>
          <p:nvPr/>
        </p:nvSpPr>
        <p:spPr>
          <a:xfrm>
            <a:off x="4352544" y="1965960"/>
            <a:ext cx="3429000" cy="3749040"/>
          </a:xfrm>
          <a:prstGeom prst="roundRect">
            <a:avLst>
              <a:gd name="adj" fmla="val 2667"/>
            </a:avLst>
          </a:prstGeom>
          <a:solidFill>
            <a:srgbClr val="F3F4F7"/>
          </a:solidFill>
          <a:ln/>
        </p:spPr>
      </p:sp>
      <p:sp>
        <p:nvSpPr>
          <p:cNvPr id="14" name="Shape 12"/>
          <p:cNvSpPr/>
          <p:nvPr/>
        </p:nvSpPr>
        <p:spPr>
          <a:xfrm>
            <a:off x="4645152" y="2212848"/>
            <a:ext cx="457200" cy="457200"/>
          </a:xfrm>
          <a:prstGeom prst="ellipse">
            <a:avLst/>
          </a:prstGeom>
          <a:solidFill>
            <a:srgbClr val="D64550"/>
          </a:solidFill>
          <a:ln/>
        </p:spPr>
      </p:sp>
      <p:sp>
        <p:nvSpPr>
          <p:cNvPr id="15" name="Text 13"/>
          <p:cNvSpPr/>
          <p:nvPr/>
        </p:nvSpPr>
        <p:spPr>
          <a:xfrm>
            <a:off x="4645152" y="22128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5248656" y="2212848"/>
            <a:ext cx="2331720" cy="274320"/>
          </a:xfrm>
          <a:prstGeom prst="rect">
            <a:avLst/>
          </a:prstGeom>
          <a:noFill/>
          <a:ln/>
        </p:spPr>
        <p:txBody>
          <a:bodyPr wrap="square" lIns="0" tIns="0" rIns="0" bIns="0" rtlCol="0" anchor="ctr"/>
          <a:lstStyle/>
          <a:p>
            <a:pPr indent="0" marL="0">
              <a:buNone/>
            </a:pPr>
            <a:r>
              <a:rPr lang="en-US" sz="1400" b="1" dirty="0">
                <a:solidFill>
                  <a:srgbClr val="12141C"/>
                </a:solidFill>
                <a:latin typeface="Arial" pitchFamily="34" charset="0"/>
                <a:ea typeface="Arial" pitchFamily="34" charset="-122"/>
                <a:cs typeface="Arial" pitchFamily="34" charset="-120"/>
              </a:rPr>
              <a:t>Legal go / no-go</a:t>
            </a:r>
            <a:endParaRPr lang="en-US" sz="1400" dirty="0"/>
          </a:p>
        </p:txBody>
      </p:sp>
      <p:sp>
        <p:nvSpPr>
          <p:cNvPr id="17" name="Text 15"/>
          <p:cNvSpPr/>
          <p:nvPr/>
        </p:nvSpPr>
        <p:spPr>
          <a:xfrm>
            <a:off x="5248656" y="2487168"/>
            <a:ext cx="2331720" cy="23774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Week 3  ·  ₹10,000 spent</a:t>
            </a:r>
            <a:endParaRPr lang="en-US" sz="1000" dirty="0"/>
          </a:p>
        </p:txBody>
      </p:sp>
      <p:sp>
        <p:nvSpPr>
          <p:cNvPr id="18" name="Text 16"/>
          <p:cNvSpPr/>
          <p:nvPr/>
        </p:nvSpPr>
        <p:spPr>
          <a:xfrm>
            <a:off x="4672584" y="2907792"/>
            <a:ext cx="2834640" cy="1353312"/>
          </a:xfrm>
          <a:prstGeom prst="rect">
            <a:avLst/>
          </a:prstGeom>
          <a:noFill/>
          <a:ln/>
        </p:spPr>
        <p:txBody>
          <a:bodyPr wrap="square" lIns="0" tIns="0" rIns="0" bIns="0" rtlCol="0" anchor="t"/>
          <a:lstStyle/>
          <a:p>
            <a:pPr indent="0" marL="0">
              <a:lnSpc>
                <a:spcPts val="1400"/>
              </a:lnSpc>
              <a:buNone/>
            </a:pPr>
            <a:r>
              <a:rPr lang="en-US" sz="1050" dirty="0">
                <a:solidFill>
                  <a:srgbClr val="4A5160"/>
                </a:solidFill>
                <a:latin typeface="Calibri" pitchFamily="34" charset="0"/>
                <a:ea typeface="Calibri" pitchFamily="34" charset="-122"/>
                <a:cs typeface="Calibri" pitchFamily="34" charset="-120"/>
              </a:rPr>
              <a:t>Landlord NOC inside the lease. Society NOC on letterhead. Consultant confirms the trade licence is obtainable. Two exit routes. Electrical load enhancement quoted. Neighbours informed.</a:t>
            </a:r>
            <a:endParaRPr lang="en-US" sz="1050" dirty="0"/>
          </a:p>
        </p:txBody>
      </p:sp>
      <p:sp>
        <p:nvSpPr>
          <p:cNvPr id="19" name="Shape 17"/>
          <p:cNvSpPr/>
          <p:nvPr/>
        </p:nvSpPr>
        <p:spPr>
          <a:xfrm>
            <a:off x="4672584" y="4343400"/>
            <a:ext cx="2834640" cy="1188720"/>
          </a:xfrm>
          <a:prstGeom prst="roundRect">
            <a:avLst>
              <a:gd name="adj" fmla="val 7692"/>
            </a:avLst>
          </a:prstGeom>
          <a:solidFill>
            <a:srgbClr val="FFFFFF"/>
          </a:solidFill>
          <a:ln/>
        </p:spPr>
      </p:sp>
      <p:sp>
        <p:nvSpPr>
          <p:cNvPr id="20" name="Text 18"/>
          <p:cNvSpPr/>
          <p:nvPr/>
        </p:nvSpPr>
        <p:spPr>
          <a:xfrm>
            <a:off x="4855464" y="4526280"/>
            <a:ext cx="2468880" cy="868680"/>
          </a:xfrm>
          <a:prstGeom prst="rect">
            <a:avLst/>
          </a:prstGeom>
          <a:noFill/>
          <a:ln/>
        </p:spPr>
        <p:txBody>
          <a:bodyPr wrap="square" lIns="0" tIns="0" rIns="0" bIns="0" rtlCol="0" anchor="t"/>
          <a:lstStyle/>
          <a:p>
            <a:pPr indent="0" marL="0">
              <a:lnSpc>
                <a:spcPts val="1350"/>
              </a:lnSpc>
              <a:buNone/>
            </a:pPr>
            <a:r>
              <a:rPr lang="en-US" sz="1000" b="1" dirty="0">
                <a:solidFill>
                  <a:srgbClr val="D64550"/>
                </a:solidFill>
                <a:latin typeface="Calibri" pitchFamily="34" charset="0"/>
                <a:ea typeface="Calibri" pitchFamily="34" charset="-122"/>
                <a:cs typeface="Calibri" pitchFamily="34" charset="-120"/>
              </a:rPr>
              <a:t>Any single failure → different premises. All six must pass; there is no 'sort it later'.</a:t>
            </a:r>
            <a:endParaRPr lang="en-US" sz="1000" dirty="0"/>
          </a:p>
        </p:txBody>
      </p:sp>
      <p:sp>
        <p:nvSpPr>
          <p:cNvPr id="21" name="Shape 19"/>
          <p:cNvSpPr/>
          <p:nvPr/>
        </p:nvSpPr>
        <p:spPr>
          <a:xfrm>
            <a:off x="8065008" y="1965960"/>
            <a:ext cx="3429000" cy="3749040"/>
          </a:xfrm>
          <a:prstGeom prst="roundRect">
            <a:avLst>
              <a:gd name="adj" fmla="val 2667"/>
            </a:avLst>
          </a:prstGeom>
          <a:solidFill>
            <a:srgbClr val="F3F4F7"/>
          </a:solidFill>
          <a:ln/>
        </p:spPr>
      </p:sp>
      <p:sp>
        <p:nvSpPr>
          <p:cNvPr id="22" name="Shape 20"/>
          <p:cNvSpPr/>
          <p:nvPr/>
        </p:nvSpPr>
        <p:spPr>
          <a:xfrm>
            <a:off x="8357616" y="2212848"/>
            <a:ext cx="457200" cy="457200"/>
          </a:xfrm>
          <a:prstGeom prst="ellipse">
            <a:avLst/>
          </a:prstGeom>
          <a:solidFill>
            <a:srgbClr val="FF8A3D"/>
          </a:solidFill>
          <a:ln/>
        </p:spPr>
      </p:sp>
      <p:sp>
        <p:nvSpPr>
          <p:cNvPr id="23" name="Text 21"/>
          <p:cNvSpPr/>
          <p:nvPr/>
        </p:nvSpPr>
        <p:spPr>
          <a:xfrm>
            <a:off x="8357616" y="22128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4" name="Text 22"/>
          <p:cNvSpPr/>
          <p:nvPr/>
        </p:nvSpPr>
        <p:spPr>
          <a:xfrm>
            <a:off x="8961120" y="2212848"/>
            <a:ext cx="2331720" cy="274320"/>
          </a:xfrm>
          <a:prstGeom prst="rect">
            <a:avLst/>
          </a:prstGeom>
          <a:noFill/>
          <a:ln/>
        </p:spPr>
        <p:txBody>
          <a:bodyPr wrap="square" lIns="0" tIns="0" rIns="0" bIns="0" rtlCol="0" anchor="ctr"/>
          <a:lstStyle/>
          <a:p>
            <a:pPr indent="0" marL="0">
              <a:buNone/>
            </a:pPr>
            <a:r>
              <a:rPr lang="en-US" sz="1400" b="1" dirty="0">
                <a:solidFill>
                  <a:srgbClr val="12141C"/>
                </a:solidFill>
                <a:latin typeface="Arial" pitchFamily="34" charset="0"/>
                <a:ea typeface="Arial" pitchFamily="34" charset="-122"/>
                <a:cs typeface="Arial" pitchFamily="34" charset="-120"/>
              </a:rPr>
              <a:t>Rent vs buy</a:t>
            </a:r>
            <a:endParaRPr lang="en-US" sz="1400" dirty="0"/>
          </a:p>
        </p:txBody>
      </p:sp>
      <p:sp>
        <p:nvSpPr>
          <p:cNvPr id="25" name="Text 23"/>
          <p:cNvSpPr/>
          <p:nvPr/>
        </p:nvSpPr>
        <p:spPr>
          <a:xfrm>
            <a:off x="8961120" y="2487168"/>
            <a:ext cx="2331720" cy="237744"/>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Month 6  ·  Full capital deployed</a:t>
            </a:r>
            <a:endParaRPr lang="en-US" sz="1000" dirty="0"/>
          </a:p>
        </p:txBody>
      </p:sp>
      <p:sp>
        <p:nvSpPr>
          <p:cNvPr id="26" name="Text 24"/>
          <p:cNvSpPr/>
          <p:nvPr/>
        </p:nvSpPr>
        <p:spPr>
          <a:xfrm>
            <a:off x="8385048" y="2907792"/>
            <a:ext cx="2834640" cy="1353312"/>
          </a:xfrm>
          <a:prstGeom prst="rect">
            <a:avLst/>
          </a:prstGeom>
          <a:noFill/>
          <a:ln/>
        </p:spPr>
        <p:txBody>
          <a:bodyPr wrap="square" lIns="0" tIns="0" rIns="0" bIns="0" rtlCol="0" anchor="t"/>
          <a:lstStyle/>
          <a:p>
            <a:pPr indent="0" marL="0">
              <a:lnSpc>
                <a:spcPts val="1400"/>
              </a:lnSpc>
              <a:buNone/>
            </a:pPr>
            <a:r>
              <a:rPr lang="en-US" sz="1050" dirty="0">
                <a:solidFill>
                  <a:srgbClr val="4A5160"/>
                </a:solidFill>
                <a:latin typeface="Calibri" pitchFamily="34" charset="0"/>
                <a:ea typeface="Calibri" pitchFamily="34" charset="-122"/>
                <a:cs typeface="Calibri" pitchFamily="34" charset="-120"/>
              </a:rPr>
              <a:t>Above 45% utilisation and cash positive → begin converting leased consoles to owned. Between 35% and 45% → convert one, reassess at Month 9.</a:t>
            </a:r>
            <a:endParaRPr lang="en-US" sz="1050" dirty="0"/>
          </a:p>
        </p:txBody>
      </p:sp>
      <p:sp>
        <p:nvSpPr>
          <p:cNvPr id="27" name="Shape 25"/>
          <p:cNvSpPr/>
          <p:nvPr/>
        </p:nvSpPr>
        <p:spPr>
          <a:xfrm>
            <a:off x="8385048" y="4343400"/>
            <a:ext cx="2834640" cy="1188720"/>
          </a:xfrm>
          <a:prstGeom prst="roundRect">
            <a:avLst>
              <a:gd name="adj" fmla="val 7692"/>
            </a:avLst>
          </a:prstGeom>
          <a:solidFill>
            <a:srgbClr val="FFFFFF"/>
          </a:solidFill>
          <a:ln/>
        </p:spPr>
      </p:sp>
      <p:sp>
        <p:nvSpPr>
          <p:cNvPr id="28" name="Text 26"/>
          <p:cNvSpPr/>
          <p:nvPr/>
        </p:nvSpPr>
        <p:spPr>
          <a:xfrm>
            <a:off x="8567928" y="4526280"/>
            <a:ext cx="2468880" cy="868680"/>
          </a:xfrm>
          <a:prstGeom prst="rect">
            <a:avLst/>
          </a:prstGeom>
          <a:noFill/>
          <a:ln/>
        </p:spPr>
        <p:txBody>
          <a:bodyPr wrap="square" lIns="0" tIns="0" rIns="0" bIns="0" rtlCol="0" anchor="t"/>
          <a:lstStyle/>
          <a:p>
            <a:pPr indent="0" marL="0">
              <a:lnSpc>
                <a:spcPts val="1350"/>
              </a:lnSpc>
              <a:buNone/>
            </a:pPr>
            <a:r>
              <a:rPr lang="en-US" sz="1000" b="1" dirty="0">
                <a:solidFill>
                  <a:srgbClr val="FF8A3D"/>
                </a:solidFill>
                <a:latin typeface="Calibri" pitchFamily="34" charset="0"/>
                <a:ea typeface="Calibri" pitchFamily="34" charset="-122"/>
                <a:cs typeface="Calibri" pitchFamily="34" charset="-120"/>
              </a:rPr>
              <a:t>Below 30% and still loss-making → 60 days to fix demand, or exit and recover ₹1.5–2L.</a:t>
            </a:r>
            <a:endParaRPr lang="en-US" sz="1000" dirty="0"/>
          </a:p>
        </p:txBody>
      </p:sp>
      <p:sp>
        <p:nvSpPr>
          <p:cNvPr id="29" name="Text 27"/>
          <p:cNvSpPr/>
          <p:nvPr/>
        </p:nvSpPr>
        <p:spPr>
          <a:xfrm>
            <a:off x="640080" y="5897880"/>
            <a:ext cx="10911535" cy="365760"/>
          </a:xfrm>
          <a:prstGeom prst="rect">
            <a:avLst/>
          </a:prstGeom>
          <a:noFill/>
          <a:ln/>
        </p:spPr>
        <p:txBody>
          <a:bodyPr wrap="square" lIns="0" tIns="0" rIns="0" bIns="0" rtlCol="0" anchor="ctr"/>
          <a:lstStyle/>
          <a:p>
            <a:pPr indent="0" marL="0">
              <a:buNone/>
            </a:pPr>
            <a:r>
              <a:rPr lang="en-US" sz="1150" i="1" dirty="0">
                <a:solidFill>
                  <a:srgbClr val="008C79"/>
                </a:solidFill>
                <a:latin typeface="Calibri" pitchFamily="34" charset="0"/>
                <a:ea typeface="Calibri" pitchFamily="34" charset="-122"/>
                <a:cs typeface="Calibri" pitchFamily="34" charset="-120"/>
              </a:rPr>
              <a:t>An exit criterion is set in advance: no profitable month by Month 8 means we wind down and recover ₹1.5–2 lakh. Deciding this while calm is easier than deciding it mid-struggle.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RISK REGISTER</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indent="0" marL="0">
              <a:buNone/>
            </a:pPr>
            <a:r>
              <a:rPr lang="en-US" sz="3200" b="1" dirty="0">
                <a:solidFill>
                  <a:srgbClr val="12141C"/>
                </a:solidFill>
                <a:latin typeface="Arial" pitchFamily="34" charset="0"/>
                <a:ea typeface="Arial" pitchFamily="34" charset="-122"/>
                <a:cs typeface="Arial" pitchFamily="34" charset="-120"/>
              </a:rPr>
              <a:t>What could go wrong, and what we have done about it</a:t>
            </a:r>
            <a:endParaRPr lang="en-US" sz="3200" dirty="0"/>
          </a:p>
        </p:txBody>
      </p:sp>
      <p:sp>
        <p:nvSpPr>
          <p:cNvPr id="4" name="Text 2"/>
          <p:cNvSpPr/>
          <p:nvPr/>
        </p:nvSpPr>
        <p:spPr>
          <a:xfrm>
            <a:off x="640080" y="1481328"/>
            <a:ext cx="4114800" cy="274320"/>
          </a:xfrm>
          <a:prstGeom prst="rect">
            <a:avLst/>
          </a:prstGeom>
          <a:noFill/>
          <a:ln/>
        </p:spPr>
        <p:txBody>
          <a:bodyPr wrap="square" lIns="0" tIns="0" rIns="0" bIns="0" rtlCol="0" anchor="ctr"/>
          <a:lstStyle/>
          <a:p>
            <a:pPr indent="0" marL="0">
              <a:buNone/>
            </a:pPr>
            <a:r>
              <a:rPr lang="en-US" sz="1000" b="1" spc="150" kern="0" dirty="0">
                <a:solidFill>
                  <a:srgbClr val="00C2A8"/>
                </a:solidFill>
                <a:latin typeface="Calibri" pitchFamily="34" charset="0"/>
                <a:ea typeface="Calibri" pitchFamily="34" charset="-122"/>
                <a:cs typeface="Calibri" pitchFamily="34" charset="-120"/>
              </a:rPr>
              <a:t>RISK</a:t>
            </a:r>
            <a:endParaRPr lang="en-US" sz="1000" dirty="0"/>
          </a:p>
        </p:txBody>
      </p:sp>
      <p:sp>
        <p:nvSpPr>
          <p:cNvPr id="5" name="Text 3"/>
          <p:cNvSpPr/>
          <p:nvPr/>
        </p:nvSpPr>
        <p:spPr>
          <a:xfrm>
            <a:off x="4846320" y="1481328"/>
            <a:ext cx="1188720" cy="274320"/>
          </a:xfrm>
          <a:prstGeom prst="rect">
            <a:avLst/>
          </a:prstGeom>
          <a:noFill/>
          <a:ln/>
        </p:spPr>
        <p:txBody>
          <a:bodyPr wrap="square" lIns="0" tIns="0" rIns="0" bIns="0" rtlCol="0" anchor="ctr"/>
          <a:lstStyle/>
          <a:p>
            <a:pPr indent="0" marL="0">
              <a:buNone/>
            </a:pPr>
            <a:r>
              <a:rPr lang="en-US" sz="1000" b="1" spc="150" kern="0" dirty="0">
                <a:solidFill>
                  <a:srgbClr val="00C2A8"/>
                </a:solidFill>
                <a:latin typeface="Calibri" pitchFamily="34" charset="0"/>
                <a:ea typeface="Calibri" pitchFamily="34" charset="-122"/>
                <a:cs typeface="Calibri" pitchFamily="34" charset="-120"/>
              </a:rPr>
              <a:t>SEVERITY</a:t>
            </a:r>
            <a:endParaRPr lang="en-US" sz="1000" dirty="0"/>
          </a:p>
        </p:txBody>
      </p:sp>
      <p:sp>
        <p:nvSpPr>
          <p:cNvPr id="6" name="Text 4"/>
          <p:cNvSpPr/>
          <p:nvPr/>
        </p:nvSpPr>
        <p:spPr>
          <a:xfrm>
            <a:off x="6126480" y="1481328"/>
            <a:ext cx="5394960" cy="274320"/>
          </a:xfrm>
          <a:prstGeom prst="rect">
            <a:avLst/>
          </a:prstGeom>
          <a:noFill/>
          <a:ln/>
        </p:spPr>
        <p:txBody>
          <a:bodyPr wrap="square" lIns="0" tIns="0" rIns="0" bIns="0" rtlCol="0" anchor="ctr"/>
          <a:lstStyle/>
          <a:p>
            <a:pPr indent="0" marL="0">
              <a:buNone/>
            </a:pPr>
            <a:r>
              <a:rPr lang="en-US" sz="1000" b="1" spc="150" kern="0" dirty="0">
                <a:solidFill>
                  <a:srgbClr val="00C2A8"/>
                </a:solidFill>
                <a:latin typeface="Calibri" pitchFamily="34" charset="0"/>
                <a:ea typeface="Calibri" pitchFamily="34" charset="-122"/>
                <a:cs typeface="Calibri" pitchFamily="34" charset="-120"/>
              </a:rPr>
              <a:t>MITIGATION</a:t>
            </a:r>
            <a:endParaRPr lang="en-US" sz="1000" dirty="0"/>
          </a:p>
        </p:txBody>
      </p:sp>
      <p:sp>
        <p:nvSpPr>
          <p:cNvPr id="7" name="Shape 5"/>
          <p:cNvSpPr/>
          <p:nvPr/>
        </p:nvSpPr>
        <p:spPr>
          <a:xfrm>
            <a:off x="502920" y="1783080"/>
            <a:ext cx="11185855" cy="658368"/>
          </a:xfrm>
          <a:prstGeom prst="roundRect">
            <a:avLst>
              <a:gd name="adj" fmla="val 6944"/>
            </a:avLst>
          </a:prstGeom>
          <a:solidFill>
            <a:srgbClr val="F3F4F7"/>
          </a:solidFill>
          <a:ln/>
        </p:spPr>
      </p:sp>
      <p:sp>
        <p:nvSpPr>
          <p:cNvPr id="8" name="Text 6"/>
          <p:cNvSpPr/>
          <p:nvPr/>
        </p:nvSpPr>
        <p:spPr>
          <a:xfrm>
            <a:off x="640080" y="1828800"/>
            <a:ext cx="4114800" cy="566928"/>
          </a:xfrm>
          <a:prstGeom prst="rect">
            <a:avLst/>
          </a:prstGeom>
          <a:noFill/>
          <a:ln/>
        </p:spPr>
        <p:txBody>
          <a:bodyPr wrap="square" lIns="0" tIns="0" rIns="0" bIns="0" rtlCol="0" anchor="ctr"/>
          <a:lstStyle/>
          <a:p>
            <a:pPr indent="0" marL="0">
              <a:lnSpc>
                <a:spcPts val="1400"/>
              </a:lnSpc>
              <a:buNone/>
            </a:pPr>
            <a:r>
              <a:rPr lang="en-US" sz="1150" b="1" dirty="0">
                <a:solidFill>
                  <a:srgbClr val="12141C"/>
                </a:solidFill>
                <a:latin typeface="Arial" pitchFamily="34" charset="0"/>
                <a:ea typeface="Arial" pitchFamily="34" charset="-122"/>
                <a:cs typeface="Arial" pitchFamily="34" charset="-120"/>
              </a:rPr>
              <a:t>Residential premises cannot be licensed</a:t>
            </a:r>
            <a:endParaRPr lang="en-US" sz="1150" dirty="0"/>
          </a:p>
        </p:txBody>
      </p:sp>
      <p:sp>
        <p:nvSpPr>
          <p:cNvPr id="9" name="Shape 7"/>
          <p:cNvSpPr/>
          <p:nvPr/>
        </p:nvSpPr>
        <p:spPr>
          <a:xfrm>
            <a:off x="4846320" y="1956816"/>
            <a:ext cx="868680" cy="310896"/>
          </a:xfrm>
          <a:prstGeom prst="roundRect">
            <a:avLst>
              <a:gd name="adj" fmla="val 17647"/>
            </a:avLst>
          </a:prstGeom>
          <a:solidFill>
            <a:srgbClr val="FBE3E5"/>
          </a:solidFill>
          <a:ln/>
        </p:spPr>
      </p:sp>
      <p:sp>
        <p:nvSpPr>
          <p:cNvPr id="10" name="Text 8"/>
          <p:cNvSpPr/>
          <p:nvPr/>
        </p:nvSpPr>
        <p:spPr>
          <a:xfrm>
            <a:off x="4846320" y="1956816"/>
            <a:ext cx="868680" cy="310896"/>
          </a:xfrm>
          <a:prstGeom prst="rect">
            <a:avLst/>
          </a:prstGeom>
          <a:noFill/>
          <a:ln/>
        </p:spPr>
        <p:txBody>
          <a:bodyPr wrap="square" lIns="0" tIns="0" rIns="0" bIns="0" rtlCol="0" anchor="ctr"/>
          <a:lstStyle/>
          <a:p>
            <a:pPr algn="ctr" indent="0" marL="0">
              <a:buNone/>
            </a:pPr>
            <a:r>
              <a:rPr lang="en-US" sz="1000" b="1" dirty="0">
                <a:solidFill>
                  <a:srgbClr val="D64550"/>
                </a:solidFill>
                <a:latin typeface="Calibri" pitchFamily="34" charset="0"/>
                <a:ea typeface="Calibri" pitchFamily="34" charset="-122"/>
                <a:cs typeface="Calibri" pitchFamily="34" charset="-120"/>
              </a:rPr>
              <a:t>High</a:t>
            </a:r>
            <a:endParaRPr lang="en-US" sz="1000" dirty="0"/>
          </a:p>
        </p:txBody>
      </p:sp>
      <p:sp>
        <p:nvSpPr>
          <p:cNvPr id="11" name="Text 9"/>
          <p:cNvSpPr/>
          <p:nvPr/>
        </p:nvSpPr>
        <p:spPr>
          <a:xfrm>
            <a:off x="6126480" y="1828800"/>
            <a:ext cx="5394960" cy="566928"/>
          </a:xfrm>
          <a:prstGeom prst="rect">
            <a:avLst/>
          </a:prstGeom>
          <a:noFill/>
          <a:ln/>
        </p:spPr>
        <p:txBody>
          <a:bodyPr wrap="square" lIns="0" tIns="0" rIns="0" bIns="0" rtlCol="0" anchor="ctr"/>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Gate 2 clears all six legal conditions before any hardware spend. Failure means different premises, not a workaround.</a:t>
            </a:r>
            <a:endParaRPr lang="en-US" sz="1050" dirty="0"/>
          </a:p>
        </p:txBody>
      </p:sp>
      <p:sp>
        <p:nvSpPr>
          <p:cNvPr id="12" name="Text 10"/>
          <p:cNvSpPr/>
          <p:nvPr/>
        </p:nvSpPr>
        <p:spPr>
          <a:xfrm>
            <a:off x="640080" y="2542032"/>
            <a:ext cx="4114800" cy="566928"/>
          </a:xfrm>
          <a:prstGeom prst="rect">
            <a:avLst/>
          </a:prstGeom>
          <a:noFill/>
          <a:ln/>
        </p:spPr>
        <p:txBody>
          <a:bodyPr wrap="square" lIns="0" tIns="0" rIns="0" bIns="0" rtlCol="0" anchor="ctr"/>
          <a:lstStyle/>
          <a:p>
            <a:pPr indent="0" marL="0">
              <a:lnSpc>
                <a:spcPts val="1400"/>
              </a:lnSpc>
              <a:buNone/>
            </a:pPr>
            <a:r>
              <a:rPr lang="en-US" sz="1150" b="1" dirty="0">
                <a:solidFill>
                  <a:srgbClr val="12141C"/>
                </a:solidFill>
                <a:latin typeface="Arial" pitchFamily="34" charset="0"/>
                <a:ea typeface="Arial" pitchFamily="34" charset="-122"/>
                <a:cs typeface="Arial" pitchFamily="34" charset="-120"/>
              </a:rPr>
              <a:t>Neighbour complaints in a residential building</a:t>
            </a:r>
            <a:endParaRPr lang="en-US" sz="1150" dirty="0"/>
          </a:p>
        </p:txBody>
      </p:sp>
      <p:sp>
        <p:nvSpPr>
          <p:cNvPr id="13" name="Shape 11"/>
          <p:cNvSpPr/>
          <p:nvPr/>
        </p:nvSpPr>
        <p:spPr>
          <a:xfrm>
            <a:off x="4846320" y="2670048"/>
            <a:ext cx="868680" cy="310896"/>
          </a:xfrm>
          <a:prstGeom prst="roundRect">
            <a:avLst>
              <a:gd name="adj" fmla="val 17647"/>
            </a:avLst>
          </a:prstGeom>
          <a:solidFill>
            <a:srgbClr val="FBE3E5"/>
          </a:solidFill>
          <a:ln/>
        </p:spPr>
      </p:sp>
      <p:sp>
        <p:nvSpPr>
          <p:cNvPr id="14" name="Text 12"/>
          <p:cNvSpPr/>
          <p:nvPr/>
        </p:nvSpPr>
        <p:spPr>
          <a:xfrm>
            <a:off x="4846320" y="2670048"/>
            <a:ext cx="868680" cy="310896"/>
          </a:xfrm>
          <a:prstGeom prst="rect">
            <a:avLst/>
          </a:prstGeom>
          <a:noFill/>
          <a:ln/>
        </p:spPr>
        <p:txBody>
          <a:bodyPr wrap="square" lIns="0" tIns="0" rIns="0" bIns="0" rtlCol="0" anchor="ctr"/>
          <a:lstStyle/>
          <a:p>
            <a:pPr algn="ctr" indent="0" marL="0">
              <a:buNone/>
            </a:pPr>
            <a:r>
              <a:rPr lang="en-US" sz="1000" b="1" dirty="0">
                <a:solidFill>
                  <a:srgbClr val="D64550"/>
                </a:solidFill>
                <a:latin typeface="Calibri" pitchFamily="34" charset="0"/>
                <a:ea typeface="Calibri" pitchFamily="34" charset="-122"/>
                <a:cs typeface="Calibri" pitchFamily="34" charset="-120"/>
              </a:rPr>
              <a:t>High</a:t>
            </a:r>
            <a:endParaRPr lang="en-US" sz="1000" dirty="0"/>
          </a:p>
        </p:txBody>
      </p:sp>
      <p:sp>
        <p:nvSpPr>
          <p:cNvPr id="15" name="Text 13"/>
          <p:cNvSpPr/>
          <p:nvPr/>
        </p:nvSpPr>
        <p:spPr>
          <a:xfrm>
            <a:off x="6126480" y="2542032"/>
            <a:ext cx="5394960" cy="566928"/>
          </a:xfrm>
          <a:prstGeom prst="rect">
            <a:avLst/>
          </a:prstGeom>
          <a:noFill/>
          <a:ln/>
        </p:spPr>
        <p:txBody>
          <a:bodyPr wrap="square" lIns="0" tIns="0" rIns="0" bIns="0" rtlCol="0" anchor="ctr"/>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Acoustic panels on shared walls, headphones mandatory after 9pm, no corridor loitering, neighbours briefed before signing.</a:t>
            </a:r>
            <a:endParaRPr lang="en-US" sz="1050" dirty="0"/>
          </a:p>
        </p:txBody>
      </p:sp>
      <p:sp>
        <p:nvSpPr>
          <p:cNvPr id="16" name="Shape 14"/>
          <p:cNvSpPr/>
          <p:nvPr/>
        </p:nvSpPr>
        <p:spPr>
          <a:xfrm>
            <a:off x="502920" y="3209544"/>
            <a:ext cx="11185855" cy="658368"/>
          </a:xfrm>
          <a:prstGeom prst="roundRect">
            <a:avLst>
              <a:gd name="adj" fmla="val 6944"/>
            </a:avLst>
          </a:prstGeom>
          <a:solidFill>
            <a:srgbClr val="F3F4F7"/>
          </a:solidFill>
          <a:ln/>
        </p:spPr>
      </p:sp>
      <p:sp>
        <p:nvSpPr>
          <p:cNvPr id="17" name="Text 15"/>
          <p:cNvSpPr/>
          <p:nvPr/>
        </p:nvSpPr>
        <p:spPr>
          <a:xfrm>
            <a:off x="640080" y="3255264"/>
            <a:ext cx="4114800" cy="566928"/>
          </a:xfrm>
          <a:prstGeom prst="rect">
            <a:avLst/>
          </a:prstGeom>
          <a:noFill/>
          <a:ln/>
        </p:spPr>
        <p:txBody>
          <a:bodyPr wrap="square" lIns="0" tIns="0" rIns="0" bIns="0" rtlCol="0" anchor="ctr"/>
          <a:lstStyle/>
          <a:p>
            <a:pPr indent="0" marL="0">
              <a:lnSpc>
                <a:spcPts val="1400"/>
              </a:lnSpc>
              <a:buNone/>
            </a:pPr>
            <a:r>
              <a:rPr lang="en-US" sz="1150" b="1" dirty="0">
                <a:solidFill>
                  <a:srgbClr val="12141C"/>
                </a:solidFill>
                <a:latin typeface="Arial" pitchFamily="34" charset="0"/>
                <a:ea typeface="Arial" pitchFamily="34" charset="-122"/>
                <a:cs typeface="Arial" pitchFamily="34" charset="-120"/>
              </a:rPr>
              <a:t>Weekday utilisation stays below 30%</a:t>
            </a:r>
            <a:endParaRPr lang="en-US" sz="1150" dirty="0"/>
          </a:p>
        </p:txBody>
      </p:sp>
      <p:sp>
        <p:nvSpPr>
          <p:cNvPr id="18" name="Shape 16"/>
          <p:cNvSpPr/>
          <p:nvPr/>
        </p:nvSpPr>
        <p:spPr>
          <a:xfrm>
            <a:off x="4846320" y="3383280"/>
            <a:ext cx="868680" cy="310896"/>
          </a:xfrm>
          <a:prstGeom prst="roundRect">
            <a:avLst>
              <a:gd name="adj" fmla="val 17647"/>
            </a:avLst>
          </a:prstGeom>
          <a:solidFill>
            <a:srgbClr val="FFE8D6"/>
          </a:solidFill>
          <a:ln/>
        </p:spPr>
      </p:sp>
      <p:sp>
        <p:nvSpPr>
          <p:cNvPr id="19" name="Text 17"/>
          <p:cNvSpPr/>
          <p:nvPr/>
        </p:nvSpPr>
        <p:spPr>
          <a:xfrm>
            <a:off x="4846320" y="3383280"/>
            <a:ext cx="868680" cy="310896"/>
          </a:xfrm>
          <a:prstGeom prst="rect">
            <a:avLst/>
          </a:prstGeom>
          <a:noFill/>
          <a:ln/>
        </p:spPr>
        <p:txBody>
          <a:bodyPr wrap="square" lIns="0" tIns="0" rIns="0" bIns="0" rtlCol="0" anchor="ctr"/>
          <a:lstStyle/>
          <a:p>
            <a:pPr algn="ctr" indent="0" marL="0">
              <a:buNone/>
            </a:pPr>
            <a:r>
              <a:rPr lang="en-US" sz="1000" b="1" dirty="0">
                <a:solidFill>
                  <a:srgbClr val="FF8A3D"/>
                </a:solidFill>
                <a:latin typeface="Calibri" pitchFamily="34" charset="0"/>
                <a:ea typeface="Calibri" pitchFamily="34" charset="-122"/>
                <a:cs typeface="Calibri" pitchFamily="34" charset="-120"/>
              </a:rPr>
              <a:t>Medium</a:t>
            </a:r>
            <a:endParaRPr lang="en-US" sz="1000" dirty="0"/>
          </a:p>
        </p:txBody>
      </p:sp>
      <p:sp>
        <p:nvSpPr>
          <p:cNvPr id="20" name="Text 18"/>
          <p:cNvSpPr/>
          <p:nvPr/>
        </p:nvSpPr>
        <p:spPr>
          <a:xfrm>
            <a:off x="6126480" y="3255264"/>
            <a:ext cx="5394960" cy="566928"/>
          </a:xfrm>
          <a:prstGeom prst="rect">
            <a:avLst/>
          </a:prstGeom>
          <a:noFill/>
          <a:ln/>
        </p:spPr>
        <p:txBody>
          <a:bodyPr wrap="square" lIns="0" tIns="0" rIns="0" bIns="0" rtlCol="0" anchor="ctr"/>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Off-peak pricing, student passes, college and corporate daytime bookings. Repriced from real data by week four, not left to hope.</a:t>
            </a:r>
            <a:endParaRPr lang="en-US" sz="1050" dirty="0"/>
          </a:p>
        </p:txBody>
      </p:sp>
      <p:sp>
        <p:nvSpPr>
          <p:cNvPr id="21" name="Text 19"/>
          <p:cNvSpPr/>
          <p:nvPr/>
        </p:nvSpPr>
        <p:spPr>
          <a:xfrm>
            <a:off x="640080" y="3968496"/>
            <a:ext cx="4114800" cy="566928"/>
          </a:xfrm>
          <a:prstGeom prst="rect">
            <a:avLst/>
          </a:prstGeom>
          <a:noFill/>
          <a:ln/>
        </p:spPr>
        <p:txBody>
          <a:bodyPr wrap="square" lIns="0" tIns="0" rIns="0" bIns="0" rtlCol="0" anchor="ctr"/>
          <a:lstStyle/>
          <a:p>
            <a:pPr indent="0" marL="0">
              <a:lnSpc>
                <a:spcPts val="1400"/>
              </a:lnSpc>
              <a:buNone/>
            </a:pPr>
            <a:r>
              <a:rPr lang="en-US" sz="1150" b="1" dirty="0">
                <a:solidFill>
                  <a:srgbClr val="12141C"/>
                </a:solidFill>
                <a:latin typeface="Arial" pitchFamily="34" charset="0"/>
                <a:ea typeface="Arial" pitchFamily="34" charset="-122"/>
                <a:cs typeface="Arial" pitchFamily="34" charset="-120"/>
              </a:rPr>
              <a:t>Lessor withdraws a console for terms breach</a:t>
            </a:r>
            <a:endParaRPr lang="en-US" sz="1150" dirty="0"/>
          </a:p>
        </p:txBody>
      </p:sp>
      <p:sp>
        <p:nvSpPr>
          <p:cNvPr id="22" name="Shape 20"/>
          <p:cNvSpPr/>
          <p:nvPr/>
        </p:nvSpPr>
        <p:spPr>
          <a:xfrm>
            <a:off x="4846320" y="4096512"/>
            <a:ext cx="868680" cy="310896"/>
          </a:xfrm>
          <a:prstGeom prst="roundRect">
            <a:avLst>
              <a:gd name="adj" fmla="val 17647"/>
            </a:avLst>
          </a:prstGeom>
          <a:solidFill>
            <a:srgbClr val="FFE8D6"/>
          </a:solidFill>
          <a:ln/>
        </p:spPr>
      </p:sp>
      <p:sp>
        <p:nvSpPr>
          <p:cNvPr id="23" name="Text 21"/>
          <p:cNvSpPr/>
          <p:nvPr/>
        </p:nvSpPr>
        <p:spPr>
          <a:xfrm>
            <a:off x="4846320" y="4096512"/>
            <a:ext cx="868680" cy="310896"/>
          </a:xfrm>
          <a:prstGeom prst="rect">
            <a:avLst/>
          </a:prstGeom>
          <a:noFill/>
          <a:ln/>
        </p:spPr>
        <p:txBody>
          <a:bodyPr wrap="square" lIns="0" tIns="0" rIns="0" bIns="0" rtlCol="0" anchor="ctr"/>
          <a:lstStyle/>
          <a:p>
            <a:pPr algn="ctr" indent="0" marL="0">
              <a:buNone/>
            </a:pPr>
            <a:r>
              <a:rPr lang="en-US" sz="1000" b="1" dirty="0">
                <a:solidFill>
                  <a:srgbClr val="FF8A3D"/>
                </a:solidFill>
                <a:latin typeface="Calibri" pitchFamily="34" charset="0"/>
                <a:ea typeface="Calibri" pitchFamily="34" charset="-122"/>
                <a:cs typeface="Calibri" pitchFamily="34" charset="-120"/>
              </a:rPr>
              <a:t>Medium</a:t>
            </a:r>
            <a:endParaRPr lang="en-US" sz="1000" dirty="0"/>
          </a:p>
        </p:txBody>
      </p:sp>
      <p:sp>
        <p:nvSpPr>
          <p:cNvPr id="24" name="Text 22"/>
          <p:cNvSpPr/>
          <p:nvPr/>
        </p:nvSpPr>
        <p:spPr>
          <a:xfrm>
            <a:off x="6126480" y="3968496"/>
            <a:ext cx="5394960" cy="566928"/>
          </a:xfrm>
          <a:prstGeom prst="rect">
            <a:avLst/>
          </a:prstGeom>
          <a:noFill/>
          <a:ln/>
        </p:spPr>
        <p:txBody>
          <a:bodyPr wrap="square" lIns="0" tIns="0" rIns="0" bIns="0" rtlCol="0" anchor="ctr"/>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Commercial use written explicitly into a business-to-business contract, with a 48-hour replacement service level.</a:t>
            </a:r>
            <a:endParaRPr lang="en-US" sz="1050" dirty="0"/>
          </a:p>
        </p:txBody>
      </p:sp>
      <p:sp>
        <p:nvSpPr>
          <p:cNvPr id="25" name="Shape 23"/>
          <p:cNvSpPr/>
          <p:nvPr/>
        </p:nvSpPr>
        <p:spPr>
          <a:xfrm>
            <a:off x="502920" y="4636008"/>
            <a:ext cx="11185855" cy="658368"/>
          </a:xfrm>
          <a:prstGeom prst="roundRect">
            <a:avLst>
              <a:gd name="adj" fmla="val 6944"/>
            </a:avLst>
          </a:prstGeom>
          <a:solidFill>
            <a:srgbClr val="F3F4F7"/>
          </a:solidFill>
          <a:ln/>
        </p:spPr>
      </p:sp>
      <p:sp>
        <p:nvSpPr>
          <p:cNvPr id="26" name="Text 24"/>
          <p:cNvSpPr/>
          <p:nvPr/>
        </p:nvSpPr>
        <p:spPr>
          <a:xfrm>
            <a:off x="640080" y="4681728"/>
            <a:ext cx="4114800" cy="566928"/>
          </a:xfrm>
          <a:prstGeom prst="rect">
            <a:avLst/>
          </a:prstGeom>
          <a:noFill/>
          <a:ln/>
        </p:spPr>
        <p:txBody>
          <a:bodyPr wrap="square" lIns="0" tIns="0" rIns="0" bIns="0" rtlCol="0" anchor="ctr"/>
          <a:lstStyle/>
          <a:p>
            <a:pPr indent="0" marL="0">
              <a:lnSpc>
                <a:spcPts val="1400"/>
              </a:lnSpc>
              <a:buNone/>
            </a:pPr>
            <a:r>
              <a:rPr lang="en-US" sz="1150" b="1" dirty="0">
                <a:solidFill>
                  <a:srgbClr val="12141C"/>
                </a:solidFill>
                <a:latin typeface="Arial" pitchFamily="34" charset="0"/>
                <a:ea typeface="Arial" pitchFamily="34" charset="-122"/>
                <a:cs typeface="Arial" pitchFamily="34" charset="-120"/>
              </a:rPr>
              <a:t>Subscription account suspended, digital library lost</a:t>
            </a:r>
            <a:endParaRPr lang="en-US" sz="1150" dirty="0"/>
          </a:p>
        </p:txBody>
      </p:sp>
      <p:sp>
        <p:nvSpPr>
          <p:cNvPr id="27" name="Shape 25"/>
          <p:cNvSpPr/>
          <p:nvPr/>
        </p:nvSpPr>
        <p:spPr>
          <a:xfrm>
            <a:off x="4846320" y="4809744"/>
            <a:ext cx="868680" cy="310896"/>
          </a:xfrm>
          <a:prstGeom prst="roundRect">
            <a:avLst>
              <a:gd name="adj" fmla="val 17647"/>
            </a:avLst>
          </a:prstGeom>
          <a:solidFill>
            <a:srgbClr val="FFE8D6"/>
          </a:solidFill>
          <a:ln/>
        </p:spPr>
      </p:sp>
      <p:sp>
        <p:nvSpPr>
          <p:cNvPr id="28" name="Text 26"/>
          <p:cNvSpPr/>
          <p:nvPr/>
        </p:nvSpPr>
        <p:spPr>
          <a:xfrm>
            <a:off x="4846320" y="4809744"/>
            <a:ext cx="868680" cy="310896"/>
          </a:xfrm>
          <a:prstGeom prst="rect">
            <a:avLst/>
          </a:prstGeom>
          <a:noFill/>
          <a:ln/>
        </p:spPr>
        <p:txBody>
          <a:bodyPr wrap="square" lIns="0" tIns="0" rIns="0" bIns="0" rtlCol="0" anchor="ctr"/>
          <a:lstStyle/>
          <a:p>
            <a:pPr algn="ctr" indent="0" marL="0">
              <a:buNone/>
            </a:pPr>
            <a:r>
              <a:rPr lang="en-US" sz="1000" b="1" dirty="0">
                <a:solidFill>
                  <a:srgbClr val="FF8A3D"/>
                </a:solidFill>
                <a:latin typeface="Calibri" pitchFamily="34" charset="0"/>
                <a:ea typeface="Calibri" pitchFamily="34" charset="-122"/>
                <a:cs typeface="Calibri" pitchFamily="34" charset="-120"/>
              </a:rPr>
              <a:t>Medium</a:t>
            </a:r>
            <a:endParaRPr lang="en-US" sz="1000" dirty="0"/>
          </a:p>
        </p:txBody>
      </p:sp>
      <p:sp>
        <p:nvSpPr>
          <p:cNvPr id="29" name="Text 27"/>
          <p:cNvSpPr/>
          <p:nvPr/>
        </p:nvSpPr>
        <p:spPr>
          <a:xfrm>
            <a:off x="6126480" y="4681728"/>
            <a:ext cx="5394960" cy="566928"/>
          </a:xfrm>
          <a:prstGeom prst="rect">
            <a:avLst/>
          </a:prstGeom>
          <a:noFill/>
          <a:ln/>
        </p:spPr>
        <p:txBody>
          <a:bodyPr wrap="square" lIns="0" tIns="0" rIns="0" bIns="0" rtlCol="0" anchor="ctr"/>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Core titles owned on physical disc. A disc cannot be revoked; the venue keeps operating.</a:t>
            </a:r>
            <a:endParaRPr lang="en-US" sz="1050" dirty="0"/>
          </a:p>
        </p:txBody>
      </p:sp>
      <p:sp>
        <p:nvSpPr>
          <p:cNvPr id="30" name="Text 28"/>
          <p:cNvSpPr/>
          <p:nvPr/>
        </p:nvSpPr>
        <p:spPr>
          <a:xfrm>
            <a:off x="640080" y="5394960"/>
            <a:ext cx="4114800" cy="566928"/>
          </a:xfrm>
          <a:prstGeom prst="rect">
            <a:avLst/>
          </a:prstGeom>
          <a:noFill/>
          <a:ln/>
        </p:spPr>
        <p:txBody>
          <a:bodyPr wrap="square" lIns="0" tIns="0" rIns="0" bIns="0" rtlCol="0" anchor="ctr"/>
          <a:lstStyle/>
          <a:p>
            <a:pPr indent="0" marL="0">
              <a:lnSpc>
                <a:spcPts val="1400"/>
              </a:lnSpc>
              <a:buNone/>
            </a:pPr>
            <a:r>
              <a:rPr lang="en-US" sz="1150" b="1" dirty="0">
                <a:solidFill>
                  <a:srgbClr val="12141C"/>
                </a:solidFill>
                <a:latin typeface="Arial" pitchFamily="34" charset="0"/>
                <a:ea typeface="Arial" pitchFamily="34" charset="-122"/>
                <a:cs typeface="Arial" pitchFamily="34" charset="-120"/>
              </a:rPr>
              <a:t>Cash buffer exhausted in Month 2</a:t>
            </a:r>
            <a:endParaRPr lang="en-US" sz="1150" dirty="0"/>
          </a:p>
        </p:txBody>
      </p:sp>
      <p:sp>
        <p:nvSpPr>
          <p:cNvPr id="31" name="Shape 29"/>
          <p:cNvSpPr/>
          <p:nvPr/>
        </p:nvSpPr>
        <p:spPr>
          <a:xfrm>
            <a:off x="4846320" y="5522976"/>
            <a:ext cx="868680" cy="310896"/>
          </a:xfrm>
          <a:prstGeom prst="roundRect">
            <a:avLst>
              <a:gd name="adj" fmla="val 17647"/>
            </a:avLst>
          </a:prstGeom>
          <a:solidFill>
            <a:srgbClr val="FBE3E5"/>
          </a:solidFill>
          <a:ln/>
        </p:spPr>
      </p:sp>
      <p:sp>
        <p:nvSpPr>
          <p:cNvPr id="32" name="Text 30"/>
          <p:cNvSpPr/>
          <p:nvPr/>
        </p:nvSpPr>
        <p:spPr>
          <a:xfrm>
            <a:off x="4846320" y="5522976"/>
            <a:ext cx="868680" cy="310896"/>
          </a:xfrm>
          <a:prstGeom prst="rect">
            <a:avLst/>
          </a:prstGeom>
          <a:noFill/>
          <a:ln/>
        </p:spPr>
        <p:txBody>
          <a:bodyPr wrap="square" lIns="0" tIns="0" rIns="0" bIns="0" rtlCol="0" anchor="ctr"/>
          <a:lstStyle/>
          <a:p>
            <a:pPr algn="ctr" indent="0" marL="0">
              <a:buNone/>
            </a:pPr>
            <a:r>
              <a:rPr lang="en-US" sz="1000" b="1" dirty="0">
                <a:solidFill>
                  <a:srgbClr val="D64550"/>
                </a:solidFill>
                <a:latin typeface="Calibri" pitchFamily="34" charset="0"/>
                <a:ea typeface="Calibri" pitchFamily="34" charset="-122"/>
                <a:cs typeface="Calibri" pitchFamily="34" charset="-120"/>
              </a:rPr>
              <a:t>High</a:t>
            </a:r>
            <a:endParaRPr lang="en-US" sz="1000" dirty="0"/>
          </a:p>
        </p:txBody>
      </p:sp>
      <p:sp>
        <p:nvSpPr>
          <p:cNvPr id="33" name="Text 31"/>
          <p:cNvSpPr/>
          <p:nvPr/>
        </p:nvSpPr>
        <p:spPr>
          <a:xfrm>
            <a:off x="6126480" y="5394960"/>
            <a:ext cx="5394960" cy="566928"/>
          </a:xfrm>
          <a:prstGeom prst="rect">
            <a:avLst/>
          </a:prstGeom>
          <a:noFill/>
          <a:ln/>
        </p:spPr>
        <p:txBody>
          <a:bodyPr wrap="square" lIns="0" tIns="0" rIns="0" bIns="0" rtlCol="0" anchor="ctr"/>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The reason we are seeking ₹5.5–6.5 lakh rather than ₹4.5 lakh. No owner salary before Month 4.</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640080"/>
            <a:ext cx="10911535" cy="274320"/>
          </a:xfrm>
          <a:prstGeom prst="rect">
            <a:avLst/>
          </a:prstGeom>
          <a:noFill/>
          <a:ln/>
        </p:spPr>
        <p:txBody>
          <a:bodyPr wrap="square" lIns="0" tIns="0" rIns="0" bIns="0" rtlCol="0" anchor="ctr"/>
          <a:lstStyle/>
          <a:p>
            <a:pPr indent="0" marL="0">
              <a:buNone/>
            </a:pPr>
            <a:r>
              <a:rPr lang="en-US" sz="1150" b="1" spc="250" kern="0" dirty="0">
                <a:solidFill>
                  <a:srgbClr val="00C2A8"/>
                </a:solidFill>
                <a:latin typeface="Calibri" pitchFamily="34" charset="0"/>
                <a:ea typeface="Calibri" pitchFamily="34" charset="-122"/>
                <a:cs typeface="Calibri" pitchFamily="34" charset="-120"/>
              </a:rPr>
              <a:t>THE ASK</a:t>
            </a:r>
            <a:endParaRPr lang="en-US" sz="1150" dirty="0"/>
          </a:p>
        </p:txBody>
      </p:sp>
      <p:sp>
        <p:nvSpPr>
          <p:cNvPr id="3" name="Text 1"/>
          <p:cNvSpPr/>
          <p:nvPr/>
        </p:nvSpPr>
        <p:spPr>
          <a:xfrm>
            <a:off x="640080" y="960120"/>
            <a:ext cx="10515600" cy="5943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₹5.5 lakh minimum. ₹6.5 lakh recommended.</a:t>
            </a:r>
            <a:endParaRPr lang="en-US" sz="3400" dirty="0"/>
          </a:p>
        </p:txBody>
      </p:sp>
      <p:sp>
        <p:nvSpPr>
          <p:cNvPr id="4" name="Text 2"/>
          <p:cNvSpPr/>
          <p:nvPr/>
        </p:nvSpPr>
        <p:spPr>
          <a:xfrm>
            <a:off x="640080" y="1627632"/>
            <a:ext cx="9601200" cy="411480"/>
          </a:xfrm>
          <a:prstGeom prst="rect">
            <a:avLst/>
          </a:prstGeom>
          <a:noFill/>
          <a:ln/>
        </p:spPr>
        <p:txBody>
          <a:bodyPr wrap="square" lIns="0" tIns="0" rIns="0" bIns="0" rtlCol="0" anchor="ctr"/>
          <a:lstStyle/>
          <a:p>
            <a:pPr indent="0" marL="0">
              <a:lnSpc>
                <a:spcPts val="1900"/>
              </a:lnSpc>
              <a:buNone/>
            </a:pPr>
            <a:r>
              <a:rPr lang="en-US" sz="1350" dirty="0">
                <a:solidFill>
                  <a:srgbClr val="9CA3AF"/>
                </a:solidFill>
                <a:latin typeface="Calibri" pitchFamily="34" charset="0"/>
                <a:ea typeface="Calibri" pitchFamily="34" charset="-122"/>
                <a:cs typeface="Calibri" pitchFamily="34" charset="-120"/>
              </a:rPr>
              <a:t>₹4,68,600 of capital expenditure, plus a working-capital buffer sized to survive a slow second month — which is the most likely thing to happen.</a:t>
            </a:r>
            <a:endParaRPr lang="en-US" sz="1350" dirty="0"/>
          </a:p>
        </p:txBody>
      </p:sp>
      <p:sp>
        <p:nvSpPr>
          <p:cNvPr id="5" name="Shape 3"/>
          <p:cNvSpPr/>
          <p:nvPr/>
        </p:nvSpPr>
        <p:spPr>
          <a:xfrm>
            <a:off x="640080" y="2286000"/>
            <a:ext cx="5330952" cy="1572768"/>
          </a:xfrm>
          <a:prstGeom prst="roundRect">
            <a:avLst>
              <a:gd name="adj" fmla="val 5814"/>
            </a:avLst>
          </a:prstGeom>
          <a:solidFill>
            <a:srgbClr val="232838"/>
          </a:solidFill>
          <a:ln/>
        </p:spPr>
      </p:sp>
      <p:sp>
        <p:nvSpPr>
          <p:cNvPr id="6" name="Text 4"/>
          <p:cNvSpPr/>
          <p:nvPr/>
        </p:nvSpPr>
        <p:spPr>
          <a:xfrm>
            <a:off x="960120" y="2450592"/>
            <a:ext cx="2377440" cy="411480"/>
          </a:xfrm>
          <a:prstGeom prst="rect">
            <a:avLst/>
          </a:prstGeom>
          <a:noFill/>
          <a:ln/>
        </p:spPr>
        <p:txBody>
          <a:bodyPr wrap="square" lIns="0" tIns="0" rIns="0" bIns="0" rtlCol="0" anchor="ctr"/>
          <a:lstStyle/>
          <a:p>
            <a:pPr indent="0" marL="0">
              <a:buNone/>
            </a:pPr>
            <a:r>
              <a:rPr lang="en-US" sz="2100" b="1" dirty="0">
                <a:solidFill>
                  <a:srgbClr val="00C2A8"/>
                </a:solidFill>
                <a:latin typeface="Arial" pitchFamily="34" charset="0"/>
                <a:ea typeface="Arial" pitchFamily="34" charset="-122"/>
                <a:cs typeface="Arial" pitchFamily="34" charset="-120"/>
              </a:rPr>
              <a:t>₹1,48,000</a:t>
            </a:r>
            <a:endParaRPr lang="en-US" sz="2100" dirty="0"/>
          </a:p>
        </p:txBody>
      </p:sp>
      <p:sp>
        <p:nvSpPr>
          <p:cNvPr id="7" name="Text 5"/>
          <p:cNvSpPr/>
          <p:nvPr/>
        </p:nvSpPr>
        <p:spPr>
          <a:xfrm>
            <a:off x="960120" y="2871216"/>
            <a:ext cx="466344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Hardware &amp; rental deposits</a:t>
            </a:r>
            <a:endParaRPr lang="en-US" sz="1200" dirty="0"/>
          </a:p>
        </p:txBody>
      </p:sp>
      <p:sp>
        <p:nvSpPr>
          <p:cNvPr id="8" name="Text 6"/>
          <p:cNvSpPr/>
          <p:nvPr/>
        </p:nvSpPr>
        <p:spPr>
          <a:xfrm>
            <a:off x="960120" y="3127248"/>
            <a:ext cx="4663440" cy="640080"/>
          </a:xfrm>
          <a:prstGeom prst="rect">
            <a:avLst/>
          </a:prstGeom>
          <a:noFill/>
          <a:ln/>
        </p:spPr>
        <p:txBody>
          <a:bodyPr wrap="square" lIns="0" tIns="0" rIns="0" bIns="0" rtlCol="0" anchor="t"/>
          <a:lstStyle/>
          <a:p>
            <a:pPr indent="0" marL="0">
              <a:lnSpc>
                <a:spcPts val="1250"/>
              </a:lnSpc>
              <a:buNone/>
            </a:pPr>
            <a:r>
              <a:rPr lang="en-US" sz="1000" dirty="0">
                <a:solidFill>
                  <a:srgbClr val="9CA3AF"/>
                </a:solidFill>
                <a:latin typeface="Calibri" pitchFamily="34" charset="0"/>
                <a:ea typeface="Calibri" pitchFamily="34" charset="-122"/>
                <a:cs typeface="Calibri" pitchFamily="34" charset="-120"/>
              </a:rPr>
              <a:t>One owned PS5 disc console, four controllers, physical game library, headsets, and deposits on three leased consoles, four screens, two air-conditioners, seating and refrigeration.</a:t>
            </a:r>
            <a:endParaRPr lang="en-US" sz="1000" dirty="0"/>
          </a:p>
        </p:txBody>
      </p:sp>
      <p:sp>
        <p:nvSpPr>
          <p:cNvPr id="9" name="Shape 7"/>
          <p:cNvSpPr/>
          <p:nvPr/>
        </p:nvSpPr>
        <p:spPr>
          <a:xfrm>
            <a:off x="6217920" y="2286000"/>
            <a:ext cx="5330952" cy="1572768"/>
          </a:xfrm>
          <a:prstGeom prst="roundRect">
            <a:avLst>
              <a:gd name="adj" fmla="val 5814"/>
            </a:avLst>
          </a:prstGeom>
          <a:solidFill>
            <a:srgbClr val="232838"/>
          </a:solidFill>
          <a:ln/>
        </p:spPr>
      </p:sp>
      <p:sp>
        <p:nvSpPr>
          <p:cNvPr id="10" name="Text 8"/>
          <p:cNvSpPr/>
          <p:nvPr/>
        </p:nvSpPr>
        <p:spPr>
          <a:xfrm>
            <a:off x="6537960" y="2450592"/>
            <a:ext cx="2377440" cy="411480"/>
          </a:xfrm>
          <a:prstGeom prst="rect">
            <a:avLst/>
          </a:prstGeom>
          <a:noFill/>
          <a:ln/>
        </p:spPr>
        <p:txBody>
          <a:bodyPr wrap="square" lIns="0" tIns="0" rIns="0" bIns="0" rtlCol="0" anchor="ctr"/>
          <a:lstStyle/>
          <a:p>
            <a:pPr indent="0" marL="0">
              <a:buNone/>
            </a:pPr>
            <a:r>
              <a:rPr lang="en-US" sz="2100" b="1" dirty="0">
                <a:solidFill>
                  <a:srgbClr val="00C2A8"/>
                </a:solidFill>
                <a:latin typeface="Arial" pitchFamily="34" charset="0"/>
                <a:ea typeface="Arial" pitchFamily="34" charset="-122"/>
                <a:cs typeface="Arial" pitchFamily="34" charset="-120"/>
              </a:rPr>
              <a:t>₹1,42,600</a:t>
            </a:r>
            <a:endParaRPr lang="en-US" sz="2100" dirty="0"/>
          </a:p>
        </p:txBody>
      </p:sp>
      <p:sp>
        <p:nvSpPr>
          <p:cNvPr id="11" name="Text 9"/>
          <p:cNvSpPr/>
          <p:nvPr/>
        </p:nvSpPr>
        <p:spPr>
          <a:xfrm>
            <a:off x="6537960" y="2871216"/>
            <a:ext cx="466344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Premises &amp; infrastructure</a:t>
            </a:r>
            <a:endParaRPr lang="en-US" sz="1200" dirty="0"/>
          </a:p>
        </p:txBody>
      </p:sp>
      <p:sp>
        <p:nvSpPr>
          <p:cNvPr id="12" name="Text 10"/>
          <p:cNvSpPr/>
          <p:nvPr/>
        </p:nvSpPr>
        <p:spPr>
          <a:xfrm>
            <a:off x="6537960" y="3127248"/>
            <a:ext cx="4663440" cy="640080"/>
          </a:xfrm>
          <a:prstGeom prst="rect">
            <a:avLst/>
          </a:prstGeom>
          <a:noFill/>
          <a:ln/>
        </p:spPr>
        <p:txBody>
          <a:bodyPr wrap="square" lIns="0" tIns="0" rIns="0" bIns="0" rtlCol="0" anchor="t"/>
          <a:lstStyle/>
          <a:p>
            <a:pPr indent="0" marL="0">
              <a:lnSpc>
                <a:spcPts val="1250"/>
              </a:lnSpc>
              <a:buNone/>
            </a:pPr>
            <a:r>
              <a:rPr lang="en-US" sz="1000" dirty="0">
                <a:solidFill>
                  <a:srgbClr val="9CA3AF"/>
                </a:solidFill>
                <a:latin typeface="Calibri" pitchFamily="34" charset="0"/>
                <a:ea typeface="Calibri" pitchFamily="34" charset="-122"/>
                <a:cs typeface="Calibri" pitchFamily="34" charset="-120"/>
              </a:rPr>
              <a:t>Electrical upgrade and load enhancement, Cat6 network to every bay, acoustic treatment, lighting, paint, signage, café counter, CCTV and fire safety.</a:t>
            </a:r>
            <a:endParaRPr lang="en-US" sz="1000" dirty="0"/>
          </a:p>
        </p:txBody>
      </p:sp>
      <p:sp>
        <p:nvSpPr>
          <p:cNvPr id="13" name="Shape 11"/>
          <p:cNvSpPr/>
          <p:nvPr/>
        </p:nvSpPr>
        <p:spPr>
          <a:xfrm>
            <a:off x="640080" y="4069080"/>
            <a:ext cx="5330952" cy="1572768"/>
          </a:xfrm>
          <a:prstGeom prst="roundRect">
            <a:avLst>
              <a:gd name="adj" fmla="val 5814"/>
            </a:avLst>
          </a:prstGeom>
          <a:solidFill>
            <a:srgbClr val="232838"/>
          </a:solidFill>
          <a:ln/>
        </p:spPr>
      </p:sp>
      <p:sp>
        <p:nvSpPr>
          <p:cNvPr id="14" name="Text 12"/>
          <p:cNvSpPr/>
          <p:nvPr/>
        </p:nvSpPr>
        <p:spPr>
          <a:xfrm>
            <a:off x="960120" y="4233672"/>
            <a:ext cx="2377440" cy="411480"/>
          </a:xfrm>
          <a:prstGeom prst="rect">
            <a:avLst/>
          </a:prstGeom>
          <a:noFill/>
          <a:ln/>
        </p:spPr>
        <p:txBody>
          <a:bodyPr wrap="square" lIns="0" tIns="0" rIns="0" bIns="0" rtlCol="0" anchor="ctr"/>
          <a:lstStyle/>
          <a:p>
            <a:pPr indent="0" marL="0">
              <a:buNone/>
            </a:pPr>
            <a:r>
              <a:rPr lang="en-US" sz="2100" b="1" dirty="0">
                <a:solidFill>
                  <a:srgbClr val="00C2A8"/>
                </a:solidFill>
                <a:latin typeface="Arial" pitchFamily="34" charset="0"/>
                <a:ea typeface="Arial" pitchFamily="34" charset="-122"/>
                <a:cs typeface="Arial" pitchFamily="34" charset="-120"/>
              </a:rPr>
              <a:t>₹1,31,000</a:t>
            </a:r>
            <a:endParaRPr lang="en-US" sz="2100" dirty="0"/>
          </a:p>
        </p:txBody>
      </p:sp>
      <p:sp>
        <p:nvSpPr>
          <p:cNvPr id="15" name="Text 13"/>
          <p:cNvSpPr/>
          <p:nvPr/>
        </p:nvSpPr>
        <p:spPr>
          <a:xfrm>
            <a:off x="960120" y="4654296"/>
            <a:ext cx="466344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Compliance, café &amp; launch</a:t>
            </a:r>
            <a:endParaRPr lang="en-US" sz="1200" dirty="0"/>
          </a:p>
        </p:txBody>
      </p:sp>
      <p:sp>
        <p:nvSpPr>
          <p:cNvPr id="16" name="Text 14"/>
          <p:cNvSpPr/>
          <p:nvPr/>
        </p:nvSpPr>
        <p:spPr>
          <a:xfrm>
            <a:off x="960120" y="4910328"/>
            <a:ext cx="4663440" cy="640080"/>
          </a:xfrm>
          <a:prstGeom prst="rect">
            <a:avLst/>
          </a:prstGeom>
          <a:noFill/>
          <a:ln/>
        </p:spPr>
        <p:txBody>
          <a:bodyPr wrap="square" lIns="0" tIns="0" rIns="0" bIns="0" rtlCol="0" anchor="t"/>
          <a:lstStyle/>
          <a:p>
            <a:pPr indent="0" marL="0">
              <a:lnSpc>
                <a:spcPts val="1250"/>
              </a:lnSpc>
              <a:buNone/>
            </a:pPr>
            <a:r>
              <a:rPr lang="en-US" sz="1000" dirty="0">
                <a:solidFill>
                  <a:srgbClr val="9CA3AF"/>
                </a:solidFill>
                <a:latin typeface="Calibri" pitchFamily="34" charset="0"/>
                <a:ea typeface="Calibri" pitchFamily="34" charset="-122"/>
                <a:cs typeface="Calibri" pitchFamily="34" charset="-120"/>
              </a:rPr>
              <a:t>All licences and registrations, insurance, café equipment and opening stock, and the pre-launch and launch marketing programme.</a:t>
            </a:r>
            <a:endParaRPr lang="en-US" sz="1000" dirty="0"/>
          </a:p>
        </p:txBody>
      </p:sp>
      <p:sp>
        <p:nvSpPr>
          <p:cNvPr id="17" name="Shape 15"/>
          <p:cNvSpPr/>
          <p:nvPr/>
        </p:nvSpPr>
        <p:spPr>
          <a:xfrm>
            <a:off x="6217920" y="4069080"/>
            <a:ext cx="5330952" cy="1572768"/>
          </a:xfrm>
          <a:prstGeom prst="roundRect">
            <a:avLst>
              <a:gd name="adj" fmla="val 5814"/>
            </a:avLst>
          </a:prstGeom>
          <a:solidFill>
            <a:srgbClr val="232838"/>
          </a:solidFill>
          <a:ln/>
        </p:spPr>
      </p:sp>
      <p:sp>
        <p:nvSpPr>
          <p:cNvPr id="18" name="Text 16"/>
          <p:cNvSpPr/>
          <p:nvPr/>
        </p:nvSpPr>
        <p:spPr>
          <a:xfrm>
            <a:off x="6537960" y="4233672"/>
            <a:ext cx="2377440" cy="411480"/>
          </a:xfrm>
          <a:prstGeom prst="rect">
            <a:avLst/>
          </a:prstGeom>
          <a:noFill/>
          <a:ln/>
        </p:spPr>
        <p:txBody>
          <a:bodyPr wrap="square" lIns="0" tIns="0" rIns="0" bIns="0" rtlCol="0" anchor="ctr"/>
          <a:lstStyle/>
          <a:p>
            <a:pPr indent="0" marL="0">
              <a:buNone/>
            </a:pPr>
            <a:r>
              <a:rPr lang="en-US" sz="2100" b="1" dirty="0">
                <a:solidFill>
                  <a:srgbClr val="00C2A8"/>
                </a:solidFill>
                <a:latin typeface="Arial" pitchFamily="34" charset="0"/>
                <a:ea typeface="Arial" pitchFamily="34" charset="-122"/>
                <a:cs typeface="Arial" pitchFamily="34" charset="-120"/>
              </a:rPr>
              <a:t>₹81,000+</a:t>
            </a:r>
            <a:endParaRPr lang="en-US" sz="2100" dirty="0"/>
          </a:p>
        </p:txBody>
      </p:sp>
      <p:sp>
        <p:nvSpPr>
          <p:cNvPr id="19" name="Text 17"/>
          <p:cNvSpPr/>
          <p:nvPr/>
        </p:nvSpPr>
        <p:spPr>
          <a:xfrm>
            <a:off x="6537960" y="4654296"/>
            <a:ext cx="466344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Working capital buffer</a:t>
            </a:r>
            <a:endParaRPr lang="en-US" sz="1200" dirty="0"/>
          </a:p>
        </p:txBody>
      </p:sp>
      <p:sp>
        <p:nvSpPr>
          <p:cNvPr id="20" name="Text 18"/>
          <p:cNvSpPr/>
          <p:nvPr/>
        </p:nvSpPr>
        <p:spPr>
          <a:xfrm>
            <a:off x="6537960" y="4910328"/>
            <a:ext cx="4663440" cy="640080"/>
          </a:xfrm>
          <a:prstGeom prst="rect">
            <a:avLst/>
          </a:prstGeom>
          <a:noFill/>
          <a:ln/>
        </p:spPr>
        <p:txBody>
          <a:bodyPr wrap="square" lIns="0" tIns="0" rIns="0" bIns="0" rtlCol="0" anchor="t"/>
          <a:lstStyle/>
          <a:p>
            <a:pPr indent="0" marL="0">
              <a:lnSpc>
                <a:spcPts val="1250"/>
              </a:lnSpc>
              <a:buNone/>
            </a:pPr>
            <a:r>
              <a:rPr lang="en-US" sz="1000" dirty="0">
                <a:solidFill>
                  <a:srgbClr val="9CA3AF"/>
                </a:solidFill>
                <a:latin typeface="Calibri" pitchFamily="34" charset="0"/>
                <a:ea typeface="Calibri" pitchFamily="34" charset="-122"/>
                <a:cs typeface="Calibri" pitchFamily="34" charset="-120"/>
              </a:rPr>
              <a:t>Three weeks of runway at ₹5.5 lakh; seven weeks at ₹6.5 lakh. No owner salary is drawn before Month 4.</a:t>
            </a:r>
            <a:endParaRPr lang="en-US" sz="1000" dirty="0"/>
          </a:p>
        </p:txBody>
      </p:sp>
      <p:sp>
        <p:nvSpPr>
          <p:cNvPr id="21" name="Text 19"/>
          <p:cNvSpPr/>
          <p:nvPr/>
        </p:nvSpPr>
        <p:spPr>
          <a:xfrm>
            <a:off x="640080" y="6035040"/>
            <a:ext cx="10911535" cy="365760"/>
          </a:xfrm>
          <a:prstGeom prst="rect">
            <a:avLst/>
          </a:prstGeom>
          <a:noFill/>
          <a:ln/>
        </p:spPr>
        <p:txBody>
          <a:bodyPr wrap="square" lIns="0" tIns="0" rIns="0" bIns="0" rtlCol="0" anchor="ctr"/>
          <a:lstStyle/>
          <a:p>
            <a:pPr indent="0" marL="0">
              <a:buNone/>
            </a:pPr>
            <a:r>
              <a:rPr lang="en-US" sz="1200" i="1" dirty="0">
                <a:solidFill>
                  <a:srgbClr val="00C2A8"/>
                </a:solidFill>
                <a:latin typeface="Calibri" pitchFamily="34" charset="0"/>
                <a:ea typeface="Calibri" pitchFamily="34" charset="-122"/>
                <a:cs typeface="Calibri" pitchFamily="34" charset="-120"/>
              </a:rPr>
              <a:t>Capital is released against gates, not against a promise. ₹2,000 answers the demand question. ₹10,000 answers the legal question. Hardware money moves only after both clear.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685800"/>
            <a:ext cx="10911535" cy="274320"/>
          </a:xfrm>
          <a:prstGeom prst="rect">
            <a:avLst/>
          </a:prstGeom>
          <a:noFill/>
          <a:ln/>
        </p:spPr>
        <p:txBody>
          <a:bodyPr wrap="square" lIns="0" tIns="0" rIns="0" bIns="0" rtlCol="0" anchor="ctr"/>
          <a:lstStyle/>
          <a:p>
            <a:pPr indent="0" marL="0">
              <a:buNone/>
            </a:pPr>
            <a:r>
              <a:rPr lang="en-US" sz="1150" b="1" spc="250" kern="0" dirty="0">
                <a:solidFill>
                  <a:srgbClr val="00C2A8"/>
                </a:solidFill>
                <a:latin typeface="Calibri" pitchFamily="34" charset="0"/>
                <a:ea typeface="Calibri" pitchFamily="34" charset="-122"/>
                <a:cs typeface="Calibri" pitchFamily="34" charset="-120"/>
              </a:rPr>
              <a:t>IN SUMMARY</a:t>
            </a:r>
            <a:endParaRPr lang="en-US" sz="1150" dirty="0"/>
          </a:p>
        </p:txBody>
      </p:sp>
      <p:sp>
        <p:nvSpPr>
          <p:cNvPr id="3" name="Text 1"/>
          <p:cNvSpPr/>
          <p:nvPr/>
        </p:nvSpPr>
        <p:spPr>
          <a:xfrm>
            <a:off x="640080" y="1005840"/>
            <a:ext cx="1051560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A bounded bet on a real gap</a:t>
            </a:r>
            <a:endParaRPr lang="en-US" sz="3600" dirty="0"/>
          </a:p>
        </p:txBody>
      </p:sp>
      <p:sp>
        <p:nvSpPr>
          <p:cNvPr id="4" name="Shape 2"/>
          <p:cNvSpPr/>
          <p:nvPr/>
        </p:nvSpPr>
        <p:spPr>
          <a:xfrm>
            <a:off x="640080" y="1947672"/>
            <a:ext cx="365760" cy="365760"/>
          </a:xfrm>
          <a:prstGeom prst="ellipse">
            <a:avLst/>
          </a:prstGeom>
          <a:solidFill>
            <a:srgbClr val="00C2A8"/>
          </a:solidFill>
          <a:ln/>
        </p:spPr>
      </p:sp>
      <p:sp>
        <p:nvSpPr>
          <p:cNvPr id="5" name="Text 3"/>
          <p:cNvSpPr/>
          <p:nvPr/>
        </p:nvSpPr>
        <p:spPr>
          <a:xfrm>
            <a:off x="640080" y="1947672"/>
            <a:ext cx="365760" cy="365760"/>
          </a:xfrm>
          <a:prstGeom prst="rect">
            <a:avLst/>
          </a:prstGeom>
          <a:noFill/>
          <a:ln/>
        </p:spPr>
        <p:txBody>
          <a:bodyPr wrap="square" lIns="0" tIns="0" rIns="0" bIns="0" rtlCol="0" anchor="ctr"/>
          <a:lstStyle/>
          <a:p>
            <a:pPr algn="ctr" indent="0" marL="0">
              <a:buNone/>
            </a:pPr>
            <a:r>
              <a:rPr lang="en-US" sz="1300" b="1" dirty="0">
                <a:solidFill>
                  <a:srgbClr val="12141C"/>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207008" y="1965960"/>
            <a:ext cx="32918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 gap that is specific</a:t>
            </a:r>
            <a:endParaRPr lang="en-US" sz="1400" dirty="0"/>
          </a:p>
        </p:txBody>
      </p:sp>
      <p:sp>
        <p:nvSpPr>
          <p:cNvPr id="7" name="Text 5"/>
          <p:cNvSpPr/>
          <p:nvPr/>
        </p:nvSpPr>
        <p:spPr>
          <a:xfrm>
            <a:off x="4617720" y="1965960"/>
            <a:ext cx="6903720" cy="566928"/>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Kolkata's gaming venues are PC-led with token food. Group console play with a real kitchen is unoccupied ground.</a:t>
            </a:r>
            <a:endParaRPr lang="en-US" sz="1150" dirty="0"/>
          </a:p>
        </p:txBody>
      </p:sp>
      <p:sp>
        <p:nvSpPr>
          <p:cNvPr id="8" name="Shape 6"/>
          <p:cNvSpPr/>
          <p:nvPr/>
        </p:nvSpPr>
        <p:spPr>
          <a:xfrm>
            <a:off x="640080" y="2880360"/>
            <a:ext cx="365760" cy="365760"/>
          </a:xfrm>
          <a:prstGeom prst="ellipse">
            <a:avLst/>
          </a:prstGeom>
          <a:solidFill>
            <a:srgbClr val="00C2A8"/>
          </a:solidFill>
          <a:ln/>
        </p:spPr>
      </p:sp>
      <p:sp>
        <p:nvSpPr>
          <p:cNvPr id="9" name="Text 7"/>
          <p:cNvSpPr/>
          <p:nvPr/>
        </p:nvSpPr>
        <p:spPr>
          <a:xfrm>
            <a:off x="640080" y="2880360"/>
            <a:ext cx="365760" cy="365760"/>
          </a:xfrm>
          <a:prstGeom prst="rect">
            <a:avLst/>
          </a:prstGeom>
          <a:noFill/>
          <a:ln/>
        </p:spPr>
        <p:txBody>
          <a:bodyPr wrap="square" lIns="0" tIns="0" rIns="0" bIns="0" rtlCol="0" anchor="ctr"/>
          <a:lstStyle/>
          <a:p>
            <a:pPr algn="ctr" indent="0" marL="0">
              <a:buNone/>
            </a:pPr>
            <a:r>
              <a:rPr lang="en-US" sz="1300" b="1" dirty="0">
                <a:solidFill>
                  <a:srgbClr val="12141C"/>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207008" y="2898648"/>
            <a:ext cx="32918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 model that caps downside</a:t>
            </a:r>
            <a:endParaRPr lang="en-US" sz="1400" dirty="0"/>
          </a:p>
        </p:txBody>
      </p:sp>
      <p:sp>
        <p:nvSpPr>
          <p:cNvPr id="11" name="Text 9"/>
          <p:cNvSpPr/>
          <p:nvPr/>
        </p:nvSpPr>
        <p:spPr>
          <a:xfrm>
            <a:off x="4617720" y="2898648"/>
            <a:ext cx="6903720" cy="566928"/>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Leasing the depreciating assets means a failed venture returns its hardware and recovers ₹1.5–2 lakh rather than losing everything.</a:t>
            </a:r>
            <a:endParaRPr lang="en-US" sz="1150" dirty="0"/>
          </a:p>
        </p:txBody>
      </p:sp>
      <p:sp>
        <p:nvSpPr>
          <p:cNvPr id="12" name="Shape 10"/>
          <p:cNvSpPr/>
          <p:nvPr/>
        </p:nvSpPr>
        <p:spPr>
          <a:xfrm>
            <a:off x="640080" y="3813048"/>
            <a:ext cx="365760" cy="365760"/>
          </a:xfrm>
          <a:prstGeom prst="ellipse">
            <a:avLst/>
          </a:prstGeom>
          <a:solidFill>
            <a:srgbClr val="00C2A8"/>
          </a:solidFill>
          <a:ln/>
        </p:spPr>
      </p:sp>
      <p:sp>
        <p:nvSpPr>
          <p:cNvPr id="13" name="Text 11"/>
          <p:cNvSpPr/>
          <p:nvPr/>
        </p:nvSpPr>
        <p:spPr>
          <a:xfrm>
            <a:off x="640080" y="3813048"/>
            <a:ext cx="365760" cy="365760"/>
          </a:xfrm>
          <a:prstGeom prst="rect">
            <a:avLst/>
          </a:prstGeom>
          <a:noFill/>
          <a:ln/>
        </p:spPr>
        <p:txBody>
          <a:bodyPr wrap="square" lIns="0" tIns="0" rIns="0" bIns="0" rtlCol="0" anchor="ctr"/>
          <a:lstStyle/>
          <a:p>
            <a:pPr algn="ctr" indent="0" marL="0">
              <a:buNone/>
            </a:pPr>
            <a:r>
              <a:rPr lang="en-US" sz="1300" b="1" dirty="0">
                <a:solidFill>
                  <a:srgbClr val="12141C"/>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207008" y="3831336"/>
            <a:ext cx="32918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Economics that are honest</a:t>
            </a:r>
            <a:endParaRPr lang="en-US" sz="1400" dirty="0"/>
          </a:p>
        </p:txBody>
      </p:sp>
      <p:sp>
        <p:nvSpPr>
          <p:cNvPr id="15" name="Text 13"/>
          <p:cNvSpPr/>
          <p:nvPr/>
        </p:nvSpPr>
        <p:spPr>
          <a:xfrm>
            <a:off x="4617720" y="3831336"/>
            <a:ext cx="6903720" cy="566928"/>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Breakeven at 37% utilisation, stated plainly. A budget overrun disclosed rather than hidden. An exit criterion set in advance.</a:t>
            </a:r>
            <a:endParaRPr lang="en-US" sz="1150" dirty="0"/>
          </a:p>
        </p:txBody>
      </p:sp>
      <p:sp>
        <p:nvSpPr>
          <p:cNvPr id="16" name="Shape 14"/>
          <p:cNvSpPr/>
          <p:nvPr/>
        </p:nvSpPr>
        <p:spPr>
          <a:xfrm>
            <a:off x="640080" y="4745736"/>
            <a:ext cx="365760" cy="365760"/>
          </a:xfrm>
          <a:prstGeom prst="ellipse">
            <a:avLst/>
          </a:prstGeom>
          <a:solidFill>
            <a:srgbClr val="00C2A8"/>
          </a:solidFill>
          <a:ln/>
        </p:spPr>
      </p:sp>
      <p:sp>
        <p:nvSpPr>
          <p:cNvPr id="17" name="Text 15"/>
          <p:cNvSpPr/>
          <p:nvPr/>
        </p:nvSpPr>
        <p:spPr>
          <a:xfrm>
            <a:off x="640080" y="4745736"/>
            <a:ext cx="365760" cy="365760"/>
          </a:xfrm>
          <a:prstGeom prst="rect">
            <a:avLst/>
          </a:prstGeom>
          <a:noFill/>
          <a:ln/>
        </p:spPr>
        <p:txBody>
          <a:bodyPr wrap="square" lIns="0" tIns="0" rIns="0" bIns="0" rtlCol="0" anchor="ctr"/>
          <a:lstStyle/>
          <a:p>
            <a:pPr algn="ctr" indent="0" marL="0">
              <a:buNone/>
            </a:pPr>
            <a:r>
              <a:rPr lang="en-US" sz="1300" b="1" dirty="0">
                <a:solidFill>
                  <a:srgbClr val="12141C"/>
                </a:solidFill>
                <a:latin typeface="Arial" pitchFamily="34" charset="0"/>
                <a:ea typeface="Arial" pitchFamily="34" charset="-122"/>
                <a:cs typeface="Arial" pitchFamily="34" charset="-120"/>
              </a:rPr>
              <a:t>4</a:t>
            </a:r>
            <a:endParaRPr lang="en-US" sz="1300" dirty="0"/>
          </a:p>
        </p:txBody>
      </p:sp>
      <p:sp>
        <p:nvSpPr>
          <p:cNvPr id="18" name="Text 16"/>
          <p:cNvSpPr/>
          <p:nvPr/>
        </p:nvSpPr>
        <p:spPr>
          <a:xfrm>
            <a:off x="1207008" y="4764024"/>
            <a:ext cx="32918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 plan that converts</a:t>
            </a:r>
            <a:endParaRPr lang="en-US" sz="1400" dirty="0"/>
          </a:p>
        </p:txBody>
      </p:sp>
      <p:sp>
        <p:nvSpPr>
          <p:cNvPr id="19" name="Text 17"/>
          <p:cNvSpPr/>
          <p:nvPr/>
        </p:nvSpPr>
        <p:spPr>
          <a:xfrm>
            <a:off x="4617720" y="4764024"/>
            <a:ext cx="6903720" cy="566928"/>
          </a:xfrm>
          <a:prstGeom prst="rect">
            <a:avLst/>
          </a:prstGeom>
          <a:noFill/>
          <a:ln/>
        </p:spPr>
        <p:txBody>
          <a:bodyPr wrap="square" lIns="0" tIns="0" rIns="0" bIns="0" rtlCol="0" anchor="ctr"/>
          <a:lstStyle/>
          <a:p>
            <a:pPr indent="0" marL="0">
              <a:lnSpc>
                <a:spcPts val="1500"/>
              </a:lnSpc>
              <a:buNone/>
            </a:pPr>
            <a:r>
              <a:rPr lang="en-US" sz="1150" dirty="0">
                <a:solidFill>
                  <a:srgbClr val="9CA3AF"/>
                </a:solidFill>
                <a:latin typeface="Calibri" pitchFamily="34" charset="0"/>
                <a:ea typeface="Calibri" pitchFamily="34" charset="-122"/>
                <a:cs typeface="Calibri" pitchFamily="34" charset="-120"/>
              </a:rPr>
              <a:t>Renting expires at eight months by design. From Month 6 profit buys the consoles and ₹20,000 a month moves to the bottom line.</a:t>
            </a:r>
            <a:endParaRPr lang="en-US" sz="1150" dirty="0"/>
          </a:p>
        </p:txBody>
      </p:sp>
      <p:sp>
        <p:nvSpPr>
          <p:cNvPr id="20" name="Shape 18"/>
          <p:cNvSpPr/>
          <p:nvPr/>
        </p:nvSpPr>
        <p:spPr>
          <a:xfrm>
            <a:off x="640080" y="5760720"/>
            <a:ext cx="10911535" cy="713232"/>
          </a:xfrm>
          <a:prstGeom prst="roundRect">
            <a:avLst>
              <a:gd name="adj" fmla="val 12821"/>
            </a:avLst>
          </a:prstGeom>
          <a:solidFill>
            <a:srgbClr val="232838"/>
          </a:solidFill>
          <a:ln/>
        </p:spPr>
      </p:sp>
      <p:sp>
        <p:nvSpPr>
          <p:cNvPr id="21" name="Text 19"/>
          <p:cNvSpPr/>
          <p:nvPr/>
        </p:nvSpPr>
        <p:spPr>
          <a:xfrm>
            <a:off x="960120" y="5897880"/>
            <a:ext cx="1371600" cy="256032"/>
          </a:xfrm>
          <a:prstGeom prst="rect">
            <a:avLst/>
          </a:prstGeom>
          <a:noFill/>
          <a:ln/>
        </p:spPr>
        <p:txBody>
          <a:bodyPr wrap="square" lIns="0" tIns="0" rIns="0" bIns="0" rtlCol="0" anchor="ctr"/>
          <a:lstStyle/>
          <a:p>
            <a:pPr indent="0" marL="0">
              <a:buNone/>
            </a:pPr>
            <a:r>
              <a:rPr lang="en-US" sz="1000" b="1" spc="150" kern="0" dirty="0">
                <a:solidFill>
                  <a:srgbClr val="FF8A3D"/>
                </a:solidFill>
                <a:latin typeface="Calibri" pitchFamily="34" charset="0"/>
                <a:ea typeface="Calibri" pitchFamily="34" charset="-122"/>
                <a:cs typeface="Calibri" pitchFamily="34" charset="-120"/>
              </a:rPr>
              <a:t>NEXT STEP</a:t>
            </a:r>
            <a:endParaRPr lang="en-US" sz="1000" dirty="0"/>
          </a:p>
        </p:txBody>
      </p:sp>
      <p:sp>
        <p:nvSpPr>
          <p:cNvPr id="22" name="Text 20"/>
          <p:cNvSpPr/>
          <p:nvPr/>
        </p:nvSpPr>
        <p:spPr>
          <a:xfrm>
            <a:off x="2468880" y="5888736"/>
            <a:ext cx="859536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Approve ₹2,000 for the two-week validation phase. It returns a defensible yes or no before any further commitment.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Console Gaming Cafe - Kolkata | Business Proposal</dc:title>
  <dc:subject>PptxGenJS Presentation</dc:subject>
  <dc:creator>Gaming Cafe Venture</dc:creator>
  <cp:lastModifiedBy>Gaming Cafe Venture</cp:lastModifiedBy>
  <cp:revision>1</cp:revision>
  <dcterms:created xsi:type="dcterms:W3CDTF">2026-08-11T05:30:54Z</dcterms:created>
  <dcterms:modified xsi:type="dcterms:W3CDTF">2026-08-11T05:30:54Z</dcterms:modified>
</cp:coreProperties>
</file>